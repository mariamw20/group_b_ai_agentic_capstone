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13"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panose="020B0604020202020204"/>
              </a:rPr>
              <a:t>Click to edit the notes format</a:t>
            </a:r>
            <a:endParaRPr lang="en-US" sz="2000" b="0" u="none" strike="noStrike">
              <a:solidFill>
                <a:srgbClr val="000000"/>
              </a:solidFill>
              <a:effectLst/>
              <a:uFillTx/>
              <a:latin typeface="Arial" panose="020B0604020202020204"/>
            </a:endParaRPr>
          </a:p>
        </p:txBody>
      </p:sp>
      <p:sp>
        <p:nvSpPr>
          <p:cNvPr id="14"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panose="02020603050405020304"/>
              </a:rPr>
              <a:t>&lt;header&gt;</a:t>
            </a:r>
            <a:endParaRPr lang="en-US" sz="1400" b="0" u="none" strike="noStrike">
              <a:solidFill>
                <a:srgbClr val="000000"/>
              </a:solidFill>
              <a:effectLst/>
              <a:uFillTx/>
              <a:latin typeface="Times New Roman" panose="02020603050405020304"/>
            </a:endParaRPr>
          </a:p>
        </p:txBody>
      </p:sp>
      <p:sp>
        <p:nvSpPr>
          <p:cNvPr id="15" name="PlaceHolder 4"/>
          <p:cNvSpPr>
            <a:spLocks noGrp="1"/>
          </p:cNvSpPr>
          <p:nvPr>
            <p:ph type="dt" idx="3"/>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panose="02020603050405020304"/>
              </a:defRPr>
            </a:lvl1pPr>
          </a:lstStyle>
          <a:p>
            <a:pPr indent="0" algn="r">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6" name="PlaceHolder 5"/>
          <p:cNvSpPr>
            <a:spLocks noGrp="1"/>
          </p:cNvSpPr>
          <p:nvPr>
            <p:ph type="ftr" idx="4"/>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&lt;footer&gt;</a:t>
            </a:r>
            <a:endParaRPr lang="en-US" sz="1400" b="0" u="none" strike="noStrike">
              <a:solidFill>
                <a:srgbClr val="000000"/>
              </a:solidFill>
              <a:effectLst/>
              <a:uFillTx/>
              <a:latin typeface="Times New Roman" panose="02020603050405020304"/>
            </a:endParaRPr>
          </a:p>
        </p:txBody>
      </p:sp>
      <p:sp>
        <p:nvSpPr>
          <p:cNvPr id="17" name="PlaceHolder 6"/>
          <p:cNvSpPr>
            <a:spLocks noGrp="1"/>
          </p:cNvSpPr>
          <p:nvPr>
            <p:ph type="sldNum" idx="5"/>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panose="02020603050405020304"/>
              </a:defRPr>
            </a:lvl1pPr>
          </a:lstStyle>
          <a:p>
            <a:pPr indent="0" algn="r">
              <a:buNone/>
            </a:pPr>
            <a:fld id="{67F54D9F-582B-4BEB-9730-833B10D7B101}" type="slidenum">
              <a:rPr lang="en-US" sz="1400" b="0" u="none" strike="noStrike">
                <a:solidFill>
                  <a:srgbClr val="000000"/>
                </a:solidFill>
                <a:effectLst/>
                <a:uFillTx/>
                <a:latin typeface="Times New Roman" panose="02020603050405020304"/>
              </a:rPr>
            </a:fld>
            <a:endParaRPr lang="en-US" sz="1400" b="0" u="none" strike="noStrike">
              <a:solidFill>
                <a:srgbClr val="000000"/>
              </a:solidFill>
              <a:effectLst/>
              <a:uFillTx/>
              <a:latin typeface="Times New Roman" panose="02020603050405020304"/>
            </a:endParaRPr>
          </a:p>
        </p:txBody>
      </p:sp>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 name="PlaceHolder 1"/>
          <p:cNvSpPr>
            <a:spLocks noGrp="1"/>
          </p:cNvSpPr>
          <p:nvPr>
            <p:ph type="sldImg"/>
          </p:nvPr>
        </p:nvSpPr>
        <p:spPr>
          <a:xfrm>
            <a:off x="685800" y="1143000"/>
            <a:ext cx="5486040" cy="3085920"/>
          </a:xfrm>
          <a:prstGeom prst="rect">
            <a:avLst/>
          </a:prstGeom>
          <a:ln w="0">
            <a:noFill/>
          </a:ln>
        </p:spPr>
      </p:sp>
      <p:sp>
        <p:nvSpPr>
          <p:cNvPr id="39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panose="020B0604020202020204"/>
              </a:rPr>
              <a:t>[Opening - ~30 seconds]</a:t>
            </a: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Good day everyone. We are Group B, and this is the Centenary Bank AI Agentic Helpdesk.</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This project is not a generic chatbot. It is a bounded support system built to help a bank customer with safe, grounded, traceable support tasks, using a model, retrieval, tools, memory and guardrails.</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lnSpc>
                <a:spcPct val="100000"/>
              </a:lnSpc>
              <a:buNone/>
            </a:pPr>
            <a:r>
              <a:rPr lang="en-US" sz="2000" b="0" u="none" strike="noStrike">
                <a:solidFill>
                  <a:srgbClr val="000000"/>
                </a:solidFill>
                <a:effectLst/>
                <a:uFillTx/>
                <a:latin typeface="Arial" panose="020B0604020202020204"/>
              </a:rPr>
              <a:t>Over the next 12 to 15 minutes we will cover the problem, our architecture, a live workflow, our evidence, a real failure, and our guardrails.</a:t>
            </a:r>
            <a:endParaRPr lang="en-US" sz="2000" b="0" u="none" strike="noStrike">
              <a:solidFill>
                <a:srgbClr val="000000"/>
              </a:solidFill>
              <a:effectLst/>
              <a:uFillTx/>
              <a:latin typeface="Arial" panose="020B0604020202020204"/>
            </a:endParaRPr>
          </a:p>
        </p:txBody>
      </p:sp>
      <p:sp>
        <p:nvSpPr>
          <p:cNvPr id="398"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BA68EEE-65FB-42DD-8182-3A46C9E929BD}" type="slidenum">
              <a:rPr lang="en-US" sz="1200" b="0" u="none" strike="noStrike">
                <a:solidFill>
                  <a:schemeClr val="dk1"/>
                </a:solidFill>
                <a:effectLst/>
                <a:uFillTx/>
                <a:latin typeface="+mn-lt"/>
                <a:ea typeface="+mn-ea"/>
              </a:rPr>
            </a:fld>
            <a:endParaRPr lang="en-US" sz="1200" b="0" u="none" strike="noStrike">
              <a:solidFill>
                <a:srgbClr val="000000"/>
              </a:solidFill>
              <a:effectLst/>
              <a:uFillTx/>
              <a:latin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PlaceHolder 1"/>
          <p:cNvSpPr>
            <a:spLocks noGrp="1"/>
          </p:cNvSpPr>
          <p:nvPr>
            <p:ph type="sldImg"/>
          </p:nvPr>
        </p:nvSpPr>
        <p:spPr>
          <a:xfrm>
            <a:off x="685800" y="1143000"/>
            <a:ext cx="5486040" cy="3085920"/>
          </a:xfrm>
          <a:prstGeom prst="rect">
            <a:avLst/>
          </a:prstGeom>
          <a:ln w="0">
            <a:noFill/>
          </a:ln>
        </p:spPr>
      </p:sp>
      <p:sp>
        <p:nvSpPr>
          <p:cNvPr id="40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panose="020B0604020202020204"/>
              </a:rPr>
              <a:t>[Problem, target user, why AI - ~1.5 minutes]</a:t>
            </a: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Bank customers often need quick help with account questions, ticket status, branch information, mobile banking issues or service issues. These requests may arrive with incomplete context, ambiguity, or safety concerns.</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Our target user is a Centenary Bank customer seeking help with a service issue through a safe digital support channel. A second user is the support officer, who receives the cases the agent cannot safely complete.</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Why is AI justified? AI is useful for understanding the user message, classifying the intent, retrieving the correct information from a trusted knowledge base, and routing the request to the right approved action. It helps reduce repetitive support work and speeds up response time.</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But deterministic software still matters. The system does not allow the model to decide high-impact actions on its own. Ownership checks, authorization, scope boundaries and approval control are rule-based.</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lnSpc>
                <a:spcPct val="100000"/>
              </a:lnSpc>
              <a:buNone/>
            </a:pPr>
            <a:r>
              <a:rPr lang="en-US" sz="2000" b="0" u="none" strike="noStrike">
                <a:solidFill>
                  <a:srgbClr val="000000"/>
                </a:solidFill>
                <a:effectLst/>
                <a:uFillTx/>
                <a:latin typeface="Arial" panose="020B0604020202020204"/>
              </a:rPr>
              <a:t>Our key boundary: the agent may help with support and case handling, but it cannot perform unauthorised financial actions, approve loans, transfer money, change account data, or reveal credentials.</a:t>
            </a:r>
            <a:endParaRPr lang="en-US" sz="2000" b="0" u="none" strike="noStrike">
              <a:solidFill>
                <a:srgbClr val="000000"/>
              </a:solidFill>
              <a:effectLst/>
              <a:uFillTx/>
              <a:latin typeface="Arial" panose="020B0604020202020204"/>
            </a:endParaRPr>
          </a:p>
        </p:txBody>
      </p:sp>
      <p:sp>
        <p:nvSpPr>
          <p:cNvPr id="401" name="PlaceHolder 3"/>
          <p:cNvSpPr>
            <a:spLocks noGrp="1"/>
          </p:cNvSpPr>
          <p:nvPr>
            <p:ph type="sldNum" idx="1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BCDD769-3D3F-4948-B229-3E50347E3963}" type="slidenum">
              <a:rPr lang="en-US" sz="1200" b="0" u="none" strike="noStrike">
                <a:solidFill>
                  <a:schemeClr val="dk1"/>
                </a:solidFill>
                <a:effectLst/>
                <a:uFillTx/>
                <a:latin typeface="+mn-lt"/>
                <a:ea typeface="+mn-ea"/>
              </a:rPr>
            </a:fld>
            <a:endParaRPr lang="en-US" sz="1200" b="0" u="none" strike="noStrike">
              <a:solidFill>
                <a:srgbClr val="000000"/>
              </a:solidFill>
              <a:effectLst/>
              <a:uFillTx/>
              <a:latin typeface="Times New Roman" panose="020206030504050203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 name="PlaceHolder 1"/>
          <p:cNvSpPr>
            <a:spLocks noGrp="1"/>
          </p:cNvSpPr>
          <p:nvPr>
            <p:ph type="sldImg"/>
          </p:nvPr>
        </p:nvSpPr>
        <p:spPr>
          <a:xfrm>
            <a:off x="685800" y="1143000"/>
            <a:ext cx="5486040" cy="3085920"/>
          </a:xfrm>
          <a:prstGeom prst="rect">
            <a:avLst/>
          </a:prstGeom>
          <a:ln w="0">
            <a:noFill/>
          </a:ln>
        </p:spPr>
      </p:sp>
      <p:sp>
        <p:nvSpPr>
          <p:cNvPr id="40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panose="020B0604020202020204"/>
              </a:rPr>
              <a:t>[Architecture - ~2 minutes. Walk the diagram left to right, then top to bottom; the numbers match the six layers]</a:t>
            </a: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Our architecture follows a bounded progression from model to evaluation.</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The customer's request enters the bounded agent controller, layer four. The controller manages the request lifecycle: load memory, classify intent, select an approved action, execute the tool, observe the result, and stop safely. Requests it cannot safely complete, or that need approval, are handed to a human support officer.</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Layer one, the model layer, interprets the request and proposes an action. For reproducibility the demo uses a scripted planner, while the README also documents a live Gemini-based variant.</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Layer two, the RAG and context layer, retrieves support information from a controlled knowledge corpus, so the agent stays grounded in approved content instead of relying only on the model's memory.</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Layer three, the tool layer, uses explicit, approved tools for ticket creation, ticket status lookup and knowledge retrieval. It does not expose arbitrary actions.</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Layer five, memory and state, stores customer context and prior case information. It gives continuity for returning customers, but memory does not grant approval or override guardrails.</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lnSpc>
                <a:spcPct val="100000"/>
              </a:lnSpc>
              <a:buNone/>
            </a:pPr>
            <a:r>
              <a:rPr lang="en-US" sz="2000" b="0" u="none" strike="noStrike">
                <a:solidFill>
                  <a:srgbClr val="000000"/>
                </a:solidFill>
                <a:effectLst/>
                <a:uFillTx/>
                <a:latin typeface="Arial" panose="020B0604020202020204"/>
              </a:rPr>
              <a:t>Layer six, evaluation and guardrails. The dashed boundary around the controller shows the guardrails: action and tool allow-lists, scope enforcement, prompt-injection detection and iteration limits. Alongside it, the trace log and the Week 7 evaluation harness make the agent inspectable.</a:t>
            </a:r>
            <a:endParaRPr lang="en-US" sz="2000" b="0" u="none" strike="noStrike">
              <a:solidFill>
                <a:srgbClr val="000000"/>
              </a:solidFill>
              <a:effectLst/>
              <a:uFillTx/>
              <a:latin typeface="Arial" panose="020B0604020202020204"/>
            </a:endParaRPr>
          </a:p>
        </p:txBody>
      </p:sp>
      <p:sp>
        <p:nvSpPr>
          <p:cNvPr id="404" name="PlaceHolder 3"/>
          <p:cNvSpPr>
            <a:spLocks noGrp="1"/>
          </p:cNvSpPr>
          <p:nvPr>
            <p:ph type="sldNum" idx="1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0A9134B-72B1-4F87-8F63-125FF6CBDA8B}" type="slidenum">
              <a:rPr lang="en-US" sz="1200" b="0" u="none" strike="noStrike">
                <a:solidFill>
                  <a:schemeClr val="dk1"/>
                </a:solidFill>
                <a:effectLst/>
                <a:uFillTx/>
                <a:latin typeface="+mn-lt"/>
                <a:ea typeface="+mn-ea"/>
              </a:rPr>
            </a:fld>
            <a:endParaRPr lang="en-US" sz="1200" b="0" u="none" strike="noStrike">
              <a:solidFill>
                <a:srgbClr val="000000"/>
              </a:solidFill>
              <a:effectLst/>
              <a:uFillTx/>
              <a:latin typeface="Times New Roman" panose="020206030504050203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PlaceHolder 1"/>
          <p:cNvSpPr>
            <a:spLocks noGrp="1"/>
          </p:cNvSpPr>
          <p:nvPr>
            <p:ph type="sldImg"/>
          </p:nvPr>
        </p:nvSpPr>
        <p:spPr>
          <a:xfrm>
            <a:off x="685800" y="1143000"/>
            <a:ext cx="5486040" cy="3085920"/>
          </a:xfrm>
          <a:prstGeom prst="rect">
            <a:avLst/>
          </a:prstGeom>
          <a:ln w="0">
            <a:noFill/>
          </a:ln>
        </p:spPr>
      </p:sp>
      <p:sp>
        <p:nvSpPr>
          <p:cNvPr id="40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panose="020B0604020202020204"/>
              </a:rPr>
              <a:t>[Live end-to-end workflow, part 1 - ~2 minutes. Run the Week 6 demo here]</a:t>
            </a: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Here is the successful workflow from our Week 6 demo. A customer says: "My mobile banking app keeps crashing every time I try to log in."</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Watch what the system does. It loads the session and checks whether the customer has prior memory. It classifies the request as creating a support ticket, and selects the approved action, create_support_ticket. It then calls the ticket creation tool and observes success. Finally it writes a memory record for the customer and responds with a support ticket number.</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In the output you can see the CLASSIFY_REQUEST step with intent create_ticket, the EXECUTE_TOOL step, and OBSERVE_RESULT with status success and code OK. The final outcome is TICKET_CREATED, and the customer is told: "Your support ticket has been created: CS-10246."</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lnSpc>
                <a:spcPct val="100000"/>
              </a:lnSpc>
              <a:buNone/>
            </a:pPr>
            <a:r>
              <a:rPr lang="en-US" sz="2000" b="0" u="none" strike="noStrike">
                <a:solidFill>
                  <a:srgbClr val="000000"/>
                </a:solidFill>
                <a:effectLst/>
                <a:uFillTx/>
                <a:latin typeface="Arial" panose="020B0604020202020204"/>
              </a:rPr>
              <a:t>This shows the system can complete a real support workflow in a bounded and controlled way.</a:t>
            </a:r>
            <a:endParaRPr lang="en-US" sz="2000" b="0" u="none" strike="noStrike">
              <a:solidFill>
                <a:srgbClr val="000000"/>
              </a:solidFill>
              <a:effectLst/>
              <a:uFillTx/>
              <a:latin typeface="Arial" panose="020B0604020202020204"/>
            </a:endParaRPr>
          </a:p>
        </p:txBody>
      </p:sp>
      <p:sp>
        <p:nvSpPr>
          <p:cNvPr id="407" name="PlaceHolder 3"/>
          <p:cNvSpPr>
            <a:spLocks noGrp="1"/>
          </p:cNvSpPr>
          <p:nvPr>
            <p:ph type="sldNum" idx="1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9F39F51-895A-40E6-8D01-37AAFC5FD907}" type="slidenum">
              <a:rPr lang="en-US" sz="1200" b="0" u="none" strike="noStrike">
                <a:solidFill>
                  <a:schemeClr val="dk1"/>
                </a:solidFill>
                <a:effectLst/>
                <a:uFillTx/>
                <a:latin typeface="+mn-lt"/>
                <a:ea typeface="+mn-ea"/>
              </a:rPr>
            </a:fld>
            <a:endParaRPr lang="en-US" sz="1200" b="0" u="none" strike="noStrike">
              <a:solidFill>
                <a:srgbClr val="000000"/>
              </a:solidFill>
              <a:effectLst/>
              <a:uFillTx/>
              <a:latin typeface="Times New Roman" panose="020206030504050203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PlaceHolder 1"/>
          <p:cNvSpPr>
            <a:spLocks noGrp="1"/>
          </p:cNvSpPr>
          <p:nvPr>
            <p:ph type="sldImg"/>
          </p:nvPr>
        </p:nvSpPr>
        <p:spPr>
          <a:xfrm>
            <a:off x="685800" y="1143000"/>
            <a:ext cx="5486040" cy="3085920"/>
          </a:xfrm>
          <a:prstGeom prst="rect">
            <a:avLst/>
          </a:prstGeom>
          <a:ln w="0">
            <a:noFill/>
          </a:ln>
        </p:spPr>
      </p:sp>
      <p:sp>
        <p:nvSpPr>
          <p:cNvPr id="40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panose="020B0604020202020204"/>
              </a:rPr>
              <a:t>[Live end-to-end workflow, part 2 - ~2 minutes. Run the second Week 6 demo scenario]</a:t>
            </a: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Now a second scenario, showing memory. A returning customer says: "What is the update on my issue?"</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The system loads prior customer case information from memory and finds the existing ticket associated with the customer. It uses the stored ticket ID without asking the user to repeat it, and checks the ticket status.</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You can see MEMORY_LOADED reporting one prior case found, and the ticket CS-10245 with status in_progress and category mobile_banking. The final outcome is TICKET_STATUS_RETURNED, and the response reads "Ticket CS-10245, Status: in_progress."</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lnSpc>
                <a:spcPct val="100000"/>
              </a:lnSpc>
              <a:buNone/>
            </a:pPr>
            <a:r>
              <a:rPr lang="en-US" sz="2000" b="0" u="none" strike="noStrike">
                <a:solidFill>
                  <a:srgbClr val="000000"/>
                </a:solidFill>
                <a:effectLst/>
                <a:uFillTx/>
                <a:latin typeface="Arial" panose="020B0604020202020204"/>
              </a:rPr>
              <a:t>This shows that memory can improve continuity for a returning support customer without creating authorization by itself.</a:t>
            </a:r>
            <a:endParaRPr lang="en-US" sz="2000" b="0" u="none" strike="noStrike">
              <a:solidFill>
                <a:srgbClr val="000000"/>
              </a:solidFill>
              <a:effectLst/>
              <a:uFillTx/>
              <a:latin typeface="Arial" panose="020B0604020202020204"/>
            </a:endParaRPr>
          </a:p>
        </p:txBody>
      </p:sp>
      <p:sp>
        <p:nvSpPr>
          <p:cNvPr id="410" name="PlaceHolder 3"/>
          <p:cNvSpPr>
            <a:spLocks noGrp="1"/>
          </p:cNvSpPr>
          <p:nvPr>
            <p:ph type="sldNum" idx="1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6E6410F1-0793-4E0C-A50A-EA6B3F9114D6}" type="slidenum">
              <a:rPr lang="en-US" sz="1200" b="0" u="none" strike="noStrike">
                <a:solidFill>
                  <a:schemeClr val="dk1"/>
                </a:solidFill>
                <a:effectLst/>
                <a:uFillTx/>
                <a:latin typeface="+mn-lt"/>
                <a:ea typeface="+mn-ea"/>
              </a:rPr>
            </a:fld>
            <a:endParaRPr lang="en-US" sz="1200" b="0" u="none" strike="noStrike">
              <a:solidFill>
                <a:srgbClr val="000000"/>
              </a:solidFill>
              <a:effectLst/>
              <a:uFillTx/>
              <a:latin typeface="Times New Roman" panose="020206030504050203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PlaceHolder 1"/>
          <p:cNvSpPr>
            <a:spLocks noGrp="1"/>
          </p:cNvSpPr>
          <p:nvPr>
            <p:ph type="sldImg"/>
          </p:nvPr>
        </p:nvSpPr>
        <p:spPr>
          <a:xfrm>
            <a:off x="685800" y="1143000"/>
            <a:ext cx="5486040" cy="3085920"/>
          </a:xfrm>
          <a:prstGeom prst="rect">
            <a:avLst/>
          </a:prstGeom>
          <a:ln w="0">
            <a:noFill/>
          </a:ln>
        </p:spPr>
      </p:sp>
      <p:sp>
        <p:nvSpPr>
          <p:cNvPr id="41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panose="020B0604020202020204"/>
              </a:rPr>
              <a:t>[Engineering evidence view - ~1 minute. Optionally show the trace live]</a:t>
            </a: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The project records structured trace evidence that makes the agent inspectable. Each run produces this log sequence: MEMORY_LOADED, CLASSIFY_REQUEST, SELECT_ACTION, EXECUTE_TOOL, OBSERVE_RESULT, RESPOND and MEMORY_WRITE.</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This gives us visibility into what the agent saw, what it decided, which tool it used, and what result it obtained. Here is an example from the live demo: a fresh customer session, the intent classified as create_ticket, the call to create_support_ticket, and the observed success.</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lnSpc>
                <a:spcPct val="100000"/>
              </a:lnSpc>
              <a:buNone/>
            </a:pPr>
            <a:r>
              <a:rPr lang="en-US" sz="2000" b="0" u="none" strike="noStrike">
                <a:solidFill>
                  <a:srgbClr val="000000"/>
                </a:solidFill>
                <a:effectLst/>
                <a:uFillTx/>
                <a:latin typeface="Arial" panose="020B0604020202020204"/>
              </a:rPr>
              <a:t>This matters because the assignment emphasises evidence, traceability and explainability rather than a black box AI result.</a:t>
            </a:r>
            <a:endParaRPr lang="en-US" sz="2000" b="0" u="none" strike="noStrike">
              <a:solidFill>
                <a:srgbClr val="000000"/>
              </a:solidFill>
              <a:effectLst/>
              <a:uFillTx/>
              <a:latin typeface="Arial" panose="020B0604020202020204"/>
            </a:endParaRPr>
          </a:p>
        </p:txBody>
      </p:sp>
      <p:sp>
        <p:nvSpPr>
          <p:cNvPr id="413" name="PlaceHolder 3"/>
          <p:cNvSpPr>
            <a:spLocks noGrp="1"/>
          </p:cNvSpPr>
          <p:nvPr>
            <p:ph type="sldNum" idx="2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B19915C-C9CC-4CBD-9303-A54A25F04D40}" type="slidenum">
              <a:rPr lang="en-US" sz="1200" b="0" u="none" strike="noStrike">
                <a:solidFill>
                  <a:schemeClr val="dk1"/>
                </a:solidFill>
                <a:effectLst/>
                <a:uFillTx/>
                <a:latin typeface="+mn-lt"/>
                <a:ea typeface="+mn-ea"/>
              </a:rPr>
            </a:fld>
            <a:endParaRPr lang="en-US" sz="1200" b="0" u="none" strike="noStrike">
              <a:solidFill>
                <a:srgbClr val="000000"/>
              </a:solidFill>
              <a:effectLst/>
              <a:uFillTx/>
              <a:latin typeface="Times New Roman" panose="020206030504050203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PlaceHolder 1"/>
          <p:cNvSpPr>
            <a:spLocks noGrp="1"/>
          </p:cNvSpPr>
          <p:nvPr>
            <p:ph type="sldImg"/>
          </p:nvPr>
        </p:nvSpPr>
        <p:spPr>
          <a:xfrm>
            <a:off x="685800" y="1143000"/>
            <a:ext cx="5486040" cy="3085920"/>
          </a:xfrm>
          <a:prstGeom prst="rect">
            <a:avLst/>
          </a:prstGeom>
          <a:ln w="0">
            <a:noFill/>
          </a:ln>
        </p:spPr>
      </p:sp>
      <p:sp>
        <p:nvSpPr>
          <p:cNvPr id="41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panose="020B0604020202020204"/>
              </a:rPr>
              <a:t>[Evaluation evidence - ~1 minute]</a:t>
            </a: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The assignment requires evaluation beyond a single happy path demo. The project includes a final evaluation harness designed to test the helpdesk agent across 30 scenarios.</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These cover six categories: normal cases, edge cases, incorrect-information cases, adversarial cases, tool-failure cases, and unauthorized-action cases.</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lnSpc>
                <a:spcPct val="100000"/>
              </a:lnSpc>
              <a:buNone/>
            </a:pPr>
            <a:r>
              <a:rPr lang="en-US" sz="2000" b="0" u="none" strike="noStrike">
                <a:solidFill>
                  <a:srgbClr val="000000"/>
                </a:solidFill>
                <a:effectLst/>
                <a:uFillTx/>
                <a:latin typeface="Arial" panose="020B0604020202020204"/>
              </a:rPr>
              <a:t>The evaluation set is defined in the Week 7 evaluation package and the harness script. In the repo you can find the Week 7 test cases document, the evaluation harness script, and a test that asserts the configured scenarios total 30.</a:t>
            </a:r>
            <a:endParaRPr lang="en-US" sz="2000" b="0" u="none" strike="noStrike">
              <a:solidFill>
                <a:srgbClr val="000000"/>
              </a:solidFill>
              <a:effectLst/>
              <a:uFillTx/>
              <a:latin typeface="Arial" panose="020B0604020202020204"/>
            </a:endParaRPr>
          </a:p>
        </p:txBody>
      </p:sp>
      <p:sp>
        <p:nvSpPr>
          <p:cNvPr id="416" name="PlaceHolder 3"/>
          <p:cNvSpPr>
            <a:spLocks noGrp="1"/>
          </p:cNvSpPr>
          <p:nvPr>
            <p:ph type="sldNum" idx="2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E1396229-CDA3-4961-AC55-FD1D4DDC596B}" type="slidenum">
              <a:rPr lang="en-US" sz="1200" b="0" u="none" strike="noStrike">
                <a:solidFill>
                  <a:schemeClr val="dk1"/>
                </a:solidFill>
                <a:effectLst/>
                <a:uFillTx/>
                <a:latin typeface="+mn-lt"/>
                <a:ea typeface="+mn-ea"/>
              </a:rPr>
            </a:fld>
            <a:endParaRPr lang="en-US" sz="1200" b="0" u="none" strike="noStrike">
              <a:solidFill>
                <a:srgbClr val="000000"/>
              </a:solidFill>
              <a:effectLst/>
              <a:uFillTx/>
              <a:latin typeface="Times New Roman" panose="020206030504050203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PlaceHolder 1"/>
          <p:cNvSpPr>
            <a:spLocks noGrp="1"/>
          </p:cNvSpPr>
          <p:nvPr>
            <p:ph type="sldImg"/>
          </p:nvPr>
        </p:nvSpPr>
        <p:spPr>
          <a:xfrm>
            <a:off x="685800" y="1143000"/>
            <a:ext cx="5486040" cy="3085920"/>
          </a:xfrm>
          <a:prstGeom prst="rect">
            <a:avLst/>
          </a:prstGeom>
          <a:ln w="0">
            <a:noFill/>
          </a:ln>
        </p:spPr>
      </p:sp>
      <p:sp>
        <p:nvSpPr>
          <p:cNvPr id="41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panose="020B0604020202020204"/>
              </a:rPr>
              <a:t>[Real failure / controlled recovery - ~2 minutes. Run this scenario in the Week 6 demo]</a:t>
            </a: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Now a real failure case from our Week 6 demo: cross-customer access control.</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A customer with ID CUST-HACKER asks for the status of ticket CS-10245, which actually belongs to another customer, CUST-88213.</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The system reads the session customer identity from the trusted session context, calls the tool with the active customer identity, detects that the ticket does not belong to this customer, and refuses access.</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In the output, the tool returns code UNAUTHORIZED, the final outcome is AUTHORIZATION_DENIED, and the customer is told: "I can only access tickets that belong to your account."</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lnSpc>
                <a:spcPct val="100000"/>
              </a:lnSpc>
              <a:buNone/>
            </a:pPr>
            <a:r>
              <a:rPr lang="en-US" sz="2000" b="0" u="none" strike="noStrike">
                <a:solidFill>
                  <a:srgbClr val="000000"/>
                </a:solidFill>
                <a:effectLst/>
                <a:uFillTx/>
                <a:latin typeface="Arial" panose="020B0604020202020204"/>
              </a:rPr>
              <a:t>This is important because the system does not simply trust the user's request. It enforces customer ownership and the human-safe boundaries of access.</a:t>
            </a:r>
            <a:endParaRPr lang="en-US" sz="2000" b="0" u="none" strike="noStrike">
              <a:solidFill>
                <a:srgbClr val="000000"/>
              </a:solidFill>
              <a:effectLst/>
              <a:uFillTx/>
              <a:latin typeface="Arial" panose="020B0604020202020204"/>
            </a:endParaRPr>
          </a:p>
        </p:txBody>
      </p:sp>
      <p:sp>
        <p:nvSpPr>
          <p:cNvPr id="419" name="PlaceHolder 3"/>
          <p:cNvSpPr>
            <a:spLocks noGrp="1"/>
          </p:cNvSpPr>
          <p:nvPr>
            <p:ph type="sldNum" idx="2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5637CB3-6BA3-4C16-84BD-9D641F8987E7}" type="slidenum">
              <a:rPr lang="en-US" sz="1200" b="0" u="none" strike="noStrike">
                <a:solidFill>
                  <a:schemeClr val="dk1"/>
                </a:solidFill>
                <a:effectLst/>
                <a:uFillTx/>
                <a:latin typeface="+mn-lt"/>
                <a:ea typeface="+mn-ea"/>
              </a:rPr>
            </a:fld>
            <a:endParaRPr lang="en-US" sz="1200" b="0" u="none" strike="noStrike">
              <a:solidFill>
                <a:srgbClr val="000000"/>
              </a:solidFill>
              <a:effectLst/>
              <a:uFillTx/>
              <a:latin typeface="Times New Roman" panose="02020603050405020304"/>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 name="PlaceHolder 1"/>
          <p:cNvSpPr>
            <a:spLocks noGrp="1"/>
          </p:cNvSpPr>
          <p:nvPr>
            <p:ph type="sldImg"/>
          </p:nvPr>
        </p:nvSpPr>
        <p:spPr>
          <a:xfrm>
            <a:off x="685800" y="1143000"/>
            <a:ext cx="5486040" cy="3085920"/>
          </a:xfrm>
          <a:prstGeom prst="rect">
            <a:avLst/>
          </a:prstGeom>
          <a:ln w="0">
            <a:noFill/>
          </a:ln>
        </p:spPr>
      </p:sp>
      <p:sp>
        <p:nvSpPr>
          <p:cNvPr id="42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panose="020B0604020202020204"/>
              </a:rPr>
              <a:t>[Guardrails, human approval boundaries and lessons - ~1.5 minutes]</a:t>
            </a: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The guardrails implemented in the project are: an action allow-list, a tool allow-list, scope boundary checks, evidence grounding checks, prompt-injection detection, credential non-disclosure, memory-not-authorization, an escalation approval gate, and an iteration limit.</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From the repo, the guardrail demo reports 27 PASS and 0 FAIL. A request to transfer funds or approve a loan is blocked by scope. A request for passwords, OTPs or secrets is refused. A prompt-injection attempt is blocked.</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On the human approval boundary: memory is not authorization. Even when a case exists in memory, the escalation approval gate still runs before escalation is granted. This is a key design principle in our project.</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lnSpc>
                <a:spcPct val="100000"/>
              </a:lnSpc>
              <a:buNone/>
            </a:pPr>
            <a:r>
              <a:rPr lang="en-US" sz="2000" b="0" u="none" strike="noStrike">
                <a:solidFill>
                  <a:srgbClr val="000000"/>
                </a:solidFill>
                <a:effectLst/>
                <a:uFillTx/>
                <a:latin typeface="Arial" panose="020B0604020202020204"/>
              </a:rPr>
              <a:t>Key lesson: AI is valuable for support workflows when bounded by rules, evidence and human oversight. The model may help, but deterministic software and human review remain in control for high-risk decisions.</a:t>
            </a:r>
            <a:endParaRPr lang="en-US" sz="2000" b="0" u="none" strike="noStrike">
              <a:solidFill>
                <a:srgbClr val="000000"/>
              </a:solidFill>
              <a:effectLst/>
              <a:uFillTx/>
              <a:latin typeface="Arial" panose="020B0604020202020204"/>
            </a:endParaRPr>
          </a:p>
        </p:txBody>
      </p:sp>
      <p:sp>
        <p:nvSpPr>
          <p:cNvPr id="422" name="PlaceHolder 3"/>
          <p:cNvSpPr>
            <a:spLocks noGrp="1"/>
          </p:cNvSpPr>
          <p:nvPr>
            <p:ph type="sldNum" idx="2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197356A-A91F-4900-B617-8D628F145500}" type="slidenum">
              <a:rPr lang="en-US" sz="1200" b="0" u="none" strike="noStrike">
                <a:solidFill>
                  <a:schemeClr val="dk1"/>
                </a:solidFill>
                <a:effectLst/>
                <a:uFillTx/>
                <a:latin typeface="+mn-lt"/>
                <a:ea typeface="+mn-ea"/>
              </a:rPr>
            </a:fld>
            <a:endParaRPr lang="en-US" sz="1200" b="0" u="none" strike="noStrike">
              <a:solidFill>
                <a:srgbClr val="000000"/>
              </a:solidFill>
              <a:effectLst/>
              <a:uFillTx/>
              <a:latin typeface="Times New Roman" panose="02020603050405020304"/>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 name="PlaceHolder 1"/>
          <p:cNvSpPr>
            <a:spLocks noGrp="1"/>
          </p:cNvSpPr>
          <p:nvPr>
            <p:ph type="sldImg"/>
          </p:nvPr>
        </p:nvSpPr>
        <p:spPr>
          <a:xfrm>
            <a:off x="685800" y="1143000"/>
            <a:ext cx="5486040" cy="3085920"/>
          </a:xfrm>
          <a:prstGeom prst="rect">
            <a:avLst/>
          </a:prstGeom>
          <a:ln w="0">
            <a:noFill/>
          </a:ln>
        </p:spPr>
      </p:sp>
      <p:sp>
        <p:nvSpPr>
          <p:cNvPr id="42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buNone/>
            </a:pPr>
            <a:r>
              <a:rPr lang="en-US" sz="2000" b="0" u="none" strike="noStrike">
                <a:solidFill>
                  <a:srgbClr val="000000"/>
                </a:solidFill>
                <a:effectLst/>
                <a:uFillTx/>
                <a:latin typeface="Arial" panose="020B0604020202020204"/>
              </a:rPr>
              <a:t>[Closing - ~30 seconds]</a:t>
            </a: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To close, this system should be presented as a bounded, evidence-driven AI helpdesk prototype, not as a production banking platform.</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What it does well: it classifies user intent, retrieves grounded information, creates or checks support tickets, uses state and memory sensibly, logs decisions and evidence, and blocks unsafe actions.</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buNone/>
            </a:pPr>
            <a:r>
              <a:rPr lang="en-US" sz="2000" b="0" u="none" strike="noStrike">
                <a:solidFill>
                  <a:srgbClr val="000000"/>
                </a:solidFill>
                <a:effectLst/>
                <a:uFillTx/>
                <a:latin typeface="Arial" panose="020B0604020202020204"/>
              </a:rPr>
              <a:t>What it does not do: it does not automate financial transfers, it does not approve loans or account changes, it does not claim private account data without an authorized path, and it does not operate as an unsupervised autonomous bank system.</a:t>
            </a:r>
            <a:endParaRPr lang="en-US" sz="2000" b="0" u="none" strike="noStrike">
              <a:solidFill>
                <a:srgbClr val="000000"/>
              </a:solidFill>
              <a:effectLst/>
              <a:uFillTx/>
              <a:latin typeface="Arial" panose="020B0604020202020204"/>
            </a:endParaRPr>
          </a:p>
          <a:p>
            <a:pPr indent="0" algn="l">
              <a:buNone/>
            </a:pPr>
            <a:endParaRPr lang="en-US" sz="2000" b="0" u="none" strike="noStrike">
              <a:solidFill>
                <a:srgbClr val="000000"/>
              </a:solidFill>
              <a:effectLst/>
              <a:uFillTx/>
              <a:latin typeface="Arial" panose="020B0604020202020204"/>
            </a:endParaRPr>
          </a:p>
          <a:p>
            <a:pPr indent="0" algn="l">
              <a:lnSpc>
                <a:spcPct val="100000"/>
              </a:lnSpc>
              <a:buNone/>
            </a:pPr>
            <a:r>
              <a:rPr lang="en-US" sz="2000" b="0" u="none" strike="noStrike">
                <a:solidFill>
                  <a:srgbClr val="000000"/>
                </a:solidFill>
                <a:effectLst/>
                <a:uFillTx/>
                <a:latin typeface="Arial" panose="020B0604020202020204"/>
              </a:rPr>
              <a:t>The core lesson is that useful AI support works best when it is bounded, inspectable, and controlled by deterministic software and human approval. Thank you. We are happy to take your questions.</a:t>
            </a:r>
            <a:endParaRPr lang="en-US" sz="2000" b="0" u="none" strike="noStrike">
              <a:solidFill>
                <a:srgbClr val="000000"/>
              </a:solidFill>
              <a:effectLst/>
              <a:uFillTx/>
              <a:latin typeface="Arial" panose="020B0604020202020204"/>
            </a:endParaRPr>
          </a:p>
        </p:txBody>
      </p:sp>
      <p:sp>
        <p:nvSpPr>
          <p:cNvPr id="425" name="PlaceHolder 3"/>
          <p:cNvSpPr>
            <a:spLocks noGrp="1"/>
          </p:cNvSpPr>
          <p:nvPr>
            <p:ph type="sldNum" idx="2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71EFD32-2CE2-49A5-A9F3-2B01CB8F8AB8}" type="slidenum">
              <a:rPr lang="en-US" sz="1200" b="0" u="none" strike="noStrike">
                <a:solidFill>
                  <a:schemeClr val="dk1"/>
                </a:solidFill>
                <a:effectLst/>
                <a:uFillTx/>
                <a:latin typeface="+mn-lt"/>
                <a:ea typeface="+mn-ea"/>
              </a:rPr>
            </a:fld>
            <a:endParaRPr lang="en-US" sz="1200" b="0" u="none" strike="noStrike">
              <a:solidFill>
                <a:srgbClr val="000000"/>
              </a:solidFill>
              <a:effectLst/>
              <a:uFillTx/>
              <a:latin typeface="Times New Roman" panose="020206030504050203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TITLE_DARK">
    <p:bg>
      <p:bgPr>
        <a:solidFill>
          <a:srgbClr val="0B1F3A"/>
        </a:solidFill>
        <a:effectLst/>
      </p:bgPr>
    </p:bg>
    <p:spTree>
      <p:nvGrpSpPr>
        <p:cNvPr id="1" name=""/>
        <p:cNvGrpSpPr/>
        <p:nvPr/>
      </p:nvGrpSpPr>
      <p:grpSpPr>
        <a:xfrm>
          <a:off x="0" y="0"/>
          <a:ext cx="0" cy="0"/>
          <a:chOff x="0" y="0"/>
          <a:chExt cx="0" cy="0"/>
        </a:xfrm>
      </p:grpSpPr>
      <p:sp>
        <p:nvSpPr>
          <p:cNvPr id="2" name="PlaceHolder 1"/>
          <p:cNvSpPr>
            <a:spLocks noGrp="1"/>
          </p:cNvSpPr>
          <p:nvPr>
            <p:ph type="title" hasCustomPrompt="1"/>
          </p:nvPr>
        </p:nvSpPr>
        <p:spPr>
          <a:xfrm>
            <a:off x="731520" y="1828800"/>
            <a:ext cx="5851800" cy="2011320"/>
          </a:xfrm>
          <a:prstGeom prst="rect">
            <a:avLst/>
          </a:prstGeom>
          <a:noFill/>
          <a:ln w="0">
            <a:noFill/>
          </a:ln>
        </p:spPr>
        <p:txBody>
          <a:bodyPr lIns="90000" tIns="45000" rIns="90000" bIns="45000" anchor="t">
            <a:noAutofit/>
          </a:bodyPr>
          <a:lstStyle>
            <a:lvl1pPr indent="0" algn="l">
              <a:buNone/>
              <a:defRPr lang="en-US" sz="4400" b="0" u="none" strike="noStrike">
                <a:solidFill>
                  <a:schemeClr val="dk1"/>
                </a:solidFill>
                <a:effectLst/>
                <a:uFillTx/>
                <a:latin typeface="Calibri"/>
              </a:defRPr>
            </a:lvl1pPr>
          </a:lstStyle>
          <a:p>
            <a:pPr indent="0" algn="l">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3" name="PlaceHolder 2"/>
          <p:cNvSpPr>
            <a:spLocks noGrp="1"/>
          </p:cNvSpPr>
          <p:nvPr>
            <p:ph type="body" hasCustomPrompt="1"/>
          </p:nvPr>
        </p:nvSpPr>
        <p:spPr>
          <a:xfrm>
            <a:off x="731520" y="4160520"/>
            <a:ext cx="5668920" cy="1188360"/>
          </a:xfrm>
          <a:prstGeom prst="rect">
            <a:avLst/>
          </a:prstGeom>
          <a:noFill/>
          <a:ln w="0">
            <a:noFill/>
          </a:ln>
        </p:spPr>
        <p:txBody>
          <a:bodyPr lIns="90000" tIns="45000" rIns="90000" bIns="45000" anchor="t">
            <a:noAutofit/>
          </a:bodyPr>
          <a:lstStyle>
            <a:lvl1pPr algn="l">
              <a:spcBef>
                <a:spcPts val="1415"/>
              </a:spcBef>
              <a:buClr>
                <a:srgbClr val="FFFFFF"/>
              </a:buClr>
              <a:buSzPct val="45000"/>
              <a:buFont typeface="Wingdings" panose="05000000000000000000" pitchFamily="2" charset="2"/>
              <a:buChar char=""/>
              <a:defRPr lang="en-US" sz="1800" b="0" u="none" strike="noStrike">
                <a:solidFill>
                  <a:schemeClr val="dk1"/>
                </a:solidFill>
                <a:effectLst/>
                <a:uFillTx/>
                <a:latin typeface="Calibri"/>
              </a:defRPr>
            </a:lvl1pPr>
            <a:lvl2pPr lvl="1" algn="l">
              <a:spcBef>
                <a:spcPts val="1135"/>
              </a:spcBef>
              <a:buClr>
                <a:srgbClr val="FFFFFF"/>
              </a:buClr>
              <a:buSzPct val="75000"/>
              <a:buFont typeface="Symbol" charset="2"/>
              <a:buChar char=""/>
              <a:defRPr lang="en-US" sz="1800" b="0" u="none" strike="noStrike">
                <a:solidFill>
                  <a:schemeClr val="dk1"/>
                </a:solidFill>
                <a:effectLst/>
                <a:uFillTx/>
                <a:latin typeface="Calibri"/>
              </a:defRPr>
            </a:lvl2pPr>
            <a:lvl3pPr lvl="2" algn="l">
              <a:spcBef>
                <a:spcPts val="850"/>
              </a:spcBef>
              <a:buClr>
                <a:srgbClr val="FFFFFF"/>
              </a:buClr>
              <a:buSzPct val="45000"/>
              <a:buFont typeface="Wingdings" panose="05000000000000000000" pitchFamily="2" charset="2"/>
              <a:buChar char=""/>
              <a:defRPr lang="en-US" sz="1800" b="0" u="none" strike="noStrike">
                <a:solidFill>
                  <a:schemeClr val="dk1"/>
                </a:solidFill>
                <a:effectLst/>
                <a:uFillTx/>
                <a:latin typeface="Calibri"/>
              </a:defRPr>
            </a:lvl3pPr>
            <a:lvl4pPr lvl="3" algn="l">
              <a:spcBef>
                <a:spcPts val="565"/>
              </a:spcBef>
              <a:buClr>
                <a:srgbClr val="FFFFFF"/>
              </a:buClr>
              <a:buSzPct val="75000"/>
              <a:buFont typeface="Symbol" charset="2"/>
              <a:buChar char=""/>
              <a:defRPr lang="en-US" sz="1800" b="0" u="none" strike="noStrike">
                <a:solidFill>
                  <a:schemeClr val="dk1"/>
                </a:solidFill>
                <a:effectLst/>
                <a:uFillTx/>
                <a:latin typeface="Calibri"/>
              </a:defRPr>
            </a:lvl4pPr>
            <a:lvl5pPr lvl="4" algn="l">
              <a:spcBef>
                <a:spcPts val="285"/>
              </a:spcBef>
              <a:buClr>
                <a:srgbClr val="FFFFFF"/>
              </a:buClr>
              <a:buSzPct val="45000"/>
              <a:buFont typeface="Wingdings" panose="05000000000000000000" pitchFamily="2" charset="2"/>
              <a:buChar char=""/>
              <a:defRPr lang="en-US" sz="1800" b="0" u="none" strike="noStrike">
                <a:solidFill>
                  <a:schemeClr val="dk1"/>
                </a:solidFill>
                <a:effectLst/>
                <a:uFillTx/>
                <a:latin typeface="Calibri"/>
              </a:defRPr>
            </a:lvl5pPr>
            <a:lvl6pPr lvl="5" algn="l">
              <a:spcBef>
                <a:spcPts val="285"/>
              </a:spcBef>
              <a:buClr>
                <a:srgbClr val="FFFFFF"/>
              </a:buClr>
              <a:buSzPct val="45000"/>
              <a:buFont typeface="Wingdings" panose="05000000000000000000" pitchFamily="2" charset="2"/>
              <a:buChar char=""/>
              <a:defRPr lang="en-US" sz="1800" b="0" u="none" strike="noStrike">
                <a:solidFill>
                  <a:schemeClr val="dk1"/>
                </a:solidFill>
                <a:effectLst/>
                <a:uFillTx/>
                <a:latin typeface="Calibri"/>
              </a:defRPr>
            </a:lvl6pPr>
            <a:lvl7pPr lvl="6" algn="l">
              <a:spcBef>
                <a:spcPts val="285"/>
              </a:spcBef>
              <a:buClr>
                <a:srgbClr val="FFFFFF"/>
              </a:buClr>
              <a:buSzPct val="45000"/>
              <a:buFont typeface="Wingdings" panose="05000000000000000000" pitchFamily="2" charset="2"/>
              <a:buChar char=""/>
              <a:defRPr lang="en-US" sz="1800" b="0" u="none" strike="noStrike">
                <a:solidFill>
                  <a:schemeClr val="dk1"/>
                </a:solidFill>
                <a:effectLst/>
                <a:uFillTx/>
                <a:latin typeface="Calibri"/>
              </a:defRPr>
            </a:lvl7pPr>
          </a:lstStyle>
          <a:p>
            <a:pPr algn="l">
              <a:spcBef>
                <a:spcPts val="1415"/>
              </a:spcBef>
              <a:buClr>
                <a:srgbClr val="FFFFFF"/>
              </a:buClr>
              <a:buSzPct val="45000"/>
              <a:buFont typeface="Wingdings" panose="05000000000000000000" pitchFamily="2" charset="2"/>
              <a:buChar char=""/>
            </a:pPr>
            <a:r>
              <a:rPr lang="en-US" sz="1800" b="0" u="none" strike="noStrike">
                <a:solidFill>
                  <a:schemeClr val="dk1"/>
                </a:solidFill>
                <a:effectLst/>
                <a:uFillTx/>
                <a:latin typeface="Calibri"/>
              </a:rPr>
              <a:t>Click to edit the outline text format</a:t>
            </a:r>
            <a:endParaRPr lang="en-US" sz="1800" b="0" u="none" strike="noStrike">
              <a:solidFill>
                <a:schemeClr val="dk1"/>
              </a:solidFill>
              <a:effectLst/>
              <a:uFillTx/>
              <a:latin typeface="Calibri"/>
            </a:endParaRPr>
          </a:p>
          <a:p>
            <a:pPr marL="742950" lvl="1" indent="-285750" algn="l">
              <a:spcBef>
                <a:spcPts val="1135"/>
              </a:spcBef>
              <a:buClr>
                <a:srgbClr val="FFFFFF"/>
              </a:buClr>
              <a:buSzPct val="75000"/>
              <a:buFont typeface="Symbol" charset="2"/>
              <a:buChar char=""/>
            </a:pPr>
            <a:r>
              <a:rPr lang="en-US" sz="1800" b="0" u="none" strike="noStrike">
                <a:solidFill>
                  <a:schemeClr val="dk1"/>
                </a:solidFill>
                <a:effectLst/>
                <a:uFillTx/>
                <a:latin typeface="Calibri"/>
              </a:rPr>
              <a:t>Second Outline Level</a:t>
            </a:r>
            <a:endParaRPr lang="en-US" sz="1800" b="0" u="none" strike="noStrike">
              <a:solidFill>
                <a:schemeClr val="dk1"/>
              </a:solidFill>
              <a:effectLst/>
              <a:uFillTx/>
              <a:latin typeface="Calibri"/>
            </a:endParaRPr>
          </a:p>
          <a:p>
            <a:pPr marL="1143000" lvl="2" indent="-228600" algn="l">
              <a:spcBef>
                <a:spcPts val="850"/>
              </a:spcBef>
              <a:buClr>
                <a:srgbClr val="FFFFFF"/>
              </a:buClr>
              <a:buSzPct val="45000"/>
              <a:buFont typeface="Wingdings" panose="05000000000000000000" pitchFamily="2" charset="2"/>
              <a:buChar char=""/>
            </a:pPr>
            <a:r>
              <a:rPr lang="en-US" sz="1800" b="0" u="none" strike="noStrike">
                <a:solidFill>
                  <a:schemeClr val="dk1"/>
                </a:solidFill>
                <a:effectLst/>
                <a:uFillTx/>
                <a:latin typeface="Calibri"/>
              </a:rPr>
              <a:t>Third Outline Level</a:t>
            </a:r>
            <a:endParaRPr lang="en-US" sz="1800" b="0" u="none" strike="noStrike">
              <a:solidFill>
                <a:schemeClr val="dk1"/>
              </a:solidFill>
              <a:effectLst/>
              <a:uFillTx/>
              <a:latin typeface="Calibri"/>
            </a:endParaRPr>
          </a:p>
          <a:p>
            <a:pPr marL="1600200" lvl="3" indent="-228600" algn="l">
              <a:spcBef>
                <a:spcPts val="565"/>
              </a:spcBef>
              <a:buClr>
                <a:srgbClr val="FFFFFF"/>
              </a:buClr>
              <a:buSzPct val="75000"/>
              <a:buFont typeface="Symbol" charset="2"/>
              <a:buChar char=""/>
            </a:pPr>
            <a:r>
              <a:rPr lang="en-US" sz="1800" b="0" u="none" strike="noStrike">
                <a:solidFill>
                  <a:schemeClr val="dk1"/>
                </a:solidFill>
                <a:effectLst/>
                <a:uFillTx/>
                <a:latin typeface="Calibri"/>
              </a:rPr>
              <a:t>Fourth Outline Level</a:t>
            </a:r>
            <a:endParaRPr lang="en-US" sz="1800" b="0" u="none" strike="noStrike">
              <a:solidFill>
                <a:schemeClr val="dk1"/>
              </a:solidFill>
              <a:effectLst/>
              <a:uFillTx/>
              <a:latin typeface="Calibri"/>
            </a:endParaRPr>
          </a:p>
          <a:p>
            <a:pPr marL="2057400" lvl="4" indent="-228600" algn="l">
              <a:spcBef>
                <a:spcPts val="285"/>
              </a:spcBef>
              <a:buClr>
                <a:srgbClr val="FFFFFF"/>
              </a:buClr>
              <a:buSzPct val="45000"/>
              <a:buFont typeface="Wingdings" panose="05000000000000000000" pitchFamily="2" charset="2"/>
              <a:buChar char=""/>
            </a:pPr>
            <a:r>
              <a:rPr lang="en-US" sz="1800" b="0" u="none" strike="noStrike">
                <a:solidFill>
                  <a:schemeClr val="dk1"/>
                </a:solidFill>
                <a:effectLst/>
                <a:uFillTx/>
                <a:latin typeface="Calibri"/>
              </a:rPr>
              <a:t>Fifth Outline Level</a:t>
            </a:r>
            <a:endParaRPr lang="en-US" sz="1800" b="0" u="none" strike="noStrike">
              <a:solidFill>
                <a:schemeClr val="dk1"/>
              </a:solidFill>
              <a:effectLst/>
              <a:uFillTx/>
              <a:latin typeface="Calibri"/>
            </a:endParaRPr>
          </a:p>
          <a:p>
            <a:pPr marL="2514600" lvl="5" indent="-228600" algn="l">
              <a:spcBef>
                <a:spcPts val="285"/>
              </a:spcBef>
              <a:buClr>
                <a:srgbClr val="FFFFFF"/>
              </a:buClr>
              <a:buSzPct val="45000"/>
              <a:buFont typeface="Wingdings" panose="05000000000000000000" pitchFamily="2" charset="2"/>
              <a:buChar char=""/>
            </a:pPr>
            <a:r>
              <a:rPr lang="en-US" sz="1800" b="0" u="none" strike="noStrike">
                <a:solidFill>
                  <a:schemeClr val="dk1"/>
                </a:solidFill>
                <a:effectLst/>
                <a:uFillTx/>
                <a:latin typeface="Calibri"/>
              </a:rPr>
              <a:t>Sixth Outline Level</a:t>
            </a:r>
            <a:endParaRPr lang="en-US" sz="1800" b="0" u="none" strike="noStrike">
              <a:solidFill>
                <a:schemeClr val="dk1"/>
              </a:solidFill>
              <a:effectLst/>
              <a:uFillTx/>
              <a:latin typeface="Calibri"/>
            </a:endParaRPr>
          </a:p>
          <a:p>
            <a:pPr marL="2971800" lvl="6" indent="-228600" algn="l">
              <a:spcBef>
                <a:spcPts val="285"/>
              </a:spcBef>
              <a:buClr>
                <a:srgbClr val="FFFFFF"/>
              </a:buClr>
              <a:buSzPct val="45000"/>
              <a:buFont typeface="Wingdings" panose="05000000000000000000" pitchFamily="2" charset="2"/>
              <a:buChar char=""/>
            </a:pPr>
            <a:r>
              <a:rPr lang="en-US" sz="1800" b="0" u="none" strike="noStrike">
                <a:solidFill>
                  <a:schemeClr val="dk1"/>
                </a:solidFill>
                <a:effectLst/>
                <a:uFillTx/>
                <a:latin typeface="Calibri"/>
              </a:rPr>
              <a:t>Seventh Outline Level</a:t>
            </a:r>
            <a:endParaRPr lang="en-US" sz="1800" b="0" u="none" strike="noStrike">
              <a:solidFill>
                <a:schemeClr val="dk1"/>
              </a:solidFill>
              <a:effectLst/>
              <a:uFillTx/>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ONTENT">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hasCustomPrompt="1"/>
          </p:nvPr>
        </p:nvSpPr>
        <p:spPr>
          <a:xfrm>
            <a:off x="548640" y="365760"/>
            <a:ext cx="11063880" cy="776880"/>
          </a:xfrm>
          <a:prstGeom prst="rect">
            <a:avLst/>
          </a:prstGeom>
          <a:noFill/>
          <a:ln w="0">
            <a:noFill/>
          </a:ln>
        </p:spPr>
        <p:txBody>
          <a:bodyPr lIns="90000" tIns="45000" rIns="90000" bIns="45000" anchor="t">
            <a:noAutofit/>
          </a:bodyPr>
          <a:lstStyle>
            <a:lvl1pPr indent="0" algn="l">
              <a:buNone/>
              <a:defRPr lang="en-US" sz="3400" b="0" u="none" strike="noStrike">
                <a:solidFill>
                  <a:schemeClr val="dk1"/>
                </a:solidFill>
                <a:effectLst/>
                <a:uFillTx/>
                <a:latin typeface="Calibri"/>
              </a:defRPr>
            </a:lvl1pPr>
          </a:lstStyle>
          <a:p>
            <a:pPr indent="0" algn="l">
              <a:buNone/>
            </a:pPr>
            <a:r>
              <a:rPr lang="en-US" sz="3400" b="0" u="none" strike="noStrike">
                <a:solidFill>
                  <a:schemeClr val="dk1"/>
                </a:solidFill>
                <a:effectLst/>
                <a:uFillTx/>
                <a:latin typeface="Calibri"/>
              </a:rPr>
              <a:t>Click to edit the title text format</a:t>
            </a:r>
            <a:endParaRPr lang="en-US" sz="3400" b="0" u="none" strike="noStrike">
              <a:solidFill>
                <a:schemeClr val="dk1"/>
              </a:solidFill>
              <a:effectLst/>
              <a:uFillTx/>
              <a:latin typeface="Calibri"/>
            </a:endParaRPr>
          </a:p>
        </p:txBody>
      </p:sp>
      <p:sp>
        <p:nvSpPr>
          <p:cNvPr id="5" name="Text 0"/>
          <p:cNvSpPr/>
          <p:nvPr/>
        </p:nvSpPr>
        <p:spPr>
          <a:xfrm>
            <a:off x="548640" y="6400800"/>
            <a:ext cx="7314840"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000" b="0" u="none" strike="noStrike">
                <a:solidFill>
                  <a:srgbClr val="7A8AA6"/>
                </a:solidFill>
                <a:effectLst/>
                <a:uFillTx/>
                <a:latin typeface="Calibri"/>
              </a:rPr>
              <a:t>Group B  |  Centenary Bank AI Agentic Helpdesk  |  BSE4104</a:t>
            </a:r>
            <a:endParaRPr lang="en-US" sz="1000" b="0" u="none" strike="noStrike">
              <a:solidFill>
                <a:srgbClr val="000000"/>
              </a:solidFill>
              <a:effectLst/>
              <a:uFillTx/>
              <a:latin typeface="Arial" panose="020B0604020202020204"/>
            </a:endParaRPr>
          </a:p>
        </p:txBody>
      </p:sp>
      <p:sp>
        <p:nvSpPr>
          <p:cNvPr id="6" name="PlaceHolder 2"/>
          <p:cNvSpPr>
            <a:spLocks noGrp="1"/>
          </p:cNvSpPr>
          <p:nvPr>
            <p:ph type="sldNum" idx="1"/>
          </p:nvPr>
        </p:nvSpPr>
        <p:spPr>
          <a:xfrm>
            <a:off x="1124712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000" b="0" u="none" strike="noStrike">
                <a:solidFill>
                  <a:srgbClr val="7A8AA6"/>
                </a:solidFill>
                <a:effectLst/>
                <a:uFillTx/>
                <a:latin typeface="Calibri"/>
              </a:defRPr>
            </a:lvl1pPr>
          </a:lstStyle>
          <a:p>
            <a:pPr indent="0" algn="l" defTabSz="914400">
              <a:lnSpc>
                <a:spcPct val="100000"/>
              </a:lnSpc>
              <a:buNone/>
            </a:pPr>
            <a:fld id="{3D7E8A86-11E1-4F77-A8FF-D818AD740A6D}" type="slidenum">
              <a:rPr lang="en-US" sz="1000" b="0" u="none" strike="noStrike">
                <a:solidFill>
                  <a:srgbClr val="7A8AA6"/>
                </a:solidFill>
                <a:effectLst/>
                <a:uFillTx/>
                <a:latin typeface="Calibri"/>
              </a:rPr>
            </a:fld>
            <a:endParaRPr lang="en-US" sz="1000" b="0" u="none" strike="noStrike">
              <a:solidFill>
                <a:srgbClr val="000000"/>
              </a:solidFill>
              <a:effectLst/>
              <a:uFillTx/>
              <a:latin typeface="Times New Roman" panose="02020603050405020304"/>
            </a:endParaRPr>
          </a:p>
        </p:txBody>
      </p:sp>
      <p:sp>
        <p:nvSpPr>
          <p:cNvPr id="7" name="PlaceHolder 3"/>
          <p:cNvSpPr>
            <a:spLocks noGrp="1"/>
          </p:cNvSpPr>
          <p:nvPr>
            <p:ph type="body" hasCustomPrompt="1"/>
          </p:nvPr>
        </p:nvSpPr>
        <p:spPr>
          <a:xfrm>
            <a:off x="609480" y="1604520"/>
            <a:ext cx="10972440" cy="3977280"/>
          </a:xfrm>
          <a:prstGeom prst="rect">
            <a:avLst/>
          </a:prstGeom>
          <a:noFill/>
          <a:ln w="0">
            <a:noFill/>
          </a:ln>
        </p:spPr>
        <p:txBody>
          <a:bodyPr lIns="0" tIns="0" rIns="0" bIns="0" anchor="t">
            <a:normAutofit/>
          </a:bodyPr>
          <a:lstStyle>
            <a:lvl1pPr algn="l">
              <a:spcBef>
                <a:spcPts val="1415"/>
              </a:spcBef>
              <a:buClr>
                <a:srgbClr val="000000"/>
              </a:buClr>
              <a:buSzPct val="45000"/>
              <a:buFont typeface="Wingdings" panose="05000000000000000000" pitchFamily="2" charset="2"/>
              <a:buChar char=""/>
              <a:defRPr lang="en-US" sz="3200" b="0" u="none" strike="noStrike">
                <a:solidFill>
                  <a:schemeClr val="dk1"/>
                </a:solidFill>
                <a:effectLst/>
                <a:uFillTx/>
                <a:latin typeface="Calibri"/>
              </a:defRPr>
            </a:lvl1pPr>
            <a:lvl2pPr lvl="1" algn="l">
              <a:spcBef>
                <a:spcPts val="1135"/>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panose="05000000000000000000" pitchFamily="2" charset="2"/>
              <a:buChar char=""/>
              <a:defRPr lang="en-US" sz="2000" b="0" u="none" strike="noStrike">
                <a:solidFill>
                  <a:schemeClr val="dk1"/>
                </a:solidFill>
                <a:effectLst/>
                <a:uFillTx/>
                <a:latin typeface="Calibri"/>
              </a:defRPr>
            </a:lvl3pPr>
            <a:lvl4pPr lvl="3" algn="l">
              <a:spcBef>
                <a:spcPts val="565"/>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5"/>
              </a:spcBef>
              <a:buClr>
                <a:srgbClr val="000000"/>
              </a:buClr>
              <a:buSzPct val="45000"/>
              <a:buFont typeface="Wingdings" panose="05000000000000000000" pitchFamily="2" charset="2"/>
              <a:buChar char=""/>
              <a:defRPr lang="en-US" sz="2000" b="0" u="none" strike="noStrike">
                <a:solidFill>
                  <a:schemeClr val="dk1"/>
                </a:solidFill>
                <a:effectLst/>
                <a:uFillTx/>
                <a:latin typeface="Calibri"/>
              </a:defRPr>
            </a:lvl5pPr>
            <a:lvl6pPr lvl="5" algn="l">
              <a:spcBef>
                <a:spcPts val="285"/>
              </a:spcBef>
              <a:buClr>
                <a:srgbClr val="000000"/>
              </a:buClr>
              <a:buSzPct val="45000"/>
              <a:buFont typeface="Wingdings" panose="05000000000000000000" pitchFamily="2" charset="2"/>
              <a:buChar char=""/>
              <a:defRPr lang="en-US" sz="2000" b="0" u="none" strike="noStrike">
                <a:solidFill>
                  <a:schemeClr val="dk1"/>
                </a:solidFill>
                <a:effectLst/>
                <a:uFillTx/>
                <a:latin typeface="Calibri"/>
              </a:defRPr>
            </a:lvl6pPr>
            <a:lvl7pPr lvl="6" algn="l">
              <a:spcBef>
                <a:spcPts val="285"/>
              </a:spcBef>
              <a:buClr>
                <a:srgbClr val="000000"/>
              </a:buClr>
              <a:buSzPct val="45000"/>
              <a:buFont typeface="Wingdings" panose="05000000000000000000" pitchFamily="2" charset="2"/>
              <a:buChar char=""/>
              <a:defRPr lang="en-US" sz="2000" b="0" u="none" strike="noStrike">
                <a:solidFill>
                  <a:schemeClr val="dk1"/>
                </a:solidFill>
                <a:effectLst/>
                <a:uFillTx/>
                <a:latin typeface="Calibri"/>
              </a:defRPr>
            </a:lvl7pPr>
          </a:lstStyle>
          <a:p>
            <a:pPr marL="431800" indent="-323850" algn="l">
              <a:spcBef>
                <a:spcPts val="1415"/>
              </a:spcBef>
              <a:buClr>
                <a:srgbClr val="000000"/>
              </a:buClr>
              <a:buSzPct val="45000"/>
              <a:buFont typeface="Wingdings" panose="05000000000000000000" pitchFamily="2"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235" lvl="1" indent="-323850" algn="l">
              <a:spcBef>
                <a:spcPts val="1135"/>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35" lvl="2" indent="-288290" algn="l">
              <a:spcBef>
                <a:spcPts val="850"/>
              </a:spcBef>
              <a:buClr>
                <a:srgbClr val="000000"/>
              </a:buClr>
              <a:buSzPct val="45000"/>
              <a:buFont typeface="Wingdings" panose="05000000000000000000" pitchFamily="2"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7835" lvl="3" indent="-215900" algn="l">
              <a:spcBef>
                <a:spcPts val="565"/>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270" lvl="4" indent="-215900" algn="l">
              <a:spcBef>
                <a:spcPts val="285"/>
              </a:spcBef>
              <a:buClr>
                <a:srgbClr val="000000"/>
              </a:buClr>
              <a:buSzPct val="45000"/>
              <a:buFont typeface="Wingdings" panose="05000000000000000000" pitchFamily="2"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70" lvl="5" indent="-215900" algn="l">
              <a:spcBef>
                <a:spcPts val="285"/>
              </a:spcBef>
              <a:buClr>
                <a:srgbClr val="000000"/>
              </a:buClr>
              <a:buSzPct val="45000"/>
              <a:buFont typeface="Wingdings" panose="05000000000000000000" pitchFamily="2"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3870" lvl="6" indent="-215900" algn="l">
              <a:spcBef>
                <a:spcPts val="285"/>
              </a:spcBef>
              <a:buClr>
                <a:srgbClr val="000000"/>
              </a:buClr>
              <a:buSzPct val="45000"/>
              <a:buFont typeface="Wingdings" panose="05000000000000000000" pitchFamily="2"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ONTENT_DARK">
    <p:bg>
      <p:bgPr>
        <a:solidFill>
          <a:srgbClr val="0B1F3A"/>
        </a:solidFill>
        <a:effectLst/>
      </p:bgPr>
    </p:bg>
    <p:spTree>
      <p:nvGrpSpPr>
        <p:cNvPr id="1" name=""/>
        <p:cNvGrpSpPr/>
        <p:nvPr/>
      </p:nvGrpSpPr>
      <p:grpSpPr>
        <a:xfrm>
          <a:off x="0" y="0"/>
          <a:ext cx="0" cy="0"/>
          <a:chOff x="0" y="0"/>
          <a:chExt cx="0" cy="0"/>
        </a:xfrm>
      </p:grpSpPr>
      <p:sp>
        <p:nvSpPr>
          <p:cNvPr id="8" name="PlaceHolder 1"/>
          <p:cNvSpPr>
            <a:spLocks noGrp="1"/>
          </p:cNvSpPr>
          <p:nvPr>
            <p:ph type="title" hasCustomPrompt="1"/>
          </p:nvPr>
        </p:nvSpPr>
        <p:spPr>
          <a:xfrm>
            <a:off x="548640" y="365760"/>
            <a:ext cx="11063880" cy="776880"/>
          </a:xfrm>
          <a:prstGeom prst="rect">
            <a:avLst/>
          </a:prstGeom>
          <a:noFill/>
          <a:ln w="0">
            <a:noFill/>
          </a:ln>
        </p:spPr>
        <p:txBody>
          <a:bodyPr lIns="90000" tIns="45000" rIns="90000" bIns="45000" anchor="t">
            <a:noAutofit/>
          </a:bodyPr>
          <a:lstStyle>
            <a:lvl1pPr indent="0" algn="l">
              <a:buNone/>
              <a:defRPr lang="en-US" sz="3400" b="0" u="none" strike="noStrike">
                <a:solidFill>
                  <a:schemeClr val="dk1"/>
                </a:solidFill>
                <a:effectLst/>
                <a:uFillTx/>
                <a:latin typeface="Calibri"/>
              </a:defRPr>
            </a:lvl1pPr>
          </a:lstStyle>
          <a:p>
            <a:pPr indent="0" algn="l">
              <a:buNone/>
            </a:pPr>
            <a:r>
              <a:rPr lang="en-US" sz="3400" b="0" u="none" strike="noStrike">
                <a:solidFill>
                  <a:schemeClr val="dk1"/>
                </a:solidFill>
                <a:effectLst/>
                <a:uFillTx/>
                <a:latin typeface="Calibri"/>
              </a:rPr>
              <a:t>Click to edit the title text format</a:t>
            </a:r>
            <a:endParaRPr lang="en-US" sz="3400" b="0" u="none" strike="noStrike">
              <a:solidFill>
                <a:schemeClr val="dk1"/>
              </a:solidFill>
              <a:effectLst/>
              <a:uFillTx/>
              <a:latin typeface="Calibri"/>
            </a:endParaRPr>
          </a:p>
        </p:txBody>
      </p:sp>
      <p:sp>
        <p:nvSpPr>
          <p:cNvPr id="9" name="Text 0"/>
          <p:cNvSpPr/>
          <p:nvPr/>
        </p:nvSpPr>
        <p:spPr>
          <a:xfrm>
            <a:off x="548640" y="6400800"/>
            <a:ext cx="7314840"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000" b="0" u="none" strike="noStrike">
                <a:solidFill>
                  <a:srgbClr val="B8C4DA"/>
                </a:solidFill>
                <a:effectLst/>
                <a:uFillTx/>
                <a:latin typeface="Calibri"/>
              </a:rPr>
              <a:t>Group B  |  Centenary Bank AI Agentic Helpdesk  |  BSE4104</a:t>
            </a:r>
            <a:endParaRPr lang="en-US" sz="1000" b="0" u="none" strike="noStrike">
              <a:solidFill>
                <a:srgbClr val="FFFFFF"/>
              </a:solidFill>
              <a:effectLst/>
              <a:uFillTx/>
              <a:latin typeface="Arial" panose="020B0604020202020204"/>
            </a:endParaRPr>
          </a:p>
        </p:txBody>
      </p:sp>
      <p:sp>
        <p:nvSpPr>
          <p:cNvPr id="10" name="PlaceHolder 2"/>
          <p:cNvSpPr>
            <a:spLocks noGrp="1"/>
          </p:cNvSpPr>
          <p:nvPr>
            <p:ph type="sldNum" idx="2"/>
          </p:nvPr>
        </p:nvSpPr>
        <p:spPr>
          <a:xfrm>
            <a:off x="1124712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000" b="0" u="none" strike="noStrike">
                <a:solidFill>
                  <a:srgbClr val="B8C4DA"/>
                </a:solidFill>
                <a:effectLst/>
                <a:uFillTx/>
                <a:latin typeface="Calibri"/>
              </a:defRPr>
            </a:lvl1pPr>
          </a:lstStyle>
          <a:p>
            <a:pPr indent="0" algn="l" defTabSz="914400">
              <a:lnSpc>
                <a:spcPct val="100000"/>
              </a:lnSpc>
              <a:buNone/>
            </a:pPr>
            <a:fld id="{9E3AA925-FFAC-4818-AF45-20A55651450D}" type="slidenum">
              <a:rPr lang="en-US" sz="1000" b="0" u="none" strike="noStrike">
                <a:solidFill>
                  <a:srgbClr val="B8C4DA"/>
                </a:solidFill>
                <a:effectLst/>
                <a:uFillTx/>
                <a:latin typeface="Calibri"/>
              </a:rPr>
            </a:fld>
            <a:endParaRPr lang="en-US" sz="1000" b="0" u="none" strike="noStrike">
              <a:solidFill>
                <a:srgbClr val="FFFFFF"/>
              </a:solidFill>
              <a:effectLst/>
              <a:uFillTx/>
              <a:latin typeface="Times New Roman" panose="02020603050405020304"/>
            </a:endParaRPr>
          </a:p>
        </p:txBody>
      </p:sp>
      <p:sp>
        <p:nvSpPr>
          <p:cNvPr id="11" name="PlaceHolder 3"/>
          <p:cNvSpPr>
            <a:spLocks noGrp="1"/>
          </p:cNvSpPr>
          <p:nvPr>
            <p:ph type="body" hasCustomPrompt="1"/>
          </p:nvPr>
        </p:nvSpPr>
        <p:spPr>
          <a:xfrm>
            <a:off x="609480" y="1604520"/>
            <a:ext cx="10972440" cy="3977280"/>
          </a:xfrm>
          <a:prstGeom prst="rect">
            <a:avLst/>
          </a:prstGeom>
          <a:noFill/>
          <a:ln w="0">
            <a:noFill/>
          </a:ln>
        </p:spPr>
        <p:txBody>
          <a:bodyPr lIns="0" tIns="0" rIns="0" bIns="0" anchor="t">
            <a:normAutofit/>
          </a:bodyPr>
          <a:lstStyle>
            <a:lvl1pPr algn="l">
              <a:spcBef>
                <a:spcPts val="1415"/>
              </a:spcBef>
              <a:buClr>
                <a:srgbClr val="FFFFFF"/>
              </a:buClr>
              <a:buSzPct val="45000"/>
              <a:buFont typeface="Wingdings" panose="05000000000000000000" pitchFamily="2" charset="2"/>
              <a:buChar char=""/>
              <a:defRPr lang="en-US" sz="3200" b="0" u="none" strike="noStrike">
                <a:solidFill>
                  <a:schemeClr val="dk1"/>
                </a:solidFill>
                <a:effectLst/>
                <a:uFillTx/>
                <a:latin typeface="Calibri"/>
              </a:defRPr>
            </a:lvl1pPr>
            <a:lvl2pPr lvl="1" algn="l">
              <a:spcBef>
                <a:spcPts val="1135"/>
              </a:spcBef>
              <a:buClr>
                <a:srgbClr val="FFFFFF"/>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FFFFFF"/>
              </a:buClr>
              <a:buSzPct val="45000"/>
              <a:buFont typeface="Wingdings" panose="05000000000000000000" pitchFamily="2" charset="2"/>
              <a:buChar char=""/>
              <a:defRPr lang="en-US" sz="2000" b="0" u="none" strike="noStrike">
                <a:solidFill>
                  <a:schemeClr val="dk1"/>
                </a:solidFill>
                <a:effectLst/>
                <a:uFillTx/>
                <a:latin typeface="Calibri"/>
              </a:defRPr>
            </a:lvl3pPr>
            <a:lvl4pPr lvl="3" algn="l">
              <a:spcBef>
                <a:spcPts val="565"/>
              </a:spcBef>
              <a:buClr>
                <a:srgbClr val="FFFFFF"/>
              </a:buClr>
              <a:buSzPct val="75000"/>
              <a:buFont typeface="Symbol" charset="2"/>
              <a:buChar char=""/>
              <a:defRPr lang="en-US" sz="2000" b="0" u="none" strike="noStrike">
                <a:solidFill>
                  <a:schemeClr val="dk1"/>
                </a:solidFill>
                <a:effectLst/>
                <a:uFillTx/>
                <a:latin typeface="Calibri"/>
              </a:defRPr>
            </a:lvl4pPr>
            <a:lvl5pPr lvl="4" algn="l">
              <a:spcBef>
                <a:spcPts val="285"/>
              </a:spcBef>
              <a:buClr>
                <a:srgbClr val="FFFFFF"/>
              </a:buClr>
              <a:buSzPct val="45000"/>
              <a:buFont typeface="Wingdings" panose="05000000000000000000" pitchFamily="2" charset="2"/>
              <a:buChar char=""/>
              <a:defRPr lang="en-US" sz="2000" b="0" u="none" strike="noStrike">
                <a:solidFill>
                  <a:schemeClr val="dk1"/>
                </a:solidFill>
                <a:effectLst/>
                <a:uFillTx/>
                <a:latin typeface="Calibri"/>
              </a:defRPr>
            </a:lvl5pPr>
            <a:lvl6pPr lvl="5" algn="l">
              <a:spcBef>
                <a:spcPts val="285"/>
              </a:spcBef>
              <a:buClr>
                <a:srgbClr val="FFFFFF"/>
              </a:buClr>
              <a:buSzPct val="45000"/>
              <a:buFont typeface="Wingdings" panose="05000000000000000000" pitchFamily="2" charset="2"/>
              <a:buChar char=""/>
              <a:defRPr lang="en-US" sz="2000" b="0" u="none" strike="noStrike">
                <a:solidFill>
                  <a:schemeClr val="dk1"/>
                </a:solidFill>
                <a:effectLst/>
                <a:uFillTx/>
                <a:latin typeface="Calibri"/>
              </a:defRPr>
            </a:lvl6pPr>
            <a:lvl7pPr lvl="6" algn="l">
              <a:spcBef>
                <a:spcPts val="285"/>
              </a:spcBef>
              <a:buClr>
                <a:srgbClr val="FFFFFF"/>
              </a:buClr>
              <a:buSzPct val="45000"/>
              <a:buFont typeface="Wingdings" panose="05000000000000000000" pitchFamily="2" charset="2"/>
              <a:buChar char=""/>
              <a:defRPr lang="en-US" sz="2000" b="0" u="none" strike="noStrike">
                <a:solidFill>
                  <a:schemeClr val="dk1"/>
                </a:solidFill>
                <a:effectLst/>
                <a:uFillTx/>
                <a:latin typeface="Calibri"/>
              </a:defRPr>
            </a:lvl7pPr>
          </a:lstStyle>
          <a:p>
            <a:pPr marL="431800" indent="-323850" algn="l">
              <a:spcBef>
                <a:spcPts val="1415"/>
              </a:spcBef>
              <a:buClr>
                <a:srgbClr val="FFFFFF"/>
              </a:buClr>
              <a:buSzPct val="45000"/>
              <a:buFont typeface="Wingdings" panose="05000000000000000000" pitchFamily="2"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235" lvl="1" indent="-323850" algn="l">
              <a:spcBef>
                <a:spcPts val="1135"/>
              </a:spcBef>
              <a:buClr>
                <a:srgbClr val="FFFFFF"/>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35" lvl="2" indent="-288290" algn="l">
              <a:spcBef>
                <a:spcPts val="850"/>
              </a:spcBef>
              <a:buClr>
                <a:srgbClr val="FFFFFF"/>
              </a:buClr>
              <a:buSzPct val="45000"/>
              <a:buFont typeface="Wingdings" panose="05000000000000000000" pitchFamily="2"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7835" lvl="3" indent="-215900" algn="l">
              <a:spcBef>
                <a:spcPts val="565"/>
              </a:spcBef>
              <a:buClr>
                <a:srgbClr val="FFFFFF"/>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270" lvl="4" indent="-215900" algn="l">
              <a:spcBef>
                <a:spcPts val="285"/>
              </a:spcBef>
              <a:buClr>
                <a:srgbClr val="FFFFFF"/>
              </a:buClr>
              <a:buSzPct val="45000"/>
              <a:buFont typeface="Wingdings" panose="05000000000000000000" pitchFamily="2"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70" lvl="5" indent="-215900" algn="l">
              <a:spcBef>
                <a:spcPts val="285"/>
              </a:spcBef>
              <a:buClr>
                <a:srgbClr val="FFFFFF"/>
              </a:buClr>
              <a:buSzPct val="45000"/>
              <a:buFont typeface="Wingdings" panose="05000000000000000000" pitchFamily="2"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3870" lvl="6" indent="-215900" algn="l">
              <a:spcBef>
                <a:spcPts val="285"/>
              </a:spcBef>
              <a:buClr>
                <a:srgbClr val="FFFFFF"/>
              </a:buClr>
              <a:buSzPct val="45000"/>
              <a:buFont typeface="Wingdings" panose="05000000000000000000" pitchFamily="2"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3.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4.xml"/><Relationship Id="rId4" Type="http://schemas.openxmlformats.org/officeDocument/2006/relationships/image" Target="../media/image17.png"/><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image" Target="../media/image15.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3.xml"/><Relationship Id="rId4" Type="http://schemas.openxmlformats.org/officeDocument/2006/relationships/image" Target="../media/image25.png"/><Relationship Id="rId3" Type="http://schemas.openxmlformats.org/officeDocument/2006/relationships/image" Target="../media/image11.png"/><Relationship Id="rId2" Type="http://schemas.openxmlformats.org/officeDocument/2006/relationships/image" Target="../media/image24.png"/><Relationship Id="rId1" Type="http://schemas.openxmlformats.org/officeDocument/2006/relationships/image" Target="../media/image21.png"/></Relationships>
</file>

<file path=ppt/slides/_rels/slide9.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28.png"/><Relationship Id="rId7" Type="http://schemas.openxmlformats.org/officeDocument/2006/relationships/image" Target="../media/image10.png"/><Relationship Id="rId6" Type="http://schemas.openxmlformats.org/officeDocument/2006/relationships/image" Target="../media/image12.png"/><Relationship Id="rId5" Type="http://schemas.openxmlformats.org/officeDocument/2006/relationships/image" Target="../media/image20.png"/><Relationship Id="rId4" Type="http://schemas.openxmlformats.org/officeDocument/2006/relationships/image" Target="../media/image27.png"/><Relationship Id="rId3" Type="http://schemas.openxmlformats.org/officeDocument/2006/relationships/image" Target="../media/image23.png"/><Relationship Id="rId2" Type="http://schemas.openxmlformats.org/officeDocument/2006/relationships/image" Target="../media/image22.png"/><Relationship Id="rId13" Type="http://schemas.openxmlformats.org/officeDocument/2006/relationships/notesSlide" Target="../notesSlides/notesSlide9.xml"/><Relationship Id="rId12" Type="http://schemas.openxmlformats.org/officeDocument/2006/relationships/slideLayout" Target="../slideLayouts/slideLayout3.xml"/><Relationship Id="rId11" Type="http://schemas.openxmlformats.org/officeDocument/2006/relationships/image" Target="../media/image30.png"/><Relationship Id="rId10" Type="http://schemas.openxmlformats.org/officeDocument/2006/relationships/image" Target="../media/image18.png"/><Relationship Id="rId1" Type="http://schemas.openxmlformats.org/officeDocument/2006/relationships/image" Target="../media/image26.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4.xml"/><Relationship Id="rId2" Type="http://schemas.openxmlformats.org/officeDocument/2006/relationships/image" Target="../media/image25.png"/><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 0" descr="Illustration: shield with check mark surrounded by RAG, tools, memory, agent, evaluation and guardrails nodes"/>
          <p:cNvPicPr/>
          <p:nvPr/>
        </p:nvPicPr>
        <p:blipFill>
          <a:blip r:embed="rId1"/>
          <a:stretch>
            <a:fillRect/>
          </a:stretch>
        </p:blipFill>
        <p:spPr>
          <a:xfrm>
            <a:off x="6766560" y="0"/>
            <a:ext cx="5421960" cy="6857640"/>
          </a:xfrm>
          <a:prstGeom prst="rect">
            <a:avLst/>
          </a:prstGeom>
          <a:noFill/>
          <a:ln w="0">
            <a:noFill/>
          </a:ln>
        </p:spPr>
      </p:pic>
      <p:sp>
        <p:nvSpPr>
          <p:cNvPr id="19" name="Text 0"/>
          <p:cNvSpPr/>
          <p:nvPr/>
        </p:nvSpPr>
        <p:spPr>
          <a:xfrm>
            <a:off x="731520" y="1051560"/>
            <a:ext cx="5851800" cy="5482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pPr>
            <a:r>
              <a:rPr lang="en-US" sz="1300" b="1" u="none" strike="noStrike" spc="201">
                <a:solidFill>
                  <a:schemeClr val="accent1"/>
                </a:solidFill>
                <a:effectLst/>
                <a:uFillTx/>
                <a:latin typeface="Calibri"/>
              </a:rPr>
              <a:t>GROUP B – EVE  |  BSE4104 AI-NATIVE &amp; AGENTIC ENGINEERING CAPSTONE</a:t>
            </a:r>
            <a:endParaRPr lang="en-US" sz="1300" b="0" u="none" strike="noStrike">
              <a:solidFill>
                <a:srgbClr val="FFFFFF"/>
              </a:solidFill>
              <a:effectLst/>
              <a:uFillTx/>
              <a:latin typeface="Arial" panose="020B0604020202020204"/>
            </a:endParaRPr>
          </a:p>
        </p:txBody>
      </p:sp>
      <p:sp>
        <p:nvSpPr>
          <p:cNvPr id="20" name="PlaceHolder 1"/>
          <p:cNvSpPr>
            <a:spLocks noGrp="1"/>
          </p:cNvSpPr>
          <p:nvPr>
            <p:ph type="title" hasCustomPrompt="1"/>
          </p:nvPr>
        </p:nvSpPr>
        <p:spPr>
          <a:xfrm>
            <a:off x="731520" y="1828800"/>
            <a:ext cx="5851800" cy="2011320"/>
          </a:xfrm>
          <a:prstGeom prst="rect">
            <a:avLst/>
          </a:prstGeom>
          <a:noFill/>
          <a:ln w="0">
            <a:noFill/>
          </a:ln>
        </p:spPr>
        <p:txBody>
          <a:bodyPr lIns="0" tIns="0" rIns="0" bIns="0" anchor="t">
            <a:noAutofit/>
          </a:bodyPr>
          <a:p>
            <a:pPr indent="0" algn="ctr" defTabSz="914400">
              <a:lnSpc>
                <a:spcPct val="100000"/>
              </a:lnSpc>
              <a:buNone/>
              <a:tabLst>
                <a:tab pos="0" algn="l"/>
              </a:tabLst>
            </a:pPr>
            <a:r>
              <a:rPr lang="en-US" sz="4400" b="1" u="none" strike="noStrike">
                <a:solidFill>
                  <a:schemeClr val="lt1"/>
                </a:solidFill>
                <a:effectLst/>
                <a:uFillTx/>
                <a:latin typeface="Cambria"/>
              </a:rPr>
              <a:t>Centenary Bank AI Agentic Help Desk</a:t>
            </a:r>
            <a:endParaRPr lang="en-US" sz="4400" b="0" u="none" strike="noStrike">
              <a:solidFill>
                <a:schemeClr val="dk1"/>
              </a:solidFill>
              <a:effectLst/>
              <a:uFillTx/>
              <a:latin typeface="Calibri"/>
            </a:endParaRPr>
          </a:p>
        </p:txBody>
      </p:sp>
      <p:sp>
        <p:nvSpPr>
          <p:cNvPr id="21" name="PlaceHolder 2"/>
          <p:cNvSpPr>
            <a:spLocks noGrp="1"/>
          </p:cNvSpPr>
          <p:nvPr>
            <p:ph hasCustomPrompt="1"/>
          </p:nvPr>
        </p:nvSpPr>
        <p:spPr>
          <a:xfrm>
            <a:off x="685800" y="3841200"/>
            <a:ext cx="5668920" cy="1188360"/>
          </a:xfrm>
          <a:prstGeom prst="rect">
            <a:avLst/>
          </a:prstGeom>
          <a:noFill/>
          <a:ln w="0">
            <a:noFill/>
          </a:ln>
        </p:spPr>
        <p:txBody>
          <a:bodyPr lIns="0" tIns="0" rIns="0" bIns="0" anchor="t">
            <a:noAutofit/>
          </a:bodyPr>
          <a:p>
            <a:pPr indent="0" algn="l" defTabSz="914400">
              <a:lnSpc>
                <a:spcPct val="100000"/>
              </a:lnSpc>
              <a:spcBef>
                <a:spcPts val="360"/>
              </a:spcBef>
              <a:buNone/>
              <a:tabLst>
                <a:tab pos="0" algn="l"/>
              </a:tabLst>
            </a:pPr>
            <a:r>
              <a:rPr lang="en-US" sz="1800" b="0" u="none" strike="noStrike">
                <a:solidFill>
                  <a:schemeClr val="lt2"/>
                </a:solidFill>
                <a:effectLst/>
                <a:uFillTx/>
                <a:latin typeface="Calibri"/>
              </a:rPr>
              <a:t>A bounded helpdesk agent for customer support using a model, retrieval, tools, memory, and guardrails.</a:t>
            </a:r>
            <a:endParaRPr lang="en-US" sz="1800" b="0" u="none" strike="noStrike">
              <a:solidFill>
                <a:schemeClr val="dk1"/>
              </a:solidFill>
              <a:effectLst/>
              <a:uFillTx/>
              <a:latin typeface="Calibri"/>
            </a:endParaRPr>
          </a:p>
        </p:txBody>
      </p:sp>
      <p:sp>
        <p:nvSpPr>
          <p:cNvPr id="22" name="Text 3"/>
          <p:cNvSpPr/>
          <p:nvPr/>
        </p:nvSpPr>
        <p:spPr>
          <a:xfrm>
            <a:off x="731520" y="6217920"/>
            <a:ext cx="5851800" cy="2739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100" b="0" u="none" strike="noStrike">
                <a:solidFill>
                  <a:schemeClr val="accent6"/>
                </a:solidFill>
                <a:effectLst/>
                <a:uFillTx/>
                <a:latin typeface="Calibri"/>
              </a:rPr>
              <a:t>Makerere University  |  College of Computing and Information Sciences</a:t>
            </a:r>
            <a:endParaRPr lang="en-US" sz="1100" b="0" u="none" strike="noStrike">
              <a:solidFill>
                <a:srgbClr val="FFFFFF"/>
              </a:solidFill>
              <a:effectLst/>
              <a:uFillTx/>
              <a:latin typeface="Arial" panose="020B0604020202020204"/>
            </a:endParaRPr>
          </a:p>
        </p:txBody>
      </p:sp>
      <p:sp>
        <p:nvSpPr>
          <p:cNvPr id="23" name="Text 1"/>
          <p:cNvSpPr txBox="1"/>
          <p:nvPr/>
        </p:nvSpPr>
        <p:spPr>
          <a:xfrm>
            <a:off x="685800" y="4800600"/>
            <a:ext cx="4800600" cy="1371600"/>
          </a:xfrm>
          <a:prstGeom prst="rect">
            <a:avLst/>
          </a:prstGeom>
          <a:noFill/>
          <a:ln w="0">
            <a:noFill/>
          </a:ln>
        </p:spPr>
        <p:txBody>
          <a:bodyPr lIns="0" tIns="0" rIns="0" bIns="0" anchor="t">
            <a:noAutofit/>
          </a:bodyPr>
          <a:p>
            <a:pPr defTabSz="914400">
              <a:lnSpc>
                <a:spcPct val="100000"/>
              </a:lnSpc>
              <a:spcBef>
                <a:spcPts val="360"/>
              </a:spcBef>
              <a:tabLst>
                <a:tab pos="0" algn="l"/>
              </a:tabLst>
            </a:pPr>
            <a:r>
              <a:rPr lang="en-US" sz="1400" b="1" u="none" strike="noStrike">
                <a:solidFill>
                  <a:schemeClr val="lt2"/>
                </a:solidFill>
                <a:effectLst/>
                <a:uFillTx/>
                <a:latin typeface="Calibri"/>
              </a:rPr>
              <a:t>Group Members</a:t>
            </a:r>
            <a:endParaRPr lang="en-US" sz="1400" b="0" u="none" strike="noStrike">
              <a:solidFill>
                <a:schemeClr val="dk1"/>
              </a:solidFill>
              <a:effectLst/>
              <a:uFillTx/>
              <a:latin typeface="Calibri"/>
            </a:endParaRPr>
          </a:p>
          <a:p>
            <a:pPr defTabSz="914400">
              <a:lnSpc>
                <a:spcPct val="105000"/>
              </a:lnSpc>
              <a:spcAft>
                <a:spcPts val="400"/>
              </a:spcAft>
              <a:tabLst>
                <a:tab pos="0" algn="l"/>
              </a:tabLst>
            </a:pPr>
            <a:r>
              <a:rPr lang="en-US" sz="1400" b="0" u="none" strike="noStrike">
                <a:solidFill>
                  <a:schemeClr val="lt2"/>
                </a:solidFill>
                <a:effectLst/>
                <a:uFillTx/>
                <a:latin typeface="Calibri"/>
                <a:ea typeface="ＭＳ 明朝;Quicksand Light"/>
              </a:rPr>
              <a:t>Wambui Mariam : 23/U/18494/PS</a:t>
            </a:r>
            <a:endParaRPr lang="en-US" sz="1400" b="0" u="none" strike="noStrike">
              <a:solidFill>
                <a:schemeClr val="dk1"/>
              </a:solidFill>
              <a:effectLst/>
              <a:uFillTx/>
              <a:latin typeface="Calibri"/>
            </a:endParaRPr>
          </a:p>
          <a:p>
            <a:pPr>
              <a:lnSpc>
                <a:spcPct val="105000"/>
              </a:lnSpc>
              <a:spcAft>
                <a:spcPts val="400"/>
              </a:spcAft>
            </a:pPr>
            <a:r>
              <a:rPr lang="en-US" sz="1400" b="0" u="none" strike="noStrike">
                <a:solidFill>
                  <a:schemeClr val="lt2"/>
                </a:solidFill>
                <a:effectLst/>
                <a:uFillTx/>
                <a:latin typeface="Calibri"/>
              </a:rPr>
              <a:t>Mugoya Yusuf : 23/U/11615/EVE</a:t>
            </a:r>
            <a:endParaRPr lang="ar-SA" sz="1400" b="0" u="none" strike="noStrike">
              <a:solidFill>
                <a:srgbClr val="000000"/>
              </a:solidFill>
              <a:effectLst/>
              <a:uFillTx/>
              <a:latin typeface="Arial;Arial"/>
            </a:endParaRPr>
          </a:p>
          <a:p>
            <a:pPr>
              <a:lnSpc>
                <a:spcPct val="105000"/>
              </a:lnSpc>
              <a:spcAft>
                <a:spcPts val="400"/>
              </a:spcAft>
            </a:pPr>
            <a:r>
              <a:rPr lang="en-US" sz="1400" b="0" u="none" strike="noStrike">
                <a:solidFill>
                  <a:schemeClr val="lt2"/>
                </a:solidFill>
                <a:effectLst/>
                <a:uFillTx/>
                <a:latin typeface="Calibri"/>
                <a:ea typeface="ＭＳ 明朝;Quicksand Light"/>
              </a:rPr>
              <a:t>Ssenoga Herman : 23/U/17648/EVE</a:t>
            </a:r>
            <a:endParaRPr lang="ar-SA" sz="1400" b="0" u="none" strike="noStrike">
              <a:solidFill>
                <a:srgbClr val="000000"/>
              </a:solidFill>
              <a:effectLst/>
              <a:uFillTx/>
              <a:latin typeface="Arial;Arial"/>
            </a:endParaRPr>
          </a:p>
          <a:p>
            <a:pPr>
              <a:lnSpc>
                <a:spcPct val="105000"/>
              </a:lnSpc>
              <a:spcAft>
                <a:spcPts val="400"/>
              </a:spcAft>
            </a:pPr>
            <a:r>
              <a:rPr lang="en-US" sz="1400" b="0" u="none" strike="noStrike">
                <a:solidFill>
                  <a:schemeClr val="lt2"/>
                </a:solidFill>
                <a:effectLst/>
                <a:uFillTx/>
                <a:latin typeface="Calibri"/>
              </a:rPr>
              <a:t>Walusimbi Ashraf : 23/U/18466/EVE</a:t>
            </a:r>
            <a:endParaRPr lang="ar-SA" sz="1400" b="0" u="none" strike="noStrike">
              <a:solidFill>
                <a:srgbClr val="000000"/>
              </a:solidFill>
              <a:effectLst/>
              <a:uFillTx/>
              <a:latin typeface="Arial;Arial"/>
            </a:endParaRPr>
          </a:p>
          <a:p>
            <a:pPr>
              <a:lnSpc>
                <a:spcPct val="105000"/>
              </a:lnSpc>
              <a:spcAft>
                <a:spcPts val="400"/>
              </a:spcAft>
            </a:pPr>
            <a:endParaRPr lang="ar-SA" sz="1800" b="0" u="none" strike="noStrike">
              <a:solidFill>
                <a:srgbClr val="000000"/>
              </a:solidFill>
              <a:effectLst/>
              <a:uFillTx/>
              <a:latin typeface="Arial;Arial"/>
            </a:endParaRPr>
          </a:p>
          <a:p>
            <a:endParaRPr lang="en-US" sz="1800" b="0" u="none" strike="noStrike">
              <a:solidFill>
                <a:schemeClr val="dk1"/>
              </a:solidFill>
              <a:effectLst/>
              <a:uFillTx/>
              <a:latin typeface="Calibri"/>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PlaceHolder 1"/>
          <p:cNvSpPr>
            <a:spLocks noGrp="1"/>
          </p:cNvSpPr>
          <p:nvPr>
            <p:ph type="title" hasCustomPrompt="1"/>
          </p:nvPr>
        </p:nvSpPr>
        <p:spPr>
          <a:xfrm>
            <a:off x="548640" y="365760"/>
            <a:ext cx="11063880" cy="776880"/>
          </a:xfrm>
          <a:prstGeom prst="rect">
            <a:avLst/>
          </a:prstGeom>
          <a:noFill/>
          <a:ln w="0">
            <a:noFill/>
          </a:ln>
        </p:spPr>
        <p:txBody>
          <a:bodyPr lIns="0" tIns="0" rIns="0" bIns="0" anchor="ctr">
            <a:noAutofit/>
          </a:bodyPr>
          <a:p>
            <a:pPr indent="0" algn="ctr" defTabSz="914400">
              <a:lnSpc>
                <a:spcPct val="100000"/>
              </a:lnSpc>
              <a:buNone/>
              <a:tabLst>
                <a:tab pos="0" algn="l"/>
              </a:tabLst>
            </a:pPr>
            <a:r>
              <a:rPr lang="en-US" sz="3400" b="1" u="none" strike="noStrike">
                <a:solidFill>
                  <a:schemeClr val="dk2"/>
                </a:solidFill>
                <a:effectLst/>
                <a:uFillTx/>
                <a:latin typeface="Cambria"/>
              </a:rPr>
              <a:t>Problem, target user and why AI is justified</a:t>
            </a:r>
            <a:endParaRPr lang="en-US" sz="3400" b="0" u="none" strike="noStrike">
              <a:solidFill>
                <a:schemeClr val="dk1"/>
              </a:solidFill>
              <a:effectLst/>
              <a:uFillTx/>
              <a:latin typeface="Calibri"/>
            </a:endParaRPr>
          </a:p>
        </p:txBody>
      </p:sp>
      <p:sp>
        <p:nvSpPr>
          <p:cNvPr id="25" name="card Problem 1"/>
          <p:cNvSpPr/>
          <p:nvPr/>
        </p:nvSpPr>
        <p:spPr>
          <a:xfrm>
            <a:off x="548640" y="1371600"/>
            <a:ext cx="3511080" cy="3062880"/>
          </a:xfrm>
          <a:prstGeom prst="roundRect">
            <a:avLst>
              <a:gd name="adj" fmla="val 3582"/>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26" name="icon circle 1"/>
          <p:cNvSpPr/>
          <p:nvPr/>
        </p:nvSpPr>
        <p:spPr>
          <a:xfrm>
            <a:off x="822960" y="1600200"/>
            <a:ext cx="639720" cy="639720"/>
          </a:xfrm>
          <a:prstGeom prst="ellipse">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27" name="Image 13" descr="icon"/>
          <p:cNvPicPr/>
          <p:nvPr/>
        </p:nvPicPr>
        <p:blipFill>
          <a:blip r:embed="rId1"/>
          <a:stretch>
            <a:fillRect/>
          </a:stretch>
        </p:blipFill>
        <p:spPr>
          <a:xfrm>
            <a:off x="989280" y="1766520"/>
            <a:ext cx="306720" cy="306720"/>
          </a:xfrm>
          <a:prstGeom prst="rect">
            <a:avLst/>
          </a:prstGeom>
          <a:noFill/>
          <a:ln w="0">
            <a:noFill/>
          </a:ln>
        </p:spPr>
      </p:pic>
      <p:sp>
        <p:nvSpPr>
          <p:cNvPr id="28" name="Text 42"/>
          <p:cNvSpPr/>
          <p:nvPr/>
        </p:nvSpPr>
        <p:spPr>
          <a:xfrm>
            <a:off x="1600200" y="1600200"/>
            <a:ext cx="2322360" cy="639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2000" b="1" u="none" strike="noStrike">
                <a:solidFill>
                  <a:schemeClr val="dk2"/>
                </a:solidFill>
                <a:effectLst/>
                <a:uFillTx/>
                <a:latin typeface="Calibri"/>
              </a:rPr>
              <a:t>Problem</a:t>
            </a:r>
            <a:endParaRPr lang="en-US" sz="2000" b="0" u="none" strike="noStrike">
              <a:solidFill>
                <a:srgbClr val="000000"/>
              </a:solidFill>
              <a:effectLst/>
              <a:uFillTx/>
              <a:latin typeface="Arial" panose="020B0604020202020204"/>
            </a:endParaRPr>
          </a:p>
        </p:txBody>
      </p:sp>
      <p:sp>
        <p:nvSpPr>
          <p:cNvPr id="29" name="Text 43"/>
          <p:cNvSpPr/>
          <p:nvPr/>
        </p:nvSpPr>
        <p:spPr>
          <a:xfrm>
            <a:off x="822960" y="2423160"/>
            <a:ext cx="2962440" cy="19198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pPr>
            <a:endParaRPr lang="en-US" sz="1800" b="0" u="none" strike="noStrike">
              <a:solidFill>
                <a:srgbClr val="000000"/>
              </a:solidFill>
              <a:effectLst/>
              <a:uFillTx/>
              <a:latin typeface="Arial" panose="020B0604020202020204"/>
            </a:endParaRPr>
          </a:p>
        </p:txBody>
      </p:sp>
      <p:sp>
        <p:nvSpPr>
          <p:cNvPr id="30" name="card Target user 1"/>
          <p:cNvSpPr/>
          <p:nvPr/>
        </p:nvSpPr>
        <p:spPr>
          <a:xfrm>
            <a:off x="4334400" y="1371600"/>
            <a:ext cx="3511080" cy="3062880"/>
          </a:xfrm>
          <a:prstGeom prst="roundRect">
            <a:avLst>
              <a:gd name="adj" fmla="val 3582"/>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31" name="icon circle 2"/>
          <p:cNvSpPr/>
          <p:nvPr/>
        </p:nvSpPr>
        <p:spPr>
          <a:xfrm>
            <a:off x="4608720" y="1600200"/>
            <a:ext cx="639720" cy="639720"/>
          </a:xfrm>
          <a:prstGeom prst="ellipse">
            <a:avLst/>
          </a:prstGeom>
          <a:solidFill>
            <a:schemeClr val="accent2"/>
          </a:solidFill>
          <a:ln w="12700">
            <a:solidFill>
              <a:srgbClr val="1FA3A3"/>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2" name="Image 14" descr="icon"/>
          <p:cNvPicPr/>
          <p:nvPr/>
        </p:nvPicPr>
        <p:blipFill>
          <a:blip r:embed="rId2"/>
          <a:stretch>
            <a:fillRect/>
          </a:stretch>
        </p:blipFill>
        <p:spPr>
          <a:xfrm>
            <a:off x="4775040" y="1766520"/>
            <a:ext cx="306720" cy="306720"/>
          </a:xfrm>
          <a:prstGeom prst="rect">
            <a:avLst/>
          </a:prstGeom>
          <a:noFill/>
          <a:ln w="0">
            <a:noFill/>
          </a:ln>
        </p:spPr>
      </p:pic>
      <p:sp>
        <p:nvSpPr>
          <p:cNvPr id="33" name="Text 45"/>
          <p:cNvSpPr/>
          <p:nvPr/>
        </p:nvSpPr>
        <p:spPr>
          <a:xfrm>
            <a:off x="5385960" y="1600200"/>
            <a:ext cx="2322360" cy="639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2000" b="1" u="none" strike="noStrike">
                <a:solidFill>
                  <a:schemeClr val="dk2"/>
                </a:solidFill>
                <a:effectLst/>
                <a:uFillTx/>
                <a:latin typeface="Calibri"/>
              </a:rPr>
              <a:t>Target user</a:t>
            </a:r>
            <a:endParaRPr lang="en-US" sz="2000" b="0" u="none" strike="noStrike">
              <a:solidFill>
                <a:srgbClr val="000000"/>
              </a:solidFill>
              <a:effectLst/>
              <a:uFillTx/>
              <a:latin typeface="Arial" panose="020B0604020202020204"/>
            </a:endParaRPr>
          </a:p>
        </p:txBody>
      </p:sp>
      <p:sp>
        <p:nvSpPr>
          <p:cNvPr id="34" name="Text 48"/>
          <p:cNvSpPr/>
          <p:nvPr/>
        </p:nvSpPr>
        <p:spPr>
          <a:xfrm>
            <a:off x="4608720" y="2423160"/>
            <a:ext cx="2962440" cy="19198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algn="just" defTabSz="914400">
              <a:lnSpc>
                <a:spcPct val="100000"/>
              </a:lnSpc>
              <a:tabLst>
                <a:tab pos="0" algn="l"/>
              </a:tabLst>
            </a:pPr>
            <a:r>
              <a:rPr lang="en-US" sz="1500" b="0" u="none" strike="noStrike">
                <a:solidFill>
                  <a:schemeClr val="dk1"/>
                </a:solidFill>
                <a:effectLst/>
                <a:uFillTx/>
                <a:latin typeface="Calibri"/>
              </a:rPr>
              <a:t>A Centenary Bank customer seeking help with a service issue through a safe digital support channel. A support officer receives the cases the agent cannot safely complete.</a:t>
            </a:r>
            <a:endParaRPr lang="en-US" sz="1500" b="0" u="none" strike="noStrike">
              <a:solidFill>
                <a:srgbClr val="000000"/>
              </a:solidFill>
              <a:effectLst/>
              <a:uFillTx/>
              <a:latin typeface="Arial" panose="020B0604020202020204"/>
            </a:endParaRPr>
          </a:p>
        </p:txBody>
      </p:sp>
      <p:sp>
        <p:nvSpPr>
          <p:cNvPr id="35" name="card Why AI is justified 1"/>
          <p:cNvSpPr/>
          <p:nvPr/>
        </p:nvSpPr>
        <p:spPr>
          <a:xfrm>
            <a:off x="8119800" y="1371600"/>
            <a:ext cx="3511080" cy="3062880"/>
          </a:xfrm>
          <a:prstGeom prst="roundRect">
            <a:avLst>
              <a:gd name="adj" fmla="val 3582"/>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36" name="icon circle 3"/>
          <p:cNvSpPr/>
          <p:nvPr/>
        </p:nvSpPr>
        <p:spPr>
          <a:xfrm>
            <a:off x="8394120" y="1600200"/>
            <a:ext cx="639720" cy="639720"/>
          </a:xfrm>
          <a:prstGeom prst="ellipse">
            <a:avLst/>
          </a:prstGeom>
          <a:solidFill>
            <a:schemeClr val="accent1"/>
          </a:solidFill>
          <a:ln w="12700">
            <a:solidFill>
              <a:srgbClr val="F2B705"/>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pic>
        <p:nvPicPr>
          <p:cNvPr id="37" name="Image 15" descr="icon"/>
          <p:cNvPicPr/>
          <p:nvPr/>
        </p:nvPicPr>
        <p:blipFill>
          <a:blip r:embed="rId3"/>
          <a:stretch>
            <a:fillRect/>
          </a:stretch>
        </p:blipFill>
        <p:spPr>
          <a:xfrm>
            <a:off x="8560440" y="1766520"/>
            <a:ext cx="306720" cy="306720"/>
          </a:xfrm>
          <a:prstGeom prst="rect">
            <a:avLst/>
          </a:prstGeom>
          <a:noFill/>
          <a:ln w="0">
            <a:noFill/>
          </a:ln>
        </p:spPr>
      </p:pic>
      <p:sp>
        <p:nvSpPr>
          <p:cNvPr id="38" name="Text 49"/>
          <p:cNvSpPr/>
          <p:nvPr/>
        </p:nvSpPr>
        <p:spPr>
          <a:xfrm>
            <a:off x="9171360" y="1600200"/>
            <a:ext cx="2322360" cy="639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2000" b="1" u="none" strike="noStrike">
                <a:solidFill>
                  <a:schemeClr val="dk2"/>
                </a:solidFill>
                <a:effectLst/>
                <a:uFillTx/>
                <a:latin typeface="Calibri"/>
              </a:rPr>
              <a:t>Why AI is justified</a:t>
            </a:r>
            <a:endParaRPr lang="en-US" sz="2000" b="0" u="none" strike="noStrike">
              <a:solidFill>
                <a:srgbClr val="000000"/>
              </a:solidFill>
              <a:effectLst/>
              <a:uFillTx/>
              <a:latin typeface="Arial" panose="020B0604020202020204"/>
            </a:endParaRPr>
          </a:p>
        </p:txBody>
      </p:sp>
      <p:sp>
        <p:nvSpPr>
          <p:cNvPr id="39" name="Text 52"/>
          <p:cNvSpPr/>
          <p:nvPr/>
        </p:nvSpPr>
        <p:spPr>
          <a:xfrm>
            <a:off x="8394120" y="2423160"/>
            <a:ext cx="2962440" cy="19198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algn="just" defTabSz="914400">
              <a:lnSpc>
                <a:spcPct val="100000"/>
              </a:lnSpc>
              <a:tabLst>
                <a:tab pos="0" algn="l"/>
              </a:tabLst>
            </a:pPr>
            <a:r>
              <a:rPr lang="en-US" sz="1500" b="0" u="none" strike="noStrike">
                <a:solidFill>
                  <a:schemeClr val="dk1"/>
                </a:solidFill>
                <a:effectLst/>
                <a:uFillTx/>
                <a:latin typeface="Calibri"/>
              </a:rPr>
              <a:t>AI understands the message, classifies the intent, retrieves the right information from a trusted knowledge base and routes the request to the right approved action, reducing repetitive support work.</a:t>
            </a:r>
            <a:endParaRPr lang="en-US" sz="1500" b="0" u="none" strike="noStrike">
              <a:solidFill>
                <a:srgbClr val="000000"/>
              </a:solidFill>
              <a:effectLst/>
              <a:uFillTx/>
              <a:latin typeface="Arial" panose="020B0604020202020204"/>
            </a:endParaRPr>
          </a:p>
        </p:txBody>
      </p:sp>
      <p:sp>
        <p:nvSpPr>
          <p:cNvPr id="40" name="deterministic card 1"/>
          <p:cNvSpPr/>
          <p:nvPr/>
        </p:nvSpPr>
        <p:spPr>
          <a:xfrm>
            <a:off x="548640" y="4663440"/>
            <a:ext cx="5440320" cy="1508400"/>
          </a:xfrm>
          <a:prstGeom prst="roundRect">
            <a:avLst>
              <a:gd name="adj" fmla="val 7273"/>
            </a:avLst>
          </a:prstGeom>
          <a:solidFill>
            <a:schemeClr val="bg1"/>
          </a:solidFill>
          <a:ln w="12700">
            <a:solidFill>
              <a:srgbClr val="FFFFFF"/>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41" name="Text 53"/>
          <p:cNvSpPr/>
          <p:nvPr/>
        </p:nvSpPr>
        <p:spPr>
          <a:xfrm>
            <a:off x="777240" y="4754880"/>
            <a:ext cx="5028840" cy="1325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spcAft>
                <a:spcPts val="400"/>
              </a:spcAft>
              <a:tabLst>
                <a:tab pos="0" algn="l"/>
              </a:tabLst>
            </a:pPr>
            <a:r>
              <a:rPr lang="en-US" sz="1600" b="1" u="none" strike="noStrike">
                <a:solidFill>
                  <a:schemeClr val="dk2"/>
                </a:solidFill>
                <a:effectLst/>
                <a:uFillTx/>
                <a:latin typeface="Calibri"/>
              </a:rPr>
              <a:t>Why deterministic software still matters</a:t>
            </a:r>
            <a:endParaRPr lang="en-US" sz="1600" b="0" u="none" strike="noStrike">
              <a:solidFill>
                <a:srgbClr val="000000"/>
              </a:solidFill>
              <a:effectLst/>
              <a:uFillTx/>
              <a:latin typeface="Arial" panose="020B0604020202020204"/>
            </a:endParaRPr>
          </a:p>
          <a:p>
            <a:pPr defTabSz="914400">
              <a:lnSpc>
                <a:spcPct val="100000"/>
              </a:lnSpc>
              <a:tabLst>
                <a:tab pos="0" algn="l"/>
              </a:tabLst>
            </a:pPr>
            <a:r>
              <a:rPr lang="en-US" sz="1400" b="0" u="none" strike="noStrike">
                <a:solidFill>
                  <a:schemeClr val="dk1"/>
                </a:solidFill>
                <a:effectLst/>
                <a:uFillTx/>
                <a:latin typeface="Calibri"/>
              </a:rPr>
              <a:t>The model does not decide high-impact actions. Ownership checks, authorization, scope boundaries and approval control stay rule-based.</a:t>
            </a:r>
            <a:endParaRPr lang="en-US" sz="1400" b="0" u="none" strike="noStrike">
              <a:solidFill>
                <a:srgbClr val="000000"/>
              </a:solidFill>
              <a:effectLst/>
              <a:uFillTx/>
              <a:latin typeface="Arial" panose="020B0604020202020204"/>
            </a:endParaRPr>
          </a:p>
        </p:txBody>
      </p:sp>
      <p:sp>
        <p:nvSpPr>
          <p:cNvPr id="42" name="boundary card 1"/>
          <p:cNvSpPr/>
          <p:nvPr/>
        </p:nvSpPr>
        <p:spPr>
          <a:xfrm>
            <a:off x="6217920" y="4663440"/>
            <a:ext cx="5421960" cy="1508400"/>
          </a:xfrm>
          <a:prstGeom prst="roundRect">
            <a:avLst>
              <a:gd name="adj" fmla="val 7273"/>
            </a:avLst>
          </a:prstGeom>
          <a:solidFill>
            <a:schemeClr val="tx2"/>
          </a:solidFill>
          <a:ln w="12700">
            <a:solidFill>
              <a:srgbClr val="0B1F3A"/>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43" name="icon circle 4"/>
          <p:cNvSpPr/>
          <p:nvPr/>
        </p:nvSpPr>
        <p:spPr>
          <a:xfrm>
            <a:off x="6446520" y="5029200"/>
            <a:ext cx="776880" cy="776880"/>
          </a:xfrm>
          <a:prstGeom prst="ellipse">
            <a:avLst/>
          </a:prstGeom>
          <a:solidFill>
            <a:schemeClr val="accent1"/>
          </a:solidFill>
          <a:ln w="12700">
            <a:solidFill>
              <a:srgbClr val="F2B705"/>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pic>
        <p:nvPicPr>
          <p:cNvPr id="44" name="Image 16" descr="icon"/>
          <p:cNvPicPr/>
          <p:nvPr/>
        </p:nvPicPr>
        <p:blipFill>
          <a:blip r:embed="rId4"/>
          <a:stretch>
            <a:fillRect/>
          </a:stretch>
        </p:blipFill>
        <p:spPr>
          <a:xfrm>
            <a:off x="6648480" y="5231160"/>
            <a:ext cx="372600" cy="372600"/>
          </a:xfrm>
          <a:prstGeom prst="rect">
            <a:avLst/>
          </a:prstGeom>
          <a:noFill/>
          <a:ln w="0">
            <a:noFill/>
          </a:ln>
        </p:spPr>
      </p:pic>
      <p:sp>
        <p:nvSpPr>
          <p:cNvPr id="45" name="Text 56"/>
          <p:cNvSpPr/>
          <p:nvPr/>
        </p:nvSpPr>
        <p:spPr>
          <a:xfrm>
            <a:off x="7406640" y="4754880"/>
            <a:ext cx="4068720" cy="13255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spcAft>
                <a:spcPts val="400"/>
              </a:spcAft>
              <a:tabLst>
                <a:tab pos="0" algn="l"/>
              </a:tabLst>
            </a:pPr>
            <a:r>
              <a:rPr lang="en-US" sz="1600" b="1" u="none" strike="noStrike">
                <a:solidFill>
                  <a:schemeClr val="accent1"/>
                </a:solidFill>
                <a:effectLst/>
                <a:uFillTx/>
                <a:latin typeface="Calibri"/>
              </a:rPr>
              <a:t>Key boundary</a:t>
            </a:r>
            <a:endParaRPr lang="en-US" sz="1600" b="0" u="none" strike="noStrike">
              <a:solidFill>
                <a:srgbClr val="000000"/>
              </a:solidFill>
              <a:effectLst/>
              <a:uFillTx/>
              <a:latin typeface="Arial" panose="020B0604020202020204"/>
            </a:endParaRPr>
          </a:p>
          <a:p>
            <a:pPr defTabSz="914400">
              <a:lnSpc>
                <a:spcPct val="100000"/>
              </a:lnSpc>
              <a:tabLst>
                <a:tab pos="0" algn="l"/>
              </a:tabLst>
            </a:pPr>
            <a:r>
              <a:rPr lang="en-US" sz="1400" b="0" u="none" strike="noStrike">
                <a:solidFill>
                  <a:schemeClr val="lt1"/>
                </a:solidFill>
                <a:effectLst/>
                <a:uFillTx/>
                <a:latin typeface="Calibri"/>
              </a:rPr>
              <a:t>Support and case handling only. No unauthorised financial actions, loan approvals, transfers, account data changes or revealing credentials.</a:t>
            </a:r>
            <a:endParaRPr lang="en-US" sz="1400" b="0" u="none" strike="noStrike">
              <a:solidFill>
                <a:srgbClr val="000000"/>
              </a:solidFill>
              <a:effectLst/>
              <a:uFillTx/>
              <a:latin typeface="Arial" panose="020B0604020202020204"/>
            </a:endParaRPr>
          </a:p>
        </p:txBody>
      </p:sp>
      <p:sp>
        <p:nvSpPr>
          <p:cNvPr id="46" name="PlaceHolder 2"/>
          <p:cNvSpPr>
            <a:spLocks noGrp="1"/>
          </p:cNvSpPr>
          <p:nvPr>
            <p:ph type="sldNum" idx="6"/>
          </p:nvPr>
        </p:nvSpPr>
        <p:spPr>
          <a:xfrm>
            <a:off x="1124712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000" b="0" u="none" strike="noStrike">
                <a:solidFill>
                  <a:srgbClr val="7A8AA6"/>
                </a:solidFill>
                <a:effectLst/>
                <a:uFillTx/>
                <a:latin typeface="Calibri"/>
              </a:defRPr>
            </a:lvl1pPr>
          </a:lstStyle>
          <a:p>
            <a:pPr indent="0" algn="l" defTabSz="914400">
              <a:lnSpc>
                <a:spcPct val="100000"/>
              </a:lnSpc>
              <a:buNone/>
            </a:pPr>
            <a:fld id="{CB5E625F-8633-46A1-ABE0-13CD40689584}" type="slidenum">
              <a:rPr lang="en-US" sz="1000" b="0" u="none" strike="noStrike">
                <a:solidFill>
                  <a:srgbClr val="7A8AA6"/>
                </a:solidFill>
                <a:effectLst/>
                <a:uFillTx/>
                <a:latin typeface="Calibri"/>
              </a:rPr>
            </a:fld>
            <a:endParaRPr lang="en-US" sz="1000" b="0" u="none" strike="noStrike">
              <a:solidFill>
                <a:srgbClr val="000000"/>
              </a:solidFill>
              <a:effectLst/>
              <a:uFillTx/>
              <a:latin typeface="Times New Roman" panose="02020603050405020304"/>
            </a:endParaRPr>
          </a:p>
        </p:txBody>
      </p:sp>
      <p:sp>
        <p:nvSpPr>
          <p:cNvPr id="47" name="Text Box 46"/>
          <p:cNvSpPr txBox="1"/>
          <p:nvPr/>
        </p:nvSpPr>
        <p:spPr>
          <a:xfrm>
            <a:off x="548640" y="2397240"/>
            <a:ext cx="3511080" cy="1704340"/>
          </a:xfrm>
          <a:prstGeom prst="rect">
            <a:avLst/>
          </a:prstGeom>
          <a:noFill/>
          <a:ln w="0">
            <a:noFill/>
          </a:ln>
        </p:spPr>
        <p:txBody>
          <a:bodyPr lIns="90000" tIns="45000" rIns="90000" bIns="45000" anchor="t">
            <a:spAutoFit/>
          </a:bodyPr>
          <a:p>
            <a:pPr algn="just">
              <a:spcBef>
                <a:spcPts val="1190"/>
              </a:spcBef>
              <a:spcAft>
                <a:spcPts val="990"/>
              </a:spcAft>
            </a:pPr>
            <a:r>
              <a:rPr lang="en-US" sz="1500" b="0" u="none" strike="noStrike">
                <a:solidFill>
                  <a:srgbClr val="000000"/>
                </a:solidFill>
                <a:effectLst/>
                <a:uFillTx/>
                <a:cs typeface="+mn-lt"/>
              </a:rPr>
              <a:t>Bank customers present high daily volumes of repetitive support questions. Because existing channels lack instant automated resolution, they face long response delays, while support officers are overwhelmed by manual queries.</a:t>
            </a:r>
            <a:endParaRPr lang="en-US" sz="1500" b="0" u="none" strike="noStrike">
              <a:solidFill>
                <a:srgbClr val="000000"/>
              </a:solidFill>
              <a:effectLst/>
              <a:uFillTx/>
              <a:cs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PlaceHolder 1"/>
          <p:cNvSpPr>
            <a:spLocks noGrp="1"/>
          </p:cNvSpPr>
          <p:nvPr>
            <p:ph type="title" hasCustomPrompt="1"/>
          </p:nvPr>
        </p:nvSpPr>
        <p:spPr>
          <a:xfrm>
            <a:off x="548640" y="365760"/>
            <a:ext cx="11063880" cy="776880"/>
          </a:xfrm>
          <a:prstGeom prst="rect">
            <a:avLst/>
          </a:prstGeom>
          <a:noFill/>
          <a:ln w="0">
            <a:noFill/>
          </a:ln>
        </p:spPr>
        <p:txBody>
          <a:bodyPr lIns="0" tIns="0" rIns="0" bIns="0" anchor="ctr">
            <a:noAutofit/>
          </a:bodyPr>
          <a:p>
            <a:pPr indent="0" algn="ctr" defTabSz="914400">
              <a:lnSpc>
                <a:spcPct val="100000"/>
              </a:lnSpc>
              <a:buNone/>
              <a:tabLst>
                <a:tab pos="0" algn="l"/>
              </a:tabLst>
            </a:pPr>
            <a:r>
              <a:rPr lang="en-US" sz="3400" b="1" u="none" strike="noStrike">
                <a:solidFill>
                  <a:schemeClr val="dk2"/>
                </a:solidFill>
                <a:effectLst/>
                <a:uFillTx/>
                <a:latin typeface="Cambria"/>
              </a:rPr>
              <a:t>System architecture</a:t>
            </a:r>
            <a:endParaRPr lang="en-US" sz="3400" b="0" u="none" strike="noStrike">
              <a:solidFill>
                <a:schemeClr val="dk1"/>
              </a:solidFill>
              <a:effectLst/>
              <a:uFillTx/>
              <a:latin typeface="Calibri"/>
            </a:endParaRPr>
          </a:p>
        </p:txBody>
      </p:sp>
      <p:sp>
        <p:nvSpPr>
          <p:cNvPr id="49" name="guardrail boundary"/>
          <p:cNvSpPr/>
          <p:nvPr/>
        </p:nvSpPr>
        <p:spPr>
          <a:xfrm>
            <a:off x="2743200" y="1234440"/>
            <a:ext cx="6034680" cy="5028840"/>
          </a:xfrm>
          <a:prstGeom prst="roundRect">
            <a:avLst>
              <a:gd name="adj" fmla="val 2727"/>
            </a:avLst>
          </a:prstGeom>
          <a:solidFill>
            <a:schemeClr val="bg2"/>
          </a:solidFill>
          <a:ln w="25400">
            <a:solidFill>
              <a:srgbClr val="F2B705"/>
            </a:solidFill>
            <a:prstDash val="dash"/>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50" name="layer number 6"/>
          <p:cNvSpPr/>
          <p:nvPr/>
        </p:nvSpPr>
        <p:spPr>
          <a:xfrm>
            <a:off x="2578680" y="1097280"/>
            <a:ext cx="328680" cy="328680"/>
          </a:xfrm>
          <a:prstGeom prst="ellipse">
            <a:avLst/>
          </a:prstGeom>
          <a:solidFill>
            <a:schemeClr val="accent6"/>
          </a:solid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51" name="Text 3"/>
          <p:cNvSpPr/>
          <p:nvPr/>
        </p:nvSpPr>
        <p:spPr>
          <a:xfrm>
            <a:off x="2578680" y="1097280"/>
            <a:ext cx="328680" cy="328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200" b="1" u="none" strike="noStrike">
                <a:solidFill>
                  <a:schemeClr val="lt1"/>
                </a:solidFill>
                <a:effectLst/>
                <a:uFillTx/>
                <a:latin typeface="Calibri"/>
              </a:rPr>
              <a:t>6</a:t>
            </a:r>
            <a:endParaRPr lang="en-US" sz="1200" b="0" u="none" strike="noStrike">
              <a:solidFill>
                <a:srgbClr val="000000"/>
              </a:solidFill>
              <a:effectLst/>
              <a:uFillTx/>
              <a:latin typeface="Arial" panose="020B0604020202020204"/>
            </a:endParaRPr>
          </a:p>
        </p:txBody>
      </p:sp>
      <p:sp>
        <p:nvSpPr>
          <p:cNvPr id="52" name="Text 4"/>
          <p:cNvSpPr/>
          <p:nvPr/>
        </p:nvSpPr>
        <p:spPr>
          <a:xfrm>
            <a:off x="3017520" y="1298520"/>
            <a:ext cx="548604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200" b="1" u="none" strike="noStrike">
                <a:solidFill>
                  <a:schemeClr val="dk2"/>
                </a:solidFill>
                <a:effectLst/>
                <a:uFillTx/>
                <a:latin typeface="Calibri"/>
              </a:rPr>
              <a:t>Guardrails: action and tool allow-lists, scope checks, prompt-injection detection, iteration limit</a:t>
            </a:r>
            <a:endParaRPr lang="en-US" sz="1200" b="0" u="none" strike="noStrike">
              <a:solidFill>
                <a:srgbClr val="000000"/>
              </a:solidFill>
              <a:effectLst/>
              <a:uFillTx/>
              <a:latin typeface="Arial" panose="020B0604020202020204"/>
            </a:endParaRPr>
          </a:p>
        </p:txBody>
      </p:sp>
      <p:sp>
        <p:nvSpPr>
          <p:cNvPr id="53" name="customer card"/>
          <p:cNvSpPr/>
          <p:nvPr/>
        </p:nvSpPr>
        <p:spPr>
          <a:xfrm>
            <a:off x="548640" y="1737360"/>
            <a:ext cx="1828440" cy="1005480"/>
          </a:xfrm>
          <a:prstGeom prst="roundRect">
            <a:avLst>
              <a:gd name="adj" fmla="val 10909"/>
            </a:avLst>
          </a:prstGeom>
          <a:solidFill>
            <a:schemeClr val="bg1"/>
          </a:solidFill>
          <a:ln w="12700">
            <a:solidFill>
              <a:srgbClr val="FFFFFF"/>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54" name="icon circle"/>
          <p:cNvSpPr/>
          <p:nvPr/>
        </p:nvSpPr>
        <p:spPr>
          <a:xfrm>
            <a:off x="685800" y="1920240"/>
            <a:ext cx="456840" cy="456840"/>
          </a:xfrm>
          <a:prstGeom prst="ellipse">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55" name="Image 0" descr="icon"/>
          <p:cNvPicPr/>
          <p:nvPr/>
        </p:nvPicPr>
        <p:blipFill>
          <a:blip r:embed="rId1"/>
          <a:stretch>
            <a:fillRect/>
          </a:stretch>
        </p:blipFill>
        <p:spPr>
          <a:xfrm>
            <a:off x="804600" y="2039040"/>
            <a:ext cx="219240" cy="219240"/>
          </a:xfrm>
          <a:prstGeom prst="rect">
            <a:avLst/>
          </a:prstGeom>
          <a:noFill/>
          <a:ln w="0">
            <a:noFill/>
          </a:ln>
        </p:spPr>
      </p:pic>
      <p:sp>
        <p:nvSpPr>
          <p:cNvPr id="56" name="Text 7"/>
          <p:cNvSpPr/>
          <p:nvPr/>
        </p:nvSpPr>
        <p:spPr>
          <a:xfrm>
            <a:off x="1234440" y="1737360"/>
            <a:ext cx="1096920" cy="10054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Customer</a:t>
            </a:r>
            <a:endParaRPr lang="en-US" sz="1400" b="0" u="none" strike="noStrike">
              <a:solidFill>
                <a:srgbClr val="000000"/>
              </a:solidFill>
              <a:effectLst/>
              <a:uFillTx/>
              <a:latin typeface="Arial" panose="020B0604020202020204"/>
            </a:endParaRPr>
          </a:p>
          <a:p>
            <a:pPr defTabSz="914400">
              <a:lnSpc>
                <a:spcPct val="100000"/>
              </a:lnSpc>
              <a:tabLst>
                <a:tab pos="0" algn="l"/>
              </a:tabLst>
            </a:pPr>
            <a:r>
              <a:rPr lang="en-US" sz="1100" b="0" u="none" strike="noStrike">
                <a:solidFill>
                  <a:schemeClr val="dk1"/>
                </a:solidFill>
                <a:effectLst/>
                <a:uFillTx/>
                <a:latin typeface="Calibri"/>
              </a:rPr>
              <a:t>asks, gets a reply</a:t>
            </a:r>
            <a:endParaRPr lang="en-US" sz="1100" b="0" u="none" strike="noStrike">
              <a:solidFill>
                <a:srgbClr val="000000"/>
              </a:solidFill>
              <a:effectLst/>
              <a:uFillTx/>
              <a:latin typeface="Arial" panose="020B0604020202020204"/>
            </a:endParaRPr>
          </a:p>
        </p:txBody>
      </p:sp>
      <p:sp>
        <p:nvSpPr>
          <p:cNvPr id="57" name="officer card"/>
          <p:cNvSpPr/>
          <p:nvPr/>
        </p:nvSpPr>
        <p:spPr>
          <a:xfrm>
            <a:off x="548640" y="3017520"/>
            <a:ext cx="1828440" cy="1234080"/>
          </a:xfrm>
          <a:prstGeom prst="roundRect">
            <a:avLst>
              <a:gd name="adj" fmla="val 8889"/>
            </a:avLst>
          </a:prstGeom>
          <a:solidFill>
            <a:schemeClr val="bg1"/>
          </a:solidFill>
          <a:ln w="12700">
            <a:solidFill>
              <a:srgbClr val="FFFFFF"/>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58" name="icon circle"/>
          <p:cNvSpPr/>
          <p:nvPr/>
        </p:nvSpPr>
        <p:spPr>
          <a:xfrm>
            <a:off x="685800" y="3246120"/>
            <a:ext cx="456840" cy="456840"/>
          </a:xfrm>
          <a:prstGeom prst="ellipse">
            <a:avLst/>
          </a:prstGeom>
          <a:solidFill>
            <a:schemeClr val="accent4"/>
          </a:solidFill>
          <a:ln w="12700">
            <a:solidFill>
              <a:srgbClr val="2FB380"/>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59" name="Image 1" descr="icon"/>
          <p:cNvPicPr/>
          <p:nvPr/>
        </p:nvPicPr>
        <p:blipFill>
          <a:blip r:embed="rId2"/>
          <a:stretch>
            <a:fillRect/>
          </a:stretch>
        </p:blipFill>
        <p:spPr>
          <a:xfrm>
            <a:off x="804600" y="3364920"/>
            <a:ext cx="219240" cy="219240"/>
          </a:xfrm>
          <a:prstGeom prst="rect">
            <a:avLst/>
          </a:prstGeom>
          <a:noFill/>
          <a:ln w="0">
            <a:noFill/>
          </a:ln>
        </p:spPr>
      </p:pic>
      <p:sp>
        <p:nvSpPr>
          <p:cNvPr id="60" name="Text 10"/>
          <p:cNvSpPr/>
          <p:nvPr/>
        </p:nvSpPr>
        <p:spPr>
          <a:xfrm>
            <a:off x="1234440" y="3017520"/>
            <a:ext cx="1096920" cy="12340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Support officer</a:t>
            </a:r>
            <a:endParaRPr lang="en-US" sz="1400" b="0" u="none" strike="noStrike">
              <a:solidFill>
                <a:srgbClr val="000000"/>
              </a:solidFill>
              <a:effectLst/>
              <a:uFillTx/>
              <a:latin typeface="Arial" panose="020B0604020202020204"/>
            </a:endParaRPr>
          </a:p>
          <a:p>
            <a:pPr defTabSz="914400">
              <a:lnSpc>
                <a:spcPct val="100000"/>
              </a:lnSpc>
              <a:tabLst>
                <a:tab pos="0" algn="l"/>
              </a:tabLst>
            </a:pPr>
            <a:r>
              <a:rPr lang="en-US" sz="1100" b="0" u="none" strike="noStrike">
                <a:solidFill>
                  <a:schemeClr val="dk1"/>
                </a:solidFill>
                <a:effectLst/>
                <a:uFillTx/>
                <a:latin typeface="Calibri"/>
              </a:rPr>
              <a:t>human approval and hand-over</a:t>
            </a:r>
            <a:endParaRPr lang="en-US" sz="1100" b="0" u="none" strike="noStrike">
              <a:solidFill>
                <a:srgbClr val="000000"/>
              </a:solidFill>
              <a:effectLst/>
              <a:uFillTx/>
              <a:latin typeface="Arial" panose="020B0604020202020204"/>
            </a:endParaRPr>
          </a:p>
        </p:txBody>
      </p:sp>
      <p:sp>
        <p:nvSpPr>
          <p:cNvPr id="61" name="agent controller"/>
          <p:cNvSpPr/>
          <p:nvPr/>
        </p:nvSpPr>
        <p:spPr>
          <a:xfrm>
            <a:off x="3017520" y="1874520"/>
            <a:ext cx="5486040" cy="1919880"/>
          </a:xfrm>
          <a:prstGeom prst="roundRect">
            <a:avLst>
              <a:gd name="adj" fmla="val 5714"/>
            </a:avLst>
          </a:prstGeom>
          <a:solidFill>
            <a:schemeClr val="tx2"/>
          </a:solidFill>
          <a:ln w="12700">
            <a:solidFill>
              <a:srgbClr val="0B1F3A"/>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62" name="layer number 4"/>
          <p:cNvSpPr/>
          <p:nvPr/>
        </p:nvSpPr>
        <p:spPr>
          <a:xfrm>
            <a:off x="2853000" y="1783080"/>
            <a:ext cx="328680" cy="328680"/>
          </a:xfrm>
          <a:prstGeom prst="ellipse">
            <a:avLst/>
          </a:prstGeom>
          <a:solidFill>
            <a:schemeClr val="accent3"/>
          </a:solid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63" name="Text 13"/>
          <p:cNvSpPr/>
          <p:nvPr/>
        </p:nvSpPr>
        <p:spPr>
          <a:xfrm>
            <a:off x="2853000" y="1783080"/>
            <a:ext cx="328680" cy="328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200" b="1" u="none" strike="noStrike">
                <a:solidFill>
                  <a:schemeClr val="lt1"/>
                </a:solidFill>
                <a:effectLst/>
                <a:uFillTx/>
                <a:latin typeface="Calibri"/>
              </a:rPr>
              <a:t>4</a:t>
            </a:r>
            <a:endParaRPr lang="en-US" sz="1200" b="0" u="none" strike="noStrike">
              <a:solidFill>
                <a:srgbClr val="000000"/>
              </a:solidFill>
              <a:effectLst/>
              <a:uFillTx/>
              <a:latin typeface="Arial" panose="020B0604020202020204"/>
            </a:endParaRPr>
          </a:p>
        </p:txBody>
      </p:sp>
      <p:sp>
        <p:nvSpPr>
          <p:cNvPr id="64" name="Text 14"/>
          <p:cNvSpPr/>
          <p:nvPr/>
        </p:nvSpPr>
        <p:spPr>
          <a:xfrm>
            <a:off x="3246120" y="1938600"/>
            <a:ext cx="5028840" cy="411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600" b="1" u="none" strike="noStrike">
                <a:solidFill>
                  <a:schemeClr val="accent1"/>
                </a:solidFill>
                <a:effectLst/>
                <a:uFillTx/>
                <a:latin typeface="Calibri"/>
              </a:rPr>
              <a:t>Bounded agent controller</a:t>
            </a:r>
            <a:endParaRPr lang="en-US" sz="1600" b="0" u="none" strike="noStrike">
              <a:solidFill>
                <a:srgbClr val="000000"/>
              </a:solidFill>
              <a:effectLst/>
              <a:uFillTx/>
              <a:latin typeface="Arial" panose="020B0604020202020204"/>
            </a:endParaRPr>
          </a:p>
        </p:txBody>
      </p:sp>
      <p:sp>
        <p:nvSpPr>
          <p:cNvPr id="65" name="loop step 1"/>
          <p:cNvSpPr/>
          <p:nvPr/>
        </p:nvSpPr>
        <p:spPr>
          <a:xfrm>
            <a:off x="3246120" y="2423160"/>
            <a:ext cx="1599840" cy="529920"/>
          </a:xfrm>
          <a:prstGeom prst="roundRect">
            <a:avLst>
              <a:gd name="adj" fmla="val 13793"/>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66" name="Text 16"/>
          <p:cNvSpPr/>
          <p:nvPr/>
        </p:nvSpPr>
        <p:spPr>
          <a:xfrm>
            <a:off x="3246120" y="2423160"/>
            <a:ext cx="1599840" cy="529920"/>
          </a:xfrm>
          <a:prstGeom prst="rect">
            <a:avLst/>
          </a:prstGeom>
          <a:noFill/>
          <a:ln w="0">
            <a:noFill/>
          </a:ln>
        </p:spPr>
        <p:style>
          <a:lnRef idx="0">
            <a:srgbClr val="FFFFFF"/>
          </a:lnRef>
          <a:fillRef idx="0">
            <a:srgbClr val="FFFFFF"/>
          </a:fillRef>
          <a:effectRef idx="0">
            <a:srgbClr val="FFFFFF"/>
          </a:effectRef>
          <a:fontRef idx="minor"/>
        </p:style>
        <p:txBody>
          <a:bodyPr lIns="360" tIns="360" rIns="360" bIns="360" anchor="ctr">
            <a:noAutofit/>
          </a:bodyPr>
          <a:p>
            <a:pPr algn="ctr" defTabSz="914400">
              <a:lnSpc>
                <a:spcPct val="100000"/>
              </a:lnSpc>
              <a:tabLst>
                <a:tab pos="0" algn="l"/>
              </a:tabLst>
            </a:pPr>
            <a:r>
              <a:rPr lang="en-US" sz="1200" b="1" u="none" strike="noStrike">
                <a:solidFill>
                  <a:schemeClr val="lt1"/>
                </a:solidFill>
                <a:effectLst/>
                <a:uFillTx/>
                <a:latin typeface="Calibri"/>
              </a:rPr>
              <a:t>1  Load memory</a:t>
            </a:r>
            <a:endParaRPr lang="en-US" sz="1200" b="0" u="none" strike="noStrike">
              <a:solidFill>
                <a:srgbClr val="000000"/>
              </a:solidFill>
              <a:effectLst/>
              <a:uFillTx/>
              <a:latin typeface="Arial" panose="020B0604020202020204"/>
            </a:endParaRPr>
          </a:p>
        </p:txBody>
      </p:sp>
      <p:sp>
        <p:nvSpPr>
          <p:cNvPr id="67" name="loop step 2"/>
          <p:cNvSpPr/>
          <p:nvPr/>
        </p:nvSpPr>
        <p:spPr>
          <a:xfrm>
            <a:off x="4937760" y="2423160"/>
            <a:ext cx="1599840" cy="529920"/>
          </a:xfrm>
          <a:prstGeom prst="roundRect">
            <a:avLst>
              <a:gd name="adj" fmla="val 13793"/>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68" name="Text 18"/>
          <p:cNvSpPr/>
          <p:nvPr/>
        </p:nvSpPr>
        <p:spPr>
          <a:xfrm>
            <a:off x="4937760" y="2423160"/>
            <a:ext cx="1599840" cy="529920"/>
          </a:xfrm>
          <a:prstGeom prst="rect">
            <a:avLst/>
          </a:prstGeom>
          <a:noFill/>
          <a:ln w="0">
            <a:noFill/>
          </a:ln>
        </p:spPr>
        <p:style>
          <a:lnRef idx="0">
            <a:srgbClr val="FFFFFF"/>
          </a:lnRef>
          <a:fillRef idx="0">
            <a:srgbClr val="FFFFFF"/>
          </a:fillRef>
          <a:effectRef idx="0">
            <a:srgbClr val="FFFFFF"/>
          </a:effectRef>
          <a:fontRef idx="minor"/>
        </p:style>
        <p:txBody>
          <a:bodyPr lIns="360" tIns="360" rIns="360" bIns="360" anchor="ctr">
            <a:noAutofit/>
          </a:bodyPr>
          <a:p>
            <a:pPr algn="ctr" defTabSz="914400">
              <a:lnSpc>
                <a:spcPct val="100000"/>
              </a:lnSpc>
              <a:tabLst>
                <a:tab pos="0" algn="l"/>
              </a:tabLst>
            </a:pPr>
            <a:r>
              <a:rPr lang="en-US" sz="1200" b="1" u="none" strike="noStrike">
                <a:solidFill>
                  <a:schemeClr val="lt1"/>
                </a:solidFill>
                <a:effectLst/>
                <a:uFillTx/>
                <a:latin typeface="Calibri"/>
              </a:rPr>
              <a:t>2  Classify intent</a:t>
            </a:r>
            <a:endParaRPr lang="en-US" sz="1200" b="0" u="none" strike="noStrike">
              <a:solidFill>
                <a:srgbClr val="000000"/>
              </a:solidFill>
              <a:effectLst/>
              <a:uFillTx/>
              <a:latin typeface="Arial" panose="020B0604020202020204"/>
            </a:endParaRPr>
          </a:p>
        </p:txBody>
      </p:sp>
      <p:sp>
        <p:nvSpPr>
          <p:cNvPr id="69" name="loop step 3"/>
          <p:cNvSpPr/>
          <p:nvPr/>
        </p:nvSpPr>
        <p:spPr>
          <a:xfrm>
            <a:off x="6629400" y="2423160"/>
            <a:ext cx="1599840" cy="529920"/>
          </a:xfrm>
          <a:prstGeom prst="roundRect">
            <a:avLst>
              <a:gd name="adj" fmla="val 13793"/>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70" name="Text 20"/>
          <p:cNvSpPr/>
          <p:nvPr/>
        </p:nvSpPr>
        <p:spPr>
          <a:xfrm>
            <a:off x="6629400" y="2423160"/>
            <a:ext cx="1599840" cy="529920"/>
          </a:xfrm>
          <a:prstGeom prst="rect">
            <a:avLst/>
          </a:prstGeom>
          <a:noFill/>
          <a:ln w="0">
            <a:noFill/>
          </a:ln>
        </p:spPr>
        <p:style>
          <a:lnRef idx="0">
            <a:srgbClr val="FFFFFF"/>
          </a:lnRef>
          <a:fillRef idx="0">
            <a:srgbClr val="FFFFFF"/>
          </a:fillRef>
          <a:effectRef idx="0">
            <a:srgbClr val="FFFFFF"/>
          </a:effectRef>
          <a:fontRef idx="minor"/>
        </p:style>
        <p:txBody>
          <a:bodyPr lIns="360" tIns="360" rIns="360" bIns="360" anchor="ctr">
            <a:noAutofit/>
          </a:bodyPr>
          <a:p>
            <a:pPr algn="ctr" defTabSz="914400">
              <a:lnSpc>
                <a:spcPct val="100000"/>
              </a:lnSpc>
              <a:tabLst>
                <a:tab pos="0" algn="l"/>
              </a:tabLst>
            </a:pPr>
            <a:r>
              <a:rPr lang="en-US" sz="1200" b="1" u="none" strike="noStrike">
                <a:solidFill>
                  <a:schemeClr val="lt1"/>
                </a:solidFill>
                <a:effectLst/>
                <a:uFillTx/>
                <a:latin typeface="Calibri"/>
              </a:rPr>
              <a:t>3  Select approved action</a:t>
            </a:r>
            <a:endParaRPr lang="en-US" sz="1200" b="0" u="none" strike="noStrike">
              <a:solidFill>
                <a:srgbClr val="000000"/>
              </a:solidFill>
              <a:effectLst/>
              <a:uFillTx/>
              <a:latin typeface="Arial" panose="020B0604020202020204"/>
            </a:endParaRPr>
          </a:p>
        </p:txBody>
      </p:sp>
      <p:sp>
        <p:nvSpPr>
          <p:cNvPr id="71" name="loop step 4"/>
          <p:cNvSpPr/>
          <p:nvPr/>
        </p:nvSpPr>
        <p:spPr>
          <a:xfrm>
            <a:off x="3246120" y="3063240"/>
            <a:ext cx="1599840" cy="529920"/>
          </a:xfrm>
          <a:prstGeom prst="roundRect">
            <a:avLst>
              <a:gd name="adj" fmla="val 13793"/>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72" name="Text 22"/>
          <p:cNvSpPr/>
          <p:nvPr/>
        </p:nvSpPr>
        <p:spPr>
          <a:xfrm>
            <a:off x="3246120" y="3063240"/>
            <a:ext cx="1599840" cy="529920"/>
          </a:xfrm>
          <a:prstGeom prst="rect">
            <a:avLst/>
          </a:prstGeom>
          <a:noFill/>
          <a:ln w="0">
            <a:noFill/>
          </a:ln>
        </p:spPr>
        <p:style>
          <a:lnRef idx="0">
            <a:srgbClr val="FFFFFF"/>
          </a:lnRef>
          <a:fillRef idx="0">
            <a:srgbClr val="FFFFFF"/>
          </a:fillRef>
          <a:effectRef idx="0">
            <a:srgbClr val="FFFFFF"/>
          </a:effectRef>
          <a:fontRef idx="minor"/>
        </p:style>
        <p:txBody>
          <a:bodyPr lIns="360" tIns="360" rIns="360" bIns="360" anchor="ctr">
            <a:noAutofit/>
          </a:bodyPr>
          <a:p>
            <a:pPr algn="ctr" defTabSz="914400">
              <a:lnSpc>
                <a:spcPct val="100000"/>
              </a:lnSpc>
              <a:tabLst>
                <a:tab pos="0" algn="l"/>
              </a:tabLst>
            </a:pPr>
            <a:r>
              <a:rPr lang="en-US" sz="1200" b="1" u="none" strike="noStrike">
                <a:solidFill>
                  <a:schemeClr val="lt1"/>
                </a:solidFill>
                <a:effectLst/>
                <a:uFillTx/>
                <a:latin typeface="Calibri"/>
              </a:rPr>
              <a:t>4  Execute tool</a:t>
            </a:r>
            <a:endParaRPr lang="en-US" sz="1200" b="0" u="none" strike="noStrike">
              <a:solidFill>
                <a:srgbClr val="000000"/>
              </a:solidFill>
              <a:effectLst/>
              <a:uFillTx/>
              <a:latin typeface="Arial" panose="020B0604020202020204"/>
            </a:endParaRPr>
          </a:p>
        </p:txBody>
      </p:sp>
      <p:sp>
        <p:nvSpPr>
          <p:cNvPr id="73" name="loop step 5"/>
          <p:cNvSpPr/>
          <p:nvPr/>
        </p:nvSpPr>
        <p:spPr>
          <a:xfrm>
            <a:off x="4937760" y="3063240"/>
            <a:ext cx="1599840" cy="529920"/>
          </a:xfrm>
          <a:prstGeom prst="roundRect">
            <a:avLst>
              <a:gd name="adj" fmla="val 13793"/>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74" name="Text 24"/>
          <p:cNvSpPr/>
          <p:nvPr/>
        </p:nvSpPr>
        <p:spPr>
          <a:xfrm>
            <a:off x="4937760" y="3063240"/>
            <a:ext cx="1599840" cy="529920"/>
          </a:xfrm>
          <a:prstGeom prst="rect">
            <a:avLst/>
          </a:prstGeom>
          <a:noFill/>
          <a:ln w="0">
            <a:noFill/>
          </a:ln>
        </p:spPr>
        <p:style>
          <a:lnRef idx="0">
            <a:srgbClr val="FFFFFF"/>
          </a:lnRef>
          <a:fillRef idx="0">
            <a:srgbClr val="FFFFFF"/>
          </a:fillRef>
          <a:effectRef idx="0">
            <a:srgbClr val="FFFFFF"/>
          </a:effectRef>
          <a:fontRef idx="minor"/>
        </p:style>
        <p:txBody>
          <a:bodyPr lIns="360" tIns="360" rIns="360" bIns="360" anchor="ctr">
            <a:noAutofit/>
          </a:bodyPr>
          <a:p>
            <a:pPr algn="ctr" defTabSz="914400">
              <a:lnSpc>
                <a:spcPct val="100000"/>
              </a:lnSpc>
              <a:tabLst>
                <a:tab pos="0" algn="l"/>
              </a:tabLst>
            </a:pPr>
            <a:r>
              <a:rPr lang="en-US" sz="1200" b="1" u="none" strike="noStrike">
                <a:solidFill>
                  <a:schemeClr val="lt1"/>
                </a:solidFill>
                <a:effectLst/>
                <a:uFillTx/>
                <a:latin typeface="Calibri"/>
              </a:rPr>
              <a:t>5  Observe result</a:t>
            </a:r>
            <a:endParaRPr lang="en-US" sz="1200" b="0" u="none" strike="noStrike">
              <a:solidFill>
                <a:srgbClr val="000000"/>
              </a:solidFill>
              <a:effectLst/>
              <a:uFillTx/>
              <a:latin typeface="Arial" panose="020B0604020202020204"/>
            </a:endParaRPr>
          </a:p>
        </p:txBody>
      </p:sp>
      <p:sp>
        <p:nvSpPr>
          <p:cNvPr id="75" name="loop step 6"/>
          <p:cNvSpPr/>
          <p:nvPr/>
        </p:nvSpPr>
        <p:spPr>
          <a:xfrm>
            <a:off x="6629400" y="3063240"/>
            <a:ext cx="1599840" cy="529920"/>
          </a:xfrm>
          <a:prstGeom prst="roundRect">
            <a:avLst>
              <a:gd name="adj" fmla="val 13793"/>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76" name="Text 26"/>
          <p:cNvSpPr/>
          <p:nvPr/>
        </p:nvSpPr>
        <p:spPr>
          <a:xfrm>
            <a:off x="6629400" y="3063240"/>
            <a:ext cx="1599840" cy="529920"/>
          </a:xfrm>
          <a:prstGeom prst="rect">
            <a:avLst/>
          </a:prstGeom>
          <a:noFill/>
          <a:ln w="0">
            <a:noFill/>
          </a:ln>
        </p:spPr>
        <p:style>
          <a:lnRef idx="0">
            <a:srgbClr val="FFFFFF"/>
          </a:lnRef>
          <a:fillRef idx="0">
            <a:srgbClr val="FFFFFF"/>
          </a:fillRef>
          <a:effectRef idx="0">
            <a:srgbClr val="FFFFFF"/>
          </a:effectRef>
          <a:fontRef idx="minor"/>
        </p:style>
        <p:txBody>
          <a:bodyPr lIns="360" tIns="360" rIns="360" bIns="360" anchor="ctr">
            <a:noAutofit/>
          </a:bodyPr>
          <a:p>
            <a:pPr algn="ctr" defTabSz="914400">
              <a:lnSpc>
                <a:spcPct val="100000"/>
              </a:lnSpc>
              <a:tabLst>
                <a:tab pos="0" algn="l"/>
              </a:tabLst>
            </a:pPr>
            <a:r>
              <a:rPr lang="en-US" sz="1200" b="1" u="none" strike="noStrike">
                <a:solidFill>
                  <a:schemeClr val="lt1"/>
                </a:solidFill>
                <a:effectLst/>
                <a:uFillTx/>
                <a:latin typeface="Calibri"/>
              </a:rPr>
              <a:t>6  Stop and respond</a:t>
            </a:r>
            <a:endParaRPr lang="en-US" sz="1200" b="0" u="none" strike="noStrike">
              <a:solidFill>
                <a:srgbClr val="000000"/>
              </a:solidFill>
              <a:effectLst/>
              <a:uFillTx/>
              <a:latin typeface="Arial" panose="020B0604020202020204"/>
            </a:endParaRPr>
          </a:p>
        </p:txBody>
      </p:sp>
      <p:sp>
        <p:nvSpPr>
          <p:cNvPr id="77" name="Shape 27"/>
          <p:cNvSpPr/>
          <p:nvPr/>
        </p:nvSpPr>
        <p:spPr>
          <a:xfrm>
            <a:off x="3886200" y="3794760"/>
            <a:ext cx="360" cy="320040"/>
          </a:xfrm>
          <a:prstGeom prst="line">
            <a:avLst/>
          </a:prstGeom>
          <a:ln w="28575">
            <a:solidFill>
              <a:srgbClr val="0B1F3A"/>
            </a:solidFill>
            <a:round/>
            <a:headEnd type="triangle" w="med" len="med"/>
            <a:tailEnd type="triangle" w="med" len="med"/>
          </a:ln>
        </p:spPr>
        <p:style>
          <a:lnRef idx="0">
            <a:srgbClr val="FFFFFF"/>
          </a:lnRef>
          <a:fillRef idx="0">
            <a:srgbClr val="FFFFFF"/>
          </a:fillRef>
          <a:effectRef idx="0">
            <a:srgbClr val="FFFFFF"/>
          </a:effectRef>
          <a:fontRef idx="minor"/>
        </p:style>
        <p:txBody>
          <a:bodyPr lIns="90000" tIns="45000" rIns="90000" bIns="45000" anchor="t" anchorCtr="1">
            <a:noAutofit/>
          </a:bodyPr>
          <a:p>
            <a:endParaRPr lang="en-US" sz="1800" b="0" u="none" strike="noStrike">
              <a:solidFill>
                <a:srgbClr val="000000"/>
              </a:solidFill>
              <a:effectLst/>
              <a:uFillTx/>
              <a:latin typeface="Arial" panose="020B0604020202020204"/>
            </a:endParaRPr>
          </a:p>
        </p:txBody>
      </p:sp>
      <p:sp>
        <p:nvSpPr>
          <p:cNvPr id="78" name="component Model layer"/>
          <p:cNvSpPr/>
          <p:nvPr/>
        </p:nvSpPr>
        <p:spPr>
          <a:xfrm>
            <a:off x="3017520" y="4114800"/>
            <a:ext cx="1737000" cy="1965600"/>
          </a:xfrm>
          <a:prstGeom prst="roundRect">
            <a:avLst>
              <a:gd name="adj" fmla="val 6316"/>
            </a:avLst>
          </a:prstGeom>
          <a:solidFill>
            <a:schemeClr val="bg1"/>
          </a:solidFill>
          <a:ln w="12700">
            <a:solidFill>
              <a:srgbClr val="FFFFFF"/>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79" name="layer number 1"/>
          <p:cNvSpPr/>
          <p:nvPr/>
        </p:nvSpPr>
        <p:spPr>
          <a:xfrm>
            <a:off x="2907720" y="4005000"/>
            <a:ext cx="328680" cy="328680"/>
          </a:xfrm>
          <a:prstGeom prst="ellipse">
            <a:avLst/>
          </a:prstGeom>
          <a:solidFill>
            <a:schemeClr val="accent5"/>
          </a:solid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80" name="Text 30"/>
          <p:cNvSpPr/>
          <p:nvPr/>
        </p:nvSpPr>
        <p:spPr>
          <a:xfrm>
            <a:off x="2907720" y="4005000"/>
            <a:ext cx="328680" cy="328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200" b="1" u="none" strike="noStrike">
                <a:solidFill>
                  <a:schemeClr val="lt1"/>
                </a:solidFill>
                <a:effectLst/>
                <a:uFillTx/>
                <a:latin typeface="Calibri"/>
              </a:rPr>
              <a:t>1</a:t>
            </a:r>
            <a:endParaRPr lang="en-US" sz="1200" b="0" u="none" strike="noStrike">
              <a:solidFill>
                <a:srgbClr val="000000"/>
              </a:solidFill>
              <a:effectLst/>
              <a:uFillTx/>
              <a:latin typeface="Arial" panose="020B0604020202020204"/>
            </a:endParaRPr>
          </a:p>
        </p:txBody>
      </p:sp>
      <p:sp>
        <p:nvSpPr>
          <p:cNvPr id="81" name="icon circle"/>
          <p:cNvSpPr/>
          <p:nvPr/>
        </p:nvSpPr>
        <p:spPr>
          <a:xfrm>
            <a:off x="3657600" y="4224600"/>
            <a:ext cx="456840" cy="456840"/>
          </a:xfrm>
          <a:prstGeom prst="ellipse">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82" name="Image 2" descr="icon"/>
          <p:cNvPicPr/>
          <p:nvPr/>
        </p:nvPicPr>
        <p:blipFill>
          <a:blip r:embed="rId3"/>
          <a:stretch>
            <a:fillRect/>
          </a:stretch>
        </p:blipFill>
        <p:spPr>
          <a:xfrm>
            <a:off x="3776400" y="4343400"/>
            <a:ext cx="219240" cy="219240"/>
          </a:xfrm>
          <a:prstGeom prst="rect">
            <a:avLst/>
          </a:prstGeom>
          <a:noFill/>
          <a:ln w="0">
            <a:noFill/>
          </a:ln>
        </p:spPr>
      </p:pic>
      <p:sp>
        <p:nvSpPr>
          <p:cNvPr id="83" name="Text 32"/>
          <p:cNvSpPr/>
          <p:nvPr/>
        </p:nvSpPr>
        <p:spPr>
          <a:xfrm>
            <a:off x="3108960" y="4736520"/>
            <a:ext cx="1554120" cy="319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300" b="1" u="none" strike="noStrike">
                <a:solidFill>
                  <a:schemeClr val="dk2"/>
                </a:solidFill>
                <a:effectLst/>
                <a:uFillTx/>
                <a:latin typeface="Calibri"/>
              </a:rPr>
              <a:t>Model layer</a:t>
            </a:r>
            <a:endParaRPr lang="en-US" sz="1300" b="0" u="none" strike="noStrike">
              <a:solidFill>
                <a:srgbClr val="000000"/>
              </a:solidFill>
              <a:effectLst/>
              <a:uFillTx/>
              <a:latin typeface="Arial" panose="020B0604020202020204"/>
            </a:endParaRPr>
          </a:p>
        </p:txBody>
      </p:sp>
      <p:sp>
        <p:nvSpPr>
          <p:cNvPr id="84" name="Text 33"/>
          <p:cNvSpPr/>
          <p:nvPr/>
        </p:nvSpPr>
        <p:spPr>
          <a:xfrm>
            <a:off x="3108960" y="5074920"/>
            <a:ext cx="1554120" cy="9597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algn="ctr" defTabSz="914400">
              <a:lnSpc>
                <a:spcPct val="100000"/>
              </a:lnSpc>
              <a:tabLst>
                <a:tab pos="0" algn="l"/>
              </a:tabLst>
            </a:pPr>
            <a:r>
              <a:rPr lang="en-US" sz="1100" b="0" u="none" strike="noStrike">
                <a:solidFill>
                  <a:schemeClr val="dk1"/>
                </a:solidFill>
                <a:effectLst/>
                <a:uFillTx/>
                <a:latin typeface="Calibri"/>
              </a:rPr>
              <a:t>Scripted planner in the demo; live Gemini variant in the README</a:t>
            </a:r>
            <a:endParaRPr lang="en-US" sz="1100" b="0" u="none" strike="noStrike">
              <a:solidFill>
                <a:srgbClr val="000000"/>
              </a:solidFill>
              <a:effectLst/>
              <a:uFillTx/>
              <a:latin typeface="Arial" panose="020B0604020202020204"/>
            </a:endParaRPr>
          </a:p>
        </p:txBody>
      </p:sp>
      <p:sp>
        <p:nvSpPr>
          <p:cNvPr id="85" name="Shape 34"/>
          <p:cNvSpPr/>
          <p:nvPr/>
        </p:nvSpPr>
        <p:spPr>
          <a:xfrm>
            <a:off x="5760720" y="3794760"/>
            <a:ext cx="360" cy="320040"/>
          </a:xfrm>
          <a:prstGeom prst="line">
            <a:avLst/>
          </a:prstGeom>
          <a:ln w="28575">
            <a:solidFill>
              <a:srgbClr val="0B1F3A"/>
            </a:solidFill>
            <a:round/>
            <a:headEnd type="triangle" w="med" len="med"/>
            <a:tailEnd type="triangle" w="med" len="med"/>
          </a:ln>
        </p:spPr>
        <p:style>
          <a:lnRef idx="0">
            <a:srgbClr val="FFFFFF"/>
          </a:lnRef>
          <a:fillRef idx="0">
            <a:srgbClr val="FFFFFF"/>
          </a:fillRef>
          <a:effectRef idx="0">
            <a:srgbClr val="FFFFFF"/>
          </a:effectRef>
          <a:fontRef idx="minor"/>
        </p:style>
        <p:txBody>
          <a:bodyPr lIns="90000" tIns="45000" rIns="90000" bIns="45000" anchor="t" anchorCtr="1">
            <a:noAutofit/>
          </a:bodyPr>
          <a:p>
            <a:endParaRPr lang="en-US" sz="1800" b="0" u="none" strike="noStrike">
              <a:solidFill>
                <a:srgbClr val="000000"/>
              </a:solidFill>
              <a:effectLst/>
              <a:uFillTx/>
              <a:latin typeface="Arial" panose="020B0604020202020204"/>
            </a:endParaRPr>
          </a:p>
        </p:txBody>
      </p:sp>
      <p:sp>
        <p:nvSpPr>
          <p:cNvPr id="86" name="component RAG / context"/>
          <p:cNvSpPr/>
          <p:nvPr/>
        </p:nvSpPr>
        <p:spPr>
          <a:xfrm>
            <a:off x="4892040" y="4114800"/>
            <a:ext cx="1737000" cy="1965600"/>
          </a:xfrm>
          <a:prstGeom prst="roundRect">
            <a:avLst>
              <a:gd name="adj" fmla="val 6316"/>
            </a:avLst>
          </a:prstGeom>
          <a:solidFill>
            <a:schemeClr val="bg1"/>
          </a:solidFill>
          <a:ln w="12700">
            <a:solidFill>
              <a:srgbClr val="FFFFFF"/>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87" name="layer number 2"/>
          <p:cNvSpPr/>
          <p:nvPr/>
        </p:nvSpPr>
        <p:spPr>
          <a:xfrm>
            <a:off x="4782240" y="4005000"/>
            <a:ext cx="328680" cy="328680"/>
          </a:xfrm>
          <a:prstGeom prst="ellipse">
            <a:avLst/>
          </a:prstGeom>
          <a:solidFill>
            <a:schemeClr val="accent2"/>
          </a:solid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88" name="Text 37"/>
          <p:cNvSpPr/>
          <p:nvPr/>
        </p:nvSpPr>
        <p:spPr>
          <a:xfrm>
            <a:off x="4782240" y="4005000"/>
            <a:ext cx="328680" cy="328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200" b="1" u="none" strike="noStrike">
                <a:solidFill>
                  <a:schemeClr val="lt1"/>
                </a:solidFill>
                <a:effectLst/>
                <a:uFillTx/>
                <a:latin typeface="Calibri"/>
              </a:rPr>
              <a:t>2</a:t>
            </a:r>
            <a:endParaRPr lang="en-US" sz="1200" b="0" u="none" strike="noStrike">
              <a:solidFill>
                <a:srgbClr val="000000"/>
              </a:solidFill>
              <a:effectLst/>
              <a:uFillTx/>
              <a:latin typeface="Arial" panose="020B0604020202020204"/>
            </a:endParaRPr>
          </a:p>
        </p:txBody>
      </p:sp>
      <p:sp>
        <p:nvSpPr>
          <p:cNvPr id="89" name="icon circle"/>
          <p:cNvSpPr/>
          <p:nvPr/>
        </p:nvSpPr>
        <p:spPr>
          <a:xfrm>
            <a:off x="5532120" y="4224600"/>
            <a:ext cx="456840" cy="456840"/>
          </a:xfrm>
          <a:prstGeom prst="ellipse">
            <a:avLst/>
          </a:prstGeom>
          <a:solidFill>
            <a:schemeClr val="accent2"/>
          </a:solidFill>
          <a:ln w="12700">
            <a:solidFill>
              <a:srgbClr val="1FA3A3"/>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90" name="Image 3" descr="icon"/>
          <p:cNvPicPr/>
          <p:nvPr/>
        </p:nvPicPr>
        <p:blipFill>
          <a:blip r:embed="rId4"/>
          <a:stretch>
            <a:fillRect/>
          </a:stretch>
        </p:blipFill>
        <p:spPr>
          <a:xfrm>
            <a:off x="5650920" y="4343400"/>
            <a:ext cx="219240" cy="219240"/>
          </a:xfrm>
          <a:prstGeom prst="rect">
            <a:avLst/>
          </a:prstGeom>
          <a:noFill/>
          <a:ln w="0">
            <a:noFill/>
          </a:ln>
        </p:spPr>
      </p:pic>
      <p:sp>
        <p:nvSpPr>
          <p:cNvPr id="91" name="Text 39"/>
          <p:cNvSpPr/>
          <p:nvPr/>
        </p:nvSpPr>
        <p:spPr>
          <a:xfrm>
            <a:off x="4983480" y="4736520"/>
            <a:ext cx="1554120" cy="319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300" b="1" u="none" strike="noStrike">
                <a:solidFill>
                  <a:schemeClr val="dk2"/>
                </a:solidFill>
                <a:effectLst/>
                <a:uFillTx/>
                <a:latin typeface="Calibri"/>
              </a:rPr>
              <a:t>RAG / context</a:t>
            </a:r>
            <a:endParaRPr lang="en-US" sz="1300" b="0" u="none" strike="noStrike">
              <a:solidFill>
                <a:srgbClr val="000000"/>
              </a:solidFill>
              <a:effectLst/>
              <a:uFillTx/>
              <a:latin typeface="Arial" panose="020B0604020202020204"/>
            </a:endParaRPr>
          </a:p>
        </p:txBody>
      </p:sp>
      <p:sp>
        <p:nvSpPr>
          <p:cNvPr id="92" name="Text 40"/>
          <p:cNvSpPr/>
          <p:nvPr/>
        </p:nvSpPr>
        <p:spPr>
          <a:xfrm>
            <a:off x="4983480" y="5074920"/>
            <a:ext cx="1554120" cy="9597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algn="ctr" defTabSz="914400">
              <a:lnSpc>
                <a:spcPct val="100000"/>
              </a:lnSpc>
              <a:tabLst>
                <a:tab pos="0" algn="l"/>
              </a:tabLst>
            </a:pPr>
            <a:r>
              <a:rPr lang="en-US" sz="1100" b="0" u="none" strike="noStrike">
                <a:solidFill>
                  <a:schemeClr val="dk1"/>
                </a:solidFill>
                <a:effectLst/>
                <a:uFillTx/>
                <a:latin typeface="Calibri"/>
              </a:rPr>
              <a:t>Controlled knowledge corpus; grounded answers</a:t>
            </a:r>
            <a:endParaRPr lang="en-US" sz="1100" b="0" u="none" strike="noStrike">
              <a:solidFill>
                <a:srgbClr val="000000"/>
              </a:solidFill>
              <a:effectLst/>
              <a:uFillTx/>
              <a:latin typeface="Arial" panose="020B0604020202020204"/>
            </a:endParaRPr>
          </a:p>
        </p:txBody>
      </p:sp>
      <p:sp>
        <p:nvSpPr>
          <p:cNvPr id="93" name="Shape 41"/>
          <p:cNvSpPr/>
          <p:nvPr/>
        </p:nvSpPr>
        <p:spPr>
          <a:xfrm>
            <a:off x="7635240" y="3794760"/>
            <a:ext cx="360" cy="320040"/>
          </a:xfrm>
          <a:prstGeom prst="line">
            <a:avLst/>
          </a:prstGeom>
          <a:ln w="28575">
            <a:solidFill>
              <a:srgbClr val="0B1F3A"/>
            </a:solidFill>
            <a:round/>
            <a:headEnd type="triangle" w="med" len="med"/>
            <a:tailEnd type="triangle" w="med" len="med"/>
          </a:ln>
        </p:spPr>
        <p:style>
          <a:lnRef idx="0">
            <a:srgbClr val="FFFFFF"/>
          </a:lnRef>
          <a:fillRef idx="0">
            <a:srgbClr val="FFFFFF"/>
          </a:fillRef>
          <a:effectRef idx="0">
            <a:srgbClr val="FFFFFF"/>
          </a:effectRef>
          <a:fontRef idx="minor"/>
        </p:style>
        <p:txBody>
          <a:bodyPr lIns="90000" tIns="45000" rIns="90000" bIns="45000" anchor="t" anchorCtr="1">
            <a:noAutofit/>
          </a:bodyPr>
          <a:p>
            <a:endParaRPr lang="en-US" sz="1800" b="0" u="none" strike="noStrike">
              <a:solidFill>
                <a:srgbClr val="000000"/>
              </a:solidFill>
              <a:effectLst/>
              <a:uFillTx/>
              <a:latin typeface="Arial" panose="020B0604020202020204"/>
            </a:endParaRPr>
          </a:p>
        </p:txBody>
      </p:sp>
      <p:sp>
        <p:nvSpPr>
          <p:cNvPr id="94" name="component Approved tools"/>
          <p:cNvSpPr/>
          <p:nvPr/>
        </p:nvSpPr>
        <p:spPr>
          <a:xfrm>
            <a:off x="6766560" y="4114800"/>
            <a:ext cx="1737000" cy="1965600"/>
          </a:xfrm>
          <a:prstGeom prst="roundRect">
            <a:avLst>
              <a:gd name="adj" fmla="val 6316"/>
            </a:avLst>
          </a:prstGeom>
          <a:solidFill>
            <a:schemeClr val="bg1"/>
          </a:solidFill>
          <a:ln w="12700">
            <a:solidFill>
              <a:srgbClr val="FFFFFF"/>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95" name="layer number 3"/>
          <p:cNvSpPr/>
          <p:nvPr/>
        </p:nvSpPr>
        <p:spPr>
          <a:xfrm>
            <a:off x="6656760" y="4005000"/>
            <a:ext cx="328680" cy="328680"/>
          </a:xfrm>
          <a:prstGeom prst="ellipse">
            <a:avLst/>
          </a:prstGeom>
          <a:solidFill>
            <a:schemeClr val="accent1"/>
          </a:solid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96" name="Text 44"/>
          <p:cNvSpPr/>
          <p:nvPr/>
        </p:nvSpPr>
        <p:spPr>
          <a:xfrm>
            <a:off x="6656760" y="4005000"/>
            <a:ext cx="328680" cy="328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200" b="1" u="none" strike="noStrike">
                <a:solidFill>
                  <a:schemeClr val="lt1"/>
                </a:solidFill>
                <a:effectLst/>
                <a:uFillTx/>
                <a:latin typeface="Calibri"/>
              </a:rPr>
              <a:t>3</a:t>
            </a:r>
            <a:endParaRPr lang="en-US" sz="1200" b="0" u="none" strike="noStrike">
              <a:solidFill>
                <a:srgbClr val="000000"/>
              </a:solidFill>
              <a:effectLst/>
              <a:uFillTx/>
              <a:latin typeface="Arial" panose="020B0604020202020204"/>
            </a:endParaRPr>
          </a:p>
        </p:txBody>
      </p:sp>
      <p:sp>
        <p:nvSpPr>
          <p:cNvPr id="97" name="icon circle"/>
          <p:cNvSpPr/>
          <p:nvPr/>
        </p:nvSpPr>
        <p:spPr>
          <a:xfrm>
            <a:off x="7406640" y="4224600"/>
            <a:ext cx="456840" cy="456840"/>
          </a:xfrm>
          <a:prstGeom prst="ellipse">
            <a:avLst/>
          </a:prstGeom>
          <a:solidFill>
            <a:schemeClr val="accent1"/>
          </a:solidFill>
          <a:ln w="12700">
            <a:solidFill>
              <a:srgbClr val="F2B705"/>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pic>
        <p:nvPicPr>
          <p:cNvPr id="98" name="Image 4" descr="icon"/>
          <p:cNvPicPr/>
          <p:nvPr/>
        </p:nvPicPr>
        <p:blipFill>
          <a:blip r:embed="rId5"/>
          <a:stretch>
            <a:fillRect/>
          </a:stretch>
        </p:blipFill>
        <p:spPr>
          <a:xfrm>
            <a:off x="7525440" y="4343400"/>
            <a:ext cx="219240" cy="219240"/>
          </a:xfrm>
          <a:prstGeom prst="rect">
            <a:avLst/>
          </a:prstGeom>
          <a:noFill/>
          <a:ln w="0">
            <a:noFill/>
          </a:ln>
        </p:spPr>
      </p:pic>
      <p:sp>
        <p:nvSpPr>
          <p:cNvPr id="99" name="Text 46"/>
          <p:cNvSpPr/>
          <p:nvPr/>
        </p:nvSpPr>
        <p:spPr>
          <a:xfrm>
            <a:off x="6858000" y="4736520"/>
            <a:ext cx="1554120" cy="319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300" b="1" u="none" strike="noStrike">
                <a:solidFill>
                  <a:schemeClr val="dk2"/>
                </a:solidFill>
                <a:effectLst/>
                <a:uFillTx/>
                <a:latin typeface="Calibri"/>
              </a:rPr>
              <a:t>Approved tools</a:t>
            </a:r>
            <a:endParaRPr lang="en-US" sz="1300" b="0" u="none" strike="noStrike">
              <a:solidFill>
                <a:srgbClr val="000000"/>
              </a:solidFill>
              <a:effectLst/>
              <a:uFillTx/>
              <a:latin typeface="Arial" panose="020B0604020202020204"/>
            </a:endParaRPr>
          </a:p>
        </p:txBody>
      </p:sp>
      <p:sp>
        <p:nvSpPr>
          <p:cNvPr id="100" name="Text 47"/>
          <p:cNvSpPr/>
          <p:nvPr/>
        </p:nvSpPr>
        <p:spPr>
          <a:xfrm>
            <a:off x="6858000" y="5074920"/>
            <a:ext cx="1554120" cy="9597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algn="ctr" defTabSz="914400">
              <a:lnSpc>
                <a:spcPct val="100000"/>
              </a:lnSpc>
              <a:tabLst>
                <a:tab pos="0" algn="l"/>
              </a:tabLst>
            </a:pPr>
            <a:r>
              <a:rPr lang="en-US" sz="1100" b="0" u="none" strike="noStrike">
                <a:solidFill>
                  <a:schemeClr val="dk1"/>
                </a:solidFill>
                <a:effectLst/>
                <a:uFillTx/>
                <a:latin typeface="Calibri"/>
              </a:rPr>
              <a:t>create_support_ticket, get_ticket_status, knowledge retrieval</a:t>
            </a:r>
            <a:endParaRPr lang="en-US" sz="1100" b="0" u="none" strike="noStrike">
              <a:solidFill>
                <a:srgbClr val="000000"/>
              </a:solidFill>
              <a:effectLst/>
              <a:uFillTx/>
              <a:latin typeface="Arial" panose="020B0604020202020204"/>
            </a:endParaRPr>
          </a:p>
        </p:txBody>
      </p:sp>
      <p:sp>
        <p:nvSpPr>
          <p:cNvPr id="101" name="memory card"/>
          <p:cNvSpPr/>
          <p:nvPr/>
        </p:nvSpPr>
        <p:spPr>
          <a:xfrm>
            <a:off x="9098280" y="1737360"/>
            <a:ext cx="2541600" cy="1188360"/>
          </a:xfrm>
          <a:prstGeom prst="roundRect">
            <a:avLst>
              <a:gd name="adj" fmla="val 9231"/>
            </a:avLst>
          </a:prstGeom>
          <a:solidFill>
            <a:schemeClr val="bg1"/>
          </a:solidFill>
          <a:ln w="12700">
            <a:solidFill>
              <a:srgbClr val="FFFFFF"/>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102" name="layer number 5"/>
          <p:cNvSpPr/>
          <p:nvPr/>
        </p:nvSpPr>
        <p:spPr>
          <a:xfrm>
            <a:off x="8988480" y="1627560"/>
            <a:ext cx="328680" cy="328680"/>
          </a:xfrm>
          <a:prstGeom prst="ellipse">
            <a:avLst/>
          </a:prstGeom>
          <a:solidFill>
            <a:schemeClr val="accent4"/>
          </a:solid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03" name="Text 50"/>
          <p:cNvSpPr/>
          <p:nvPr/>
        </p:nvSpPr>
        <p:spPr>
          <a:xfrm>
            <a:off x="8988480" y="1627560"/>
            <a:ext cx="328680" cy="328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200" b="1" u="none" strike="noStrike">
                <a:solidFill>
                  <a:schemeClr val="lt1"/>
                </a:solidFill>
                <a:effectLst/>
                <a:uFillTx/>
                <a:latin typeface="Calibri"/>
              </a:rPr>
              <a:t>5</a:t>
            </a:r>
            <a:endParaRPr lang="en-US" sz="1200" b="0" u="none" strike="noStrike">
              <a:solidFill>
                <a:srgbClr val="000000"/>
              </a:solidFill>
              <a:effectLst/>
              <a:uFillTx/>
              <a:latin typeface="Arial" panose="020B0604020202020204"/>
            </a:endParaRPr>
          </a:p>
        </p:txBody>
      </p:sp>
      <p:sp>
        <p:nvSpPr>
          <p:cNvPr id="104" name="Text 51"/>
          <p:cNvSpPr/>
          <p:nvPr/>
        </p:nvSpPr>
        <p:spPr>
          <a:xfrm>
            <a:off x="9235440" y="1737360"/>
            <a:ext cx="2285640" cy="11883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Memory and state</a:t>
            </a:r>
            <a:endParaRPr lang="en-US" sz="1400" b="0" u="none" strike="noStrike">
              <a:solidFill>
                <a:srgbClr val="000000"/>
              </a:solidFill>
              <a:effectLst/>
              <a:uFillTx/>
              <a:latin typeface="Arial" panose="020B0604020202020204"/>
            </a:endParaRPr>
          </a:p>
          <a:p>
            <a:pPr defTabSz="914400">
              <a:lnSpc>
                <a:spcPct val="100000"/>
              </a:lnSpc>
              <a:tabLst>
                <a:tab pos="0" algn="l"/>
              </a:tabLst>
            </a:pPr>
            <a:r>
              <a:rPr lang="en-US" sz="1100" b="0" u="none" strike="noStrike">
                <a:solidFill>
                  <a:schemeClr val="dk1"/>
                </a:solidFill>
                <a:effectLst/>
                <a:uFillTx/>
                <a:latin typeface="Calibri"/>
              </a:rPr>
              <a:t>customer context and prior cases; not authorization</a:t>
            </a:r>
            <a:endParaRPr lang="en-US" sz="1100" b="0" u="none" strike="noStrike">
              <a:solidFill>
                <a:srgbClr val="000000"/>
              </a:solidFill>
              <a:effectLst/>
              <a:uFillTx/>
              <a:latin typeface="Arial" panose="020B0604020202020204"/>
            </a:endParaRPr>
          </a:p>
        </p:txBody>
      </p:sp>
      <p:sp>
        <p:nvSpPr>
          <p:cNvPr id="105" name="trace card"/>
          <p:cNvSpPr/>
          <p:nvPr/>
        </p:nvSpPr>
        <p:spPr>
          <a:xfrm>
            <a:off x="9098280" y="3108960"/>
            <a:ext cx="2541600" cy="1371240"/>
          </a:xfrm>
          <a:prstGeom prst="roundRect">
            <a:avLst>
              <a:gd name="adj" fmla="val 8000"/>
            </a:avLst>
          </a:prstGeom>
          <a:solidFill>
            <a:schemeClr val="bg1"/>
          </a:solidFill>
          <a:ln w="12700">
            <a:solidFill>
              <a:srgbClr val="FFFFFF"/>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106" name="layer number 6"/>
          <p:cNvSpPr/>
          <p:nvPr/>
        </p:nvSpPr>
        <p:spPr>
          <a:xfrm>
            <a:off x="8988480" y="2999160"/>
            <a:ext cx="328680" cy="328680"/>
          </a:xfrm>
          <a:prstGeom prst="ellipse">
            <a:avLst/>
          </a:prstGeom>
          <a:solidFill>
            <a:schemeClr val="accent6"/>
          </a:solidFill>
          <a:ln w="1905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07" name="Text 54"/>
          <p:cNvSpPr/>
          <p:nvPr/>
        </p:nvSpPr>
        <p:spPr>
          <a:xfrm>
            <a:off x="8988480" y="2999160"/>
            <a:ext cx="328680" cy="328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200" b="1" u="none" strike="noStrike">
                <a:solidFill>
                  <a:schemeClr val="lt1"/>
                </a:solidFill>
                <a:effectLst/>
                <a:uFillTx/>
                <a:latin typeface="Calibri"/>
              </a:rPr>
              <a:t>6</a:t>
            </a:r>
            <a:endParaRPr lang="en-US" sz="1200" b="0" u="none" strike="noStrike">
              <a:solidFill>
                <a:srgbClr val="000000"/>
              </a:solidFill>
              <a:effectLst/>
              <a:uFillTx/>
              <a:latin typeface="Arial" panose="020B0604020202020204"/>
            </a:endParaRPr>
          </a:p>
        </p:txBody>
      </p:sp>
      <p:sp>
        <p:nvSpPr>
          <p:cNvPr id="108" name="Text 55"/>
          <p:cNvSpPr/>
          <p:nvPr/>
        </p:nvSpPr>
        <p:spPr>
          <a:xfrm>
            <a:off x="9235440" y="3108960"/>
            <a:ext cx="2285640" cy="1371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Trace log and evaluation</a:t>
            </a:r>
            <a:endParaRPr lang="en-US" sz="1400" b="0" u="none" strike="noStrike">
              <a:solidFill>
                <a:srgbClr val="000000"/>
              </a:solidFill>
              <a:effectLst/>
              <a:uFillTx/>
              <a:latin typeface="Arial" panose="020B0604020202020204"/>
            </a:endParaRPr>
          </a:p>
          <a:p>
            <a:pPr defTabSz="914400">
              <a:lnSpc>
                <a:spcPct val="100000"/>
              </a:lnSpc>
              <a:tabLst>
                <a:tab pos="0" algn="l"/>
              </a:tabLst>
            </a:pPr>
            <a:r>
              <a:rPr lang="en-US" sz="1100" b="0" u="none" strike="noStrike">
                <a:solidFill>
                  <a:schemeClr val="dk1"/>
                </a:solidFill>
                <a:effectLst/>
                <a:uFillTx/>
                <a:latin typeface="Calibri"/>
              </a:rPr>
              <a:t>7 logged events per run; Week 7 harness with 30 scenarios</a:t>
            </a:r>
            <a:endParaRPr lang="en-US" sz="1100" b="0" u="none" strike="noStrike">
              <a:solidFill>
                <a:srgbClr val="000000"/>
              </a:solidFill>
              <a:effectLst/>
              <a:uFillTx/>
              <a:latin typeface="Arial" panose="020B0604020202020204"/>
            </a:endParaRPr>
          </a:p>
        </p:txBody>
      </p:sp>
      <p:sp>
        <p:nvSpPr>
          <p:cNvPr id="109" name="ticket store card"/>
          <p:cNvSpPr/>
          <p:nvPr/>
        </p:nvSpPr>
        <p:spPr>
          <a:xfrm>
            <a:off x="9098280" y="4709160"/>
            <a:ext cx="2541600" cy="1554120"/>
          </a:xfrm>
          <a:prstGeom prst="roundRect">
            <a:avLst>
              <a:gd name="adj" fmla="val 7059"/>
            </a:avLst>
          </a:prstGeom>
          <a:solidFill>
            <a:schemeClr val="bg1"/>
          </a:solidFill>
          <a:ln w="12700">
            <a:solidFill>
              <a:srgbClr val="FFFFFF"/>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110" name="Text 57"/>
          <p:cNvSpPr/>
          <p:nvPr/>
        </p:nvSpPr>
        <p:spPr>
          <a:xfrm>
            <a:off x="9235440" y="4709160"/>
            <a:ext cx="2285640" cy="1554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Support tickets</a:t>
            </a:r>
            <a:endParaRPr lang="en-US" sz="1400" b="0" u="none" strike="noStrike">
              <a:solidFill>
                <a:srgbClr val="000000"/>
              </a:solidFill>
              <a:effectLst/>
              <a:uFillTx/>
              <a:latin typeface="Arial" panose="020B0604020202020204"/>
            </a:endParaRPr>
          </a:p>
          <a:p>
            <a:pPr defTabSz="914400">
              <a:lnSpc>
                <a:spcPct val="100000"/>
              </a:lnSpc>
              <a:tabLst>
                <a:tab pos="0" algn="l"/>
              </a:tabLst>
            </a:pPr>
            <a:r>
              <a:rPr lang="en-US" sz="1100" b="0" u="none" strike="noStrike">
                <a:solidFill>
                  <a:schemeClr val="dk1"/>
                </a:solidFill>
                <a:effectLst/>
                <a:uFillTx/>
                <a:latin typeface="Calibri"/>
              </a:rPr>
              <a:t>simulated with test accounts and sample data</a:t>
            </a:r>
            <a:endParaRPr lang="en-US" sz="1100" b="0" u="none" strike="noStrike">
              <a:solidFill>
                <a:srgbClr val="000000"/>
              </a:solidFill>
              <a:effectLst/>
              <a:uFillTx/>
              <a:latin typeface="Arial" panose="020B0604020202020204"/>
            </a:endParaRPr>
          </a:p>
        </p:txBody>
      </p:sp>
      <p:sp>
        <p:nvSpPr>
          <p:cNvPr id="111" name="Shape 58"/>
          <p:cNvSpPr/>
          <p:nvPr/>
        </p:nvSpPr>
        <p:spPr>
          <a:xfrm>
            <a:off x="2377440" y="2240280"/>
            <a:ext cx="640080" cy="360"/>
          </a:xfrm>
          <a:prstGeom prst="line">
            <a:avLst/>
          </a:prstGeom>
          <a:ln w="28575">
            <a:solidFill>
              <a:srgbClr val="3B6FD4"/>
            </a:solidFill>
            <a:round/>
            <a:headEnd type="triangle" w="med" len="med"/>
            <a:tailEnd type="triangle" w="med" len="med"/>
          </a:ln>
        </p:spPr>
        <p:style>
          <a:lnRef idx="0">
            <a:srgbClr val="FFFFFF"/>
          </a:lnRef>
          <a:fillRef idx="0">
            <a:srgbClr val="FFFFFF"/>
          </a:fillRef>
          <a:effectRef idx="0">
            <a:srgbClr val="FFFFFF"/>
          </a:effectRef>
          <a:fontRef idx="minor"/>
        </p:style>
        <p:txBody>
          <a:bodyPr lIns="90000" tIns="-44640" rIns="90000" bIns="-44640" anchor="t" anchorCtr="1">
            <a:noAutofit/>
          </a:bodyPr>
          <a:p>
            <a:endParaRPr lang="en-US" sz="1800" b="0" u="none" strike="noStrike">
              <a:solidFill>
                <a:srgbClr val="000000"/>
              </a:solidFill>
              <a:effectLst/>
              <a:uFillTx/>
              <a:latin typeface="Arial" panose="020B0604020202020204"/>
            </a:endParaRPr>
          </a:p>
        </p:txBody>
      </p:sp>
      <p:sp>
        <p:nvSpPr>
          <p:cNvPr id="112" name="Shape 59"/>
          <p:cNvSpPr/>
          <p:nvPr/>
        </p:nvSpPr>
        <p:spPr>
          <a:xfrm>
            <a:off x="2377440" y="3520440"/>
            <a:ext cx="640080" cy="360"/>
          </a:xfrm>
          <a:prstGeom prst="line">
            <a:avLst/>
          </a:prstGeom>
          <a:ln w="28575">
            <a:solidFill>
              <a:srgbClr val="2FB380"/>
            </a:solidFill>
            <a:prstDash val="dash"/>
            <a:round/>
            <a:headEnd type="triangle" w="med" len="med"/>
            <a:tailEnd type="triangle" w="med" len="med"/>
          </a:ln>
        </p:spPr>
        <p:style>
          <a:lnRef idx="0">
            <a:srgbClr val="FFFFFF"/>
          </a:lnRef>
          <a:fillRef idx="0">
            <a:srgbClr val="FFFFFF"/>
          </a:fillRef>
          <a:effectRef idx="0">
            <a:srgbClr val="FFFFFF"/>
          </a:effectRef>
          <a:fontRef idx="minor"/>
        </p:style>
        <p:txBody>
          <a:bodyPr lIns="90000" tIns="-44640" rIns="90000" bIns="-44640" anchor="t" anchorCtr="1">
            <a:noAutofit/>
          </a:bodyPr>
          <a:p>
            <a:endParaRPr lang="en-US" sz="1800" b="0" u="none" strike="noStrike">
              <a:solidFill>
                <a:srgbClr val="000000"/>
              </a:solidFill>
              <a:effectLst/>
              <a:uFillTx/>
              <a:latin typeface="Arial" panose="020B0604020202020204"/>
            </a:endParaRPr>
          </a:p>
        </p:txBody>
      </p:sp>
      <p:sp>
        <p:nvSpPr>
          <p:cNvPr id="113" name="Shape 60"/>
          <p:cNvSpPr/>
          <p:nvPr/>
        </p:nvSpPr>
        <p:spPr>
          <a:xfrm>
            <a:off x="8503920" y="2331720"/>
            <a:ext cx="594360" cy="360"/>
          </a:xfrm>
          <a:prstGeom prst="line">
            <a:avLst/>
          </a:prstGeom>
          <a:ln w="28575">
            <a:solidFill>
              <a:srgbClr val="2FB380"/>
            </a:solidFill>
            <a:round/>
            <a:headEnd type="triangle" w="med" len="med"/>
            <a:tailEnd type="triangle" w="med" len="med"/>
          </a:ln>
        </p:spPr>
        <p:style>
          <a:lnRef idx="0">
            <a:srgbClr val="FFFFFF"/>
          </a:lnRef>
          <a:fillRef idx="0">
            <a:srgbClr val="FFFFFF"/>
          </a:fillRef>
          <a:effectRef idx="0">
            <a:srgbClr val="FFFFFF"/>
          </a:effectRef>
          <a:fontRef idx="minor"/>
        </p:style>
        <p:txBody>
          <a:bodyPr lIns="90000" tIns="-44640" rIns="90000" bIns="-44640" anchor="t" anchorCtr="1">
            <a:noAutofit/>
          </a:bodyPr>
          <a:p>
            <a:endParaRPr lang="en-US" sz="1800" b="0" u="none" strike="noStrike">
              <a:solidFill>
                <a:srgbClr val="000000"/>
              </a:solidFill>
              <a:effectLst/>
              <a:uFillTx/>
              <a:latin typeface="Arial" panose="020B0604020202020204"/>
            </a:endParaRPr>
          </a:p>
        </p:txBody>
      </p:sp>
      <p:sp>
        <p:nvSpPr>
          <p:cNvPr id="114" name="Shape 61"/>
          <p:cNvSpPr/>
          <p:nvPr/>
        </p:nvSpPr>
        <p:spPr>
          <a:xfrm>
            <a:off x="8503920" y="3474720"/>
            <a:ext cx="594360" cy="360"/>
          </a:xfrm>
          <a:prstGeom prst="line">
            <a:avLst/>
          </a:prstGeom>
          <a:ln w="28575">
            <a:solidFill>
              <a:srgbClr val="7A8AA6"/>
            </a:solidFill>
            <a:round/>
            <a:tailEnd type="triangle" w="med" len="med"/>
          </a:ln>
        </p:spPr>
        <p:style>
          <a:lnRef idx="0">
            <a:srgbClr val="FFFFFF"/>
          </a:lnRef>
          <a:fillRef idx="0">
            <a:srgbClr val="FFFFFF"/>
          </a:fillRef>
          <a:effectRef idx="0">
            <a:srgbClr val="FFFFFF"/>
          </a:effectRef>
          <a:fontRef idx="minor"/>
        </p:style>
        <p:txBody>
          <a:bodyPr lIns="90000" tIns="-44640" rIns="90000" bIns="-44640" anchor="t" anchorCtr="1">
            <a:noAutofit/>
          </a:bodyPr>
          <a:p>
            <a:endParaRPr lang="en-US" sz="1800" b="0" u="none" strike="noStrike">
              <a:solidFill>
                <a:srgbClr val="000000"/>
              </a:solidFill>
              <a:effectLst/>
              <a:uFillTx/>
              <a:latin typeface="Arial" panose="020B0604020202020204"/>
            </a:endParaRPr>
          </a:p>
        </p:txBody>
      </p:sp>
      <p:sp>
        <p:nvSpPr>
          <p:cNvPr id="115" name="Shape 62"/>
          <p:cNvSpPr/>
          <p:nvPr/>
        </p:nvSpPr>
        <p:spPr>
          <a:xfrm>
            <a:off x="8503920" y="5394960"/>
            <a:ext cx="594360" cy="360"/>
          </a:xfrm>
          <a:prstGeom prst="line">
            <a:avLst/>
          </a:prstGeom>
          <a:ln w="28575">
            <a:solidFill>
              <a:srgbClr val="F2B705"/>
            </a:solidFill>
            <a:round/>
            <a:headEnd type="triangle" w="med" len="med"/>
            <a:tailEnd type="triangle" w="med" len="med"/>
          </a:ln>
        </p:spPr>
        <p:style>
          <a:lnRef idx="0">
            <a:srgbClr val="FFFFFF"/>
          </a:lnRef>
          <a:fillRef idx="0">
            <a:srgbClr val="FFFFFF"/>
          </a:fillRef>
          <a:effectRef idx="0">
            <a:srgbClr val="FFFFFF"/>
          </a:effectRef>
          <a:fontRef idx="minor"/>
        </p:style>
        <p:txBody>
          <a:bodyPr lIns="90000" tIns="-44640" rIns="90000" bIns="-44640" anchor="t" anchorCtr="1">
            <a:noAutofit/>
          </a:bodyPr>
          <a:p>
            <a:endParaRPr lang="en-US" sz="1800" b="0" u="none" strike="noStrike">
              <a:solidFill>
                <a:srgbClr val="000000"/>
              </a:solidFill>
              <a:effectLst/>
              <a:uFillTx/>
              <a:latin typeface="Arial" panose="020B0604020202020204"/>
            </a:endParaRPr>
          </a:p>
        </p:txBody>
      </p:sp>
      <p:sp>
        <p:nvSpPr>
          <p:cNvPr id="116" name="PlaceHolder 2"/>
          <p:cNvSpPr>
            <a:spLocks noGrp="1"/>
          </p:cNvSpPr>
          <p:nvPr>
            <p:ph type="sldNum" idx="7"/>
          </p:nvPr>
        </p:nvSpPr>
        <p:spPr>
          <a:xfrm>
            <a:off x="1124712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000" b="0" u="none" strike="noStrike">
                <a:solidFill>
                  <a:srgbClr val="7A8AA6"/>
                </a:solidFill>
                <a:effectLst/>
                <a:uFillTx/>
                <a:latin typeface="Calibri"/>
              </a:defRPr>
            </a:lvl1pPr>
          </a:lstStyle>
          <a:p>
            <a:pPr indent="0" algn="l" defTabSz="914400">
              <a:lnSpc>
                <a:spcPct val="100000"/>
              </a:lnSpc>
              <a:buNone/>
            </a:pPr>
            <a:fld id="{3204003E-FB26-45A2-8663-241475B8244F}" type="slidenum">
              <a:rPr lang="en-US" sz="1000" b="0" u="none" strike="noStrike">
                <a:solidFill>
                  <a:srgbClr val="7A8AA6"/>
                </a:solidFill>
                <a:effectLst/>
                <a:uFillTx/>
                <a:latin typeface="Calibri"/>
              </a:rPr>
            </a:fld>
            <a:endParaRPr lang="en-US" sz="100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PlaceHolder 1"/>
          <p:cNvSpPr>
            <a:spLocks noGrp="1"/>
          </p:cNvSpPr>
          <p:nvPr>
            <p:ph type="title" hasCustomPrompt="1"/>
          </p:nvPr>
        </p:nvSpPr>
        <p:spPr>
          <a:xfrm>
            <a:off x="548640" y="365760"/>
            <a:ext cx="11063880" cy="776880"/>
          </a:xfrm>
          <a:prstGeom prst="rect">
            <a:avLst/>
          </a:prstGeom>
          <a:noFill/>
          <a:ln w="0">
            <a:noFill/>
          </a:ln>
        </p:spPr>
        <p:txBody>
          <a:bodyPr lIns="0" tIns="0" rIns="0" bIns="0" anchor="ctr">
            <a:noAutofit/>
          </a:bodyPr>
          <a:p>
            <a:pPr indent="0" algn="ctr" defTabSz="914400">
              <a:lnSpc>
                <a:spcPct val="100000"/>
              </a:lnSpc>
              <a:buNone/>
              <a:tabLst>
                <a:tab pos="0" algn="l"/>
              </a:tabLst>
            </a:pPr>
            <a:r>
              <a:rPr lang="en-US" sz="3400" b="1" u="none" strike="noStrike">
                <a:solidFill>
                  <a:schemeClr val="dk2"/>
                </a:solidFill>
                <a:effectLst/>
                <a:uFillTx/>
                <a:latin typeface="Cambria"/>
              </a:rPr>
              <a:t>Live workflow: creating a support ticket</a:t>
            </a:r>
            <a:endParaRPr lang="en-US" sz="3400" b="0" u="none" strike="noStrike">
              <a:solidFill>
                <a:schemeClr val="dk1"/>
              </a:solidFill>
              <a:effectLst/>
              <a:uFillTx/>
              <a:latin typeface="Calibri"/>
            </a:endParaRPr>
          </a:p>
        </p:txBody>
      </p:sp>
      <p:sp>
        <p:nvSpPr>
          <p:cNvPr id="118" name="quote bubble"/>
          <p:cNvSpPr/>
          <p:nvPr/>
        </p:nvSpPr>
        <p:spPr>
          <a:xfrm>
            <a:off x="548640" y="1371600"/>
            <a:ext cx="5028840" cy="1051200"/>
          </a:xfrm>
          <a:prstGeom prst="roundRect">
            <a:avLst>
              <a:gd name="adj" fmla="val 10435"/>
            </a:avLst>
          </a:prstGeom>
          <a:solidFill>
            <a:schemeClr val="accent1"/>
          </a:solidFill>
          <a:ln w="12700">
            <a:solidFill>
              <a:srgbClr val="F2B705"/>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119" name="icon circle"/>
          <p:cNvSpPr/>
          <p:nvPr/>
        </p:nvSpPr>
        <p:spPr>
          <a:xfrm>
            <a:off x="731520" y="1572840"/>
            <a:ext cx="639720" cy="639720"/>
          </a:xfrm>
          <a:prstGeom prst="ellipse">
            <a:avLst/>
          </a:prstGeom>
          <a:solidFill>
            <a:schemeClr val="bg1"/>
          </a:solidFill>
          <a:ln w="1270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pic>
        <p:nvPicPr>
          <p:cNvPr id="120" name="Image 0" descr="icon"/>
          <p:cNvPicPr/>
          <p:nvPr/>
        </p:nvPicPr>
        <p:blipFill>
          <a:blip r:embed="rId1"/>
          <a:stretch>
            <a:fillRect/>
          </a:stretch>
        </p:blipFill>
        <p:spPr>
          <a:xfrm>
            <a:off x="897840" y="1739160"/>
            <a:ext cx="306720" cy="306720"/>
          </a:xfrm>
          <a:prstGeom prst="rect">
            <a:avLst/>
          </a:prstGeom>
          <a:noFill/>
          <a:ln w="0">
            <a:noFill/>
          </a:ln>
        </p:spPr>
      </p:pic>
      <p:sp>
        <p:nvSpPr>
          <p:cNvPr id="121" name="Text 3"/>
          <p:cNvSpPr/>
          <p:nvPr/>
        </p:nvSpPr>
        <p:spPr>
          <a:xfrm>
            <a:off x="1508760" y="1417320"/>
            <a:ext cx="3931560" cy="9597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200" b="1" u="none" strike="noStrike">
                <a:solidFill>
                  <a:schemeClr val="dk2"/>
                </a:solidFill>
                <a:effectLst/>
                <a:uFillTx/>
                <a:latin typeface="Calibri"/>
              </a:rPr>
              <a:t>Customer says</a:t>
            </a:r>
            <a:endParaRPr lang="en-US" sz="1200" b="0" u="none" strike="noStrike">
              <a:solidFill>
                <a:srgbClr val="000000"/>
              </a:solidFill>
              <a:effectLst/>
              <a:uFillTx/>
              <a:latin typeface="Arial" panose="020B0604020202020204"/>
            </a:endParaRPr>
          </a:p>
          <a:p>
            <a:pPr defTabSz="914400">
              <a:lnSpc>
                <a:spcPct val="100000"/>
              </a:lnSpc>
              <a:tabLst>
                <a:tab pos="0" algn="l"/>
              </a:tabLst>
            </a:pPr>
            <a:r>
              <a:rPr lang="en-US" sz="1500" b="0" i="1" u="none" strike="noStrike">
                <a:solidFill>
                  <a:schemeClr val="dk2"/>
                </a:solidFill>
                <a:effectLst/>
                <a:uFillTx/>
                <a:latin typeface="Calibri"/>
              </a:rPr>
              <a:t>“My mobile banking app keeps crashing every time I try to log in.”</a:t>
            </a:r>
            <a:endParaRPr lang="en-US" sz="1500" b="0" u="none" strike="noStrike">
              <a:solidFill>
                <a:srgbClr val="000000"/>
              </a:solidFill>
              <a:effectLst/>
              <a:uFillTx/>
              <a:latin typeface="Arial" panose="020B0604020202020204"/>
            </a:endParaRPr>
          </a:p>
        </p:txBody>
      </p:sp>
      <p:sp>
        <p:nvSpPr>
          <p:cNvPr id="122" name="Shape 4"/>
          <p:cNvSpPr/>
          <p:nvPr/>
        </p:nvSpPr>
        <p:spPr>
          <a:xfrm>
            <a:off x="548640" y="2688480"/>
            <a:ext cx="420120" cy="420120"/>
          </a:xfrm>
          <a:prstGeom prst="ellipse">
            <a:avLst/>
          </a:prstGeom>
          <a:solidFill>
            <a:schemeClr val="tx2"/>
          </a:solidFill>
          <a:ln w="12700">
            <a:solidFill>
              <a:srgbClr val="0B1F3A"/>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23" name="Text 5"/>
          <p:cNvSpPr/>
          <p:nvPr/>
        </p:nvSpPr>
        <p:spPr>
          <a:xfrm>
            <a:off x="548640" y="2688480"/>
            <a:ext cx="420120" cy="420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400" b="1" u="none" strike="noStrike">
                <a:solidFill>
                  <a:schemeClr val="accent1"/>
                </a:solidFill>
                <a:effectLst/>
                <a:uFillTx/>
                <a:latin typeface="Calibri"/>
              </a:rPr>
              <a:t>1</a:t>
            </a:r>
            <a:endParaRPr lang="en-US" sz="1400" b="0" u="none" strike="noStrike">
              <a:solidFill>
                <a:srgbClr val="000000"/>
              </a:solidFill>
              <a:effectLst/>
              <a:uFillTx/>
              <a:latin typeface="Arial" panose="020B0604020202020204"/>
            </a:endParaRPr>
          </a:p>
        </p:txBody>
      </p:sp>
      <p:sp>
        <p:nvSpPr>
          <p:cNvPr id="124" name="Text 6"/>
          <p:cNvSpPr/>
          <p:nvPr/>
        </p:nvSpPr>
        <p:spPr>
          <a:xfrm>
            <a:off x="1143000" y="2651760"/>
            <a:ext cx="4434480" cy="493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0" u="none" strike="noStrike">
                <a:solidFill>
                  <a:schemeClr val="dk1"/>
                </a:solidFill>
                <a:effectLst/>
                <a:uFillTx/>
                <a:latin typeface="Calibri"/>
              </a:rPr>
              <a:t>Loads the session; checks for prior customer memory</a:t>
            </a:r>
            <a:endParaRPr lang="en-US" sz="1500" b="0" u="none" strike="noStrike">
              <a:solidFill>
                <a:srgbClr val="000000"/>
              </a:solidFill>
              <a:effectLst/>
              <a:uFillTx/>
              <a:latin typeface="Arial" panose="020B0604020202020204"/>
            </a:endParaRPr>
          </a:p>
        </p:txBody>
      </p:sp>
      <p:sp>
        <p:nvSpPr>
          <p:cNvPr id="125" name="Shape 7"/>
          <p:cNvSpPr/>
          <p:nvPr/>
        </p:nvSpPr>
        <p:spPr>
          <a:xfrm>
            <a:off x="548640" y="3273480"/>
            <a:ext cx="420120" cy="420120"/>
          </a:xfrm>
          <a:prstGeom prst="ellipse">
            <a:avLst/>
          </a:prstGeom>
          <a:solidFill>
            <a:schemeClr val="tx2"/>
          </a:solidFill>
          <a:ln w="12700">
            <a:solidFill>
              <a:srgbClr val="0B1F3A"/>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26" name="Text 8"/>
          <p:cNvSpPr/>
          <p:nvPr/>
        </p:nvSpPr>
        <p:spPr>
          <a:xfrm>
            <a:off x="548640" y="3273480"/>
            <a:ext cx="420120" cy="420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400" b="1" u="none" strike="noStrike">
                <a:solidFill>
                  <a:schemeClr val="accent1"/>
                </a:solidFill>
                <a:effectLst/>
                <a:uFillTx/>
                <a:latin typeface="Calibri"/>
              </a:rPr>
              <a:t>2</a:t>
            </a:r>
            <a:endParaRPr lang="en-US" sz="1400" b="0" u="none" strike="noStrike">
              <a:solidFill>
                <a:srgbClr val="000000"/>
              </a:solidFill>
              <a:effectLst/>
              <a:uFillTx/>
              <a:latin typeface="Arial" panose="020B0604020202020204"/>
            </a:endParaRPr>
          </a:p>
        </p:txBody>
      </p:sp>
      <p:sp>
        <p:nvSpPr>
          <p:cNvPr id="127" name="Text 9"/>
          <p:cNvSpPr/>
          <p:nvPr/>
        </p:nvSpPr>
        <p:spPr>
          <a:xfrm>
            <a:off x="1143000" y="3237120"/>
            <a:ext cx="4434480" cy="493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0" u="none" strike="noStrike">
                <a:solidFill>
                  <a:schemeClr val="dk1"/>
                </a:solidFill>
                <a:effectLst/>
                <a:uFillTx/>
                <a:latin typeface="Calibri"/>
              </a:rPr>
              <a:t>Classifies the request as creating a support ticket</a:t>
            </a:r>
            <a:endParaRPr lang="en-US" sz="1500" b="0" u="none" strike="noStrike">
              <a:solidFill>
                <a:srgbClr val="000000"/>
              </a:solidFill>
              <a:effectLst/>
              <a:uFillTx/>
              <a:latin typeface="Arial" panose="020B0604020202020204"/>
            </a:endParaRPr>
          </a:p>
        </p:txBody>
      </p:sp>
      <p:sp>
        <p:nvSpPr>
          <p:cNvPr id="128" name="Shape 10"/>
          <p:cNvSpPr/>
          <p:nvPr/>
        </p:nvSpPr>
        <p:spPr>
          <a:xfrm>
            <a:off x="548640" y="3858840"/>
            <a:ext cx="420120" cy="420120"/>
          </a:xfrm>
          <a:prstGeom prst="ellipse">
            <a:avLst/>
          </a:prstGeom>
          <a:solidFill>
            <a:schemeClr val="tx2"/>
          </a:solidFill>
          <a:ln w="12700">
            <a:solidFill>
              <a:srgbClr val="0B1F3A"/>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29" name="Text 11"/>
          <p:cNvSpPr/>
          <p:nvPr/>
        </p:nvSpPr>
        <p:spPr>
          <a:xfrm>
            <a:off x="548640" y="3858840"/>
            <a:ext cx="420120" cy="420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400" b="1" u="none" strike="noStrike">
                <a:solidFill>
                  <a:schemeClr val="accent1"/>
                </a:solidFill>
                <a:effectLst/>
                <a:uFillTx/>
                <a:latin typeface="Calibri"/>
              </a:rPr>
              <a:t>3</a:t>
            </a:r>
            <a:endParaRPr lang="en-US" sz="1400" b="0" u="none" strike="noStrike">
              <a:solidFill>
                <a:srgbClr val="000000"/>
              </a:solidFill>
              <a:effectLst/>
              <a:uFillTx/>
              <a:latin typeface="Arial" panose="020B0604020202020204"/>
            </a:endParaRPr>
          </a:p>
        </p:txBody>
      </p:sp>
      <p:sp>
        <p:nvSpPr>
          <p:cNvPr id="130" name="Text 12"/>
          <p:cNvSpPr/>
          <p:nvPr/>
        </p:nvSpPr>
        <p:spPr>
          <a:xfrm>
            <a:off x="1143000" y="3822120"/>
            <a:ext cx="4434480" cy="493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0" u="none" strike="noStrike">
                <a:solidFill>
                  <a:schemeClr val="dk1"/>
                </a:solidFill>
                <a:effectLst/>
                <a:uFillTx/>
                <a:latin typeface="Calibri"/>
              </a:rPr>
              <a:t>Selects the approved action: create_support_ticket</a:t>
            </a:r>
            <a:endParaRPr lang="en-US" sz="1500" b="0" u="none" strike="noStrike">
              <a:solidFill>
                <a:srgbClr val="000000"/>
              </a:solidFill>
              <a:effectLst/>
              <a:uFillTx/>
              <a:latin typeface="Arial" panose="020B0604020202020204"/>
            </a:endParaRPr>
          </a:p>
        </p:txBody>
      </p:sp>
      <p:sp>
        <p:nvSpPr>
          <p:cNvPr id="131" name="Shape 13"/>
          <p:cNvSpPr/>
          <p:nvPr/>
        </p:nvSpPr>
        <p:spPr>
          <a:xfrm>
            <a:off x="548640" y="4443840"/>
            <a:ext cx="420120" cy="420120"/>
          </a:xfrm>
          <a:prstGeom prst="ellipse">
            <a:avLst/>
          </a:prstGeom>
          <a:solidFill>
            <a:schemeClr val="tx2"/>
          </a:solidFill>
          <a:ln w="12700">
            <a:solidFill>
              <a:srgbClr val="0B1F3A"/>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32" name="Text 14"/>
          <p:cNvSpPr/>
          <p:nvPr/>
        </p:nvSpPr>
        <p:spPr>
          <a:xfrm>
            <a:off x="548640" y="4443840"/>
            <a:ext cx="420120" cy="420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400" b="1" u="none" strike="noStrike">
                <a:solidFill>
                  <a:schemeClr val="accent1"/>
                </a:solidFill>
                <a:effectLst/>
                <a:uFillTx/>
                <a:latin typeface="Calibri"/>
              </a:rPr>
              <a:t>4</a:t>
            </a:r>
            <a:endParaRPr lang="en-US" sz="1400" b="0" u="none" strike="noStrike">
              <a:solidFill>
                <a:srgbClr val="000000"/>
              </a:solidFill>
              <a:effectLst/>
              <a:uFillTx/>
              <a:latin typeface="Arial" panose="020B0604020202020204"/>
            </a:endParaRPr>
          </a:p>
        </p:txBody>
      </p:sp>
      <p:sp>
        <p:nvSpPr>
          <p:cNvPr id="133" name="Text 15"/>
          <p:cNvSpPr/>
          <p:nvPr/>
        </p:nvSpPr>
        <p:spPr>
          <a:xfrm>
            <a:off x="1143000" y="4407480"/>
            <a:ext cx="4434480" cy="493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0" u="none" strike="noStrike">
                <a:solidFill>
                  <a:schemeClr val="dk1"/>
                </a:solidFill>
                <a:effectLst/>
                <a:uFillTx/>
                <a:latin typeface="Calibri"/>
              </a:rPr>
              <a:t>Calls the ticket creation tool</a:t>
            </a:r>
            <a:endParaRPr lang="en-US" sz="1500" b="0" u="none" strike="noStrike">
              <a:solidFill>
                <a:srgbClr val="000000"/>
              </a:solidFill>
              <a:effectLst/>
              <a:uFillTx/>
              <a:latin typeface="Arial" panose="020B0604020202020204"/>
            </a:endParaRPr>
          </a:p>
        </p:txBody>
      </p:sp>
      <p:sp>
        <p:nvSpPr>
          <p:cNvPr id="134" name="Shape 16"/>
          <p:cNvSpPr/>
          <p:nvPr/>
        </p:nvSpPr>
        <p:spPr>
          <a:xfrm>
            <a:off x="548640" y="5029200"/>
            <a:ext cx="420120" cy="420120"/>
          </a:xfrm>
          <a:prstGeom prst="ellipse">
            <a:avLst/>
          </a:prstGeom>
          <a:solidFill>
            <a:schemeClr val="tx2"/>
          </a:solidFill>
          <a:ln w="12700">
            <a:solidFill>
              <a:srgbClr val="0B1F3A"/>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35" name="Text 17"/>
          <p:cNvSpPr/>
          <p:nvPr/>
        </p:nvSpPr>
        <p:spPr>
          <a:xfrm>
            <a:off x="548640" y="5029200"/>
            <a:ext cx="420120" cy="420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400" b="1" u="none" strike="noStrike">
                <a:solidFill>
                  <a:schemeClr val="accent1"/>
                </a:solidFill>
                <a:effectLst/>
                <a:uFillTx/>
                <a:latin typeface="Calibri"/>
              </a:rPr>
              <a:t>5</a:t>
            </a:r>
            <a:endParaRPr lang="en-US" sz="1400" b="0" u="none" strike="noStrike">
              <a:solidFill>
                <a:srgbClr val="000000"/>
              </a:solidFill>
              <a:effectLst/>
              <a:uFillTx/>
              <a:latin typeface="Arial" panose="020B0604020202020204"/>
            </a:endParaRPr>
          </a:p>
        </p:txBody>
      </p:sp>
      <p:sp>
        <p:nvSpPr>
          <p:cNvPr id="136" name="Text 18"/>
          <p:cNvSpPr/>
          <p:nvPr/>
        </p:nvSpPr>
        <p:spPr>
          <a:xfrm>
            <a:off x="1143000" y="4992480"/>
            <a:ext cx="4434480" cy="493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0" u="none" strike="noStrike">
                <a:solidFill>
                  <a:schemeClr val="dk1"/>
                </a:solidFill>
                <a:effectLst/>
                <a:uFillTx/>
                <a:latin typeface="Calibri"/>
              </a:rPr>
              <a:t>Observes success</a:t>
            </a:r>
            <a:endParaRPr lang="en-US" sz="1500" b="0" u="none" strike="noStrike">
              <a:solidFill>
                <a:srgbClr val="000000"/>
              </a:solidFill>
              <a:effectLst/>
              <a:uFillTx/>
              <a:latin typeface="Arial" panose="020B0604020202020204"/>
            </a:endParaRPr>
          </a:p>
        </p:txBody>
      </p:sp>
      <p:sp>
        <p:nvSpPr>
          <p:cNvPr id="137" name="Shape 19"/>
          <p:cNvSpPr/>
          <p:nvPr/>
        </p:nvSpPr>
        <p:spPr>
          <a:xfrm>
            <a:off x="548640" y="5614560"/>
            <a:ext cx="420120" cy="420120"/>
          </a:xfrm>
          <a:prstGeom prst="ellipse">
            <a:avLst/>
          </a:prstGeom>
          <a:solidFill>
            <a:schemeClr val="tx2"/>
          </a:solidFill>
          <a:ln w="12700">
            <a:solidFill>
              <a:srgbClr val="0B1F3A"/>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38" name="Text 20"/>
          <p:cNvSpPr/>
          <p:nvPr/>
        </p:nvSpPr>
        <p:spPr>
          <a:xfrm>
            <a:off x="548640" y="5614560"/>
            <a:ext cx="420120" cy="420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400" b="1" u="none" strike="noStrike">
                <a:solidFill>
                  <a:schemeClr val="accent1"/>
                </a:solidFill>
                <a:effectLst/>
                <a:uFillTx/>
                <a:latin typeface="Calibri"/>
              </a:rPr>
              <a:t>6</a:t>
            </a:r>
            <a:endParaRPr lang="en-US" sz="1400" b="0" u="none" strike="noStrike">
              <a:solidFill>
                <a:srgbClr val="000000"/>
              </a:solidFill>
              <a:effectLst/>
              <a:uFillTx/>
              <a:latin typeface="Arial" panose="020B0604020202020204"/>
            </a:endParaRPr>
          </a:p>
        </p:txBody>
      </p:sp>
      <p:sp>
        <p:nvSpPr>
          <p:cNvPr id="139" name="Text 21"/>
          <p:cNvSpPr/>
          <p:nvPr/>
        </p:nvSpPr>
        <p:spPr>
          <a:xfrm>
            <a:off x="1143000" y="5577840"/>
            <a:ext cx="4434480" cy="493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0" u="none" strike="noStrike">
                <a:solidFill>
                  <a:schemeClr val="dk1"/>
                </a:solidFill>
                <a:effectLst/>
                <a:uFillTx/>
                <a:latin typeface="Calibri"/>
              </a:rPr>
              <a:t>Writes a memory record and responds with a ticket number</a:t>
            </a:r>
            <a:endParaRPr lang="en-US" sz="1500" b="0" u="none" strike="noStrike">
              <a:solidFill>
                <a:srgbClr val="000000"/>
              </a:solidFill>
              <a:effectLst/>
              <a:uFillTx/>
              <a:latin typeface="Arial" panose="020B0604020202020204"/>
            </a:endParaRPr>
          </a:p>
        </p:txBody>
      </p:sp>
      <p:sp>
        <p:nvSpPr>
          <p:cNvPr id="140" name="terminal panel"/>
          <p:cNvSpPr/>
          <p:nvPr/>
        </p:nvSpPr>
        <p:spPr>
          <a:xfrm>
            <a:off x="5897880" y="1371600"/>
            <a:ext cx="5742000" cy="3200040"/>
          </a:xfrm>
          <a:prstGeom prst="roundRect">
            <a:avLst>
              <a:gd name="adj" fmla="val 2857"/>
            </a:avLst>
          </a:prstGeom>
          <a:solidFill>
            <a:schemeClr val="tx2"/>
          </a:solidFill>
          <a:ln w="12700">
            <a:solidFill>
              <a:srgbClr val="0B1F3A"/>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41" name="Shape 23"/>
          <p:cNvSpPr/>
          <p:nvPr/>
        </p:nvSpPr>
        <p:spPr>
          <a:xfrm>
            <a:off x="6126480" y="1554480"/>
            <a:ext cx="145800" cy="145800"/>
          </a:xfrm>
          <a:prstGeom prst="ellipse">
            <a:avLst/>
          </a:prstGeom>
          <a:solidFill>
            <a:schemeClr val="accent3"/>
          </a:solidFill>
          <a:ln w="12700">
            <a:solidFill>
              <a:srgbClr val="E5484D"/>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42" name="Shape 24"/>
          <p:cNvSpPr/>
          <p:nvPr/>
        </p:nvSpPr>
        <p:spPr>
          <a:xfrm>
            <a:off x="6382440" y="1554480"/>
            <a:ext cx="145800" cy="145800"/>
          </a:xfrm>
          <a:prstGeom prst="ellipse">
            <a:avLst/>
          </a:prstGeom>
          <a:solidFill>
            <a:schemeClr val="accent1"/>
          </a:solidFill>
          <a:ln w="12700">
            <a:solidFill>
              <a:srgbClr val="F2B705"/>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143" name="Shape 25"/>
          <p:cNvSpPr/>
          <p:nvPr/>
        </p:nvSpPr>
        <p:spPr>
          <a:xfrm>
            <a:off x="6638400" y="1554480"/>
            <a:ext cx="145800" cy="145800"/>
          </a:xfrm>
          <a:prstGeom prst="ellipse">
            <a:avLst/>
          </a:prstGeom>
          <a:solidFill>
            <a:schemeClr val="accent4"/>
          </a:solidFill>
          <a:ln w="12700">
            <a:solidFill>
              <a:srgbClr val="2FB380"/>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44" name="Text 26"/>
          <p:cNvSpPr/>
          <p:nvPr/>
        </p:nvSpPr>
        <p:spPr>
          <a:xfrm>
            <a:off x="6995160" y="1463040"/>
            <a:ext cx="4370400" cy="328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pPr>
            <a:r>
              <a:rPr lang="en-US" sz="1100" b="0" u="none" strike="noStrike">
                <a:solidFill>
                  <a:schemeClr val="accent6"/>
                </a:solidFill>
                <a:effectLst/>
                <a:uFillTx/>
                <a:latin typeface="Calibri"/>
              </a:rPr>
              <a:t>Week 6 demo output</a:t>
            </a:r>
            <a:endParaRPr lang="en-US" sz="1100" b="0" u="none" strike="noStrike">
              <a:solidFill>
                <a:srgbClr val="000000"/>
              </a:solidFill>
              <a:effectLst/>
              <a:uFillTx/>
              <a:latin typeface="Arial" panose="020B0604020202020204"/>
            </a:endParaRPr>
          </a:p>
        </p:txBody>
      </p:sp>
      <p:sp>
        <p:nvSpPr>
          <p:cNvPr id="145" name="Text 27"/>
          <p:cNvSpPr/>
          <p:nvPr/>
        </p:nvSpPr>
        <p:spPr>
          <a:xfrm>
            <a:off x="6172200" y="1920240"/>
            <a:ext cx="5193360" cy="2514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spcAft>
                <a:spcPts val="500"/>
              </a:spcAft>
              <a:tabLst>
                <a:tab pos="0" algn="l"/>
              </a:tabLst>
            </a:pPr>
            <a:r>
              <a:rPr lang="en-US" sz="1300" b="1" u="none" strike="noStrike">
                <a:solidFill>
                  <a:schemeClr val="accent1"/>
                </a:solidFill>
                <a:effectLst/>
                <a:uFillTx/>
                <a:latin typeface="Courier New" panose="02070309020205020404"/>
                <a:ea typeface="Courier New" panose="02070309020205020404"/>
              </a:rPr>
              <a:t>[CLASSIFY_REQUEST]</a:t>
            </a:r>
            <a:endParaRPr lang="en-US" sz="1300" b="0" u="none" strike="noStrike">
              <a:solidFill>
                <a:srgbClr val="000000"/>
              </a:solidFill>
              <a:effectLst/>
              <a:uFillTx/>
              <a:latin typeface="Arial" panose="020B0604020202020204"/>
            </a:endParaRPr>
          </a:p>
          <a:p>
            <a:pPr defTabSz="914400">
              <a:lnSpc>
                <a:spcPct val="100000"/>
              </a:lnSpc>
              <a:spcAft>
                <a:spcPts val="500"/>
              </a:spcAft>
              <a:tabLst>
                <a:tab pos="0" algn="l"/>
              </a:tabLst>
            </a:pPr>
            <a:r>
              <a:rPr lang="en-US" sz="1300" b="0" u="none" strike="noStrike">
                <a:solidFill>
                  <a:schemeClr val="lt1"/>
                </a:solidFill>
                <a:effectLst/>
                <a:uFillTx/>
                <a:latin typeface="Courier New" panose="02070309020205020404"/>
                <a:ea typeface="Courier New" panose="02070309020205020404"/>
              </a:rPr>
              <a:t>intent='create_ticket' action=create_support_ticket</a:t>
            </a:r>
            <a:endParaRPr lang="en-US" sz="1300" b="0" u="none" strike="noStrike">
              <a:solidFill>
                <a:srgbClr val="000000"/>
              </a:solidFill>
              <a:effectLst/>
              <a:uFillTx/>
              <a:latin typeface="Arial" panose="020B0604020202020204"/>
            </a:endParaRPr>
          </a:p>
          <a:p>
            <a:pPr defTabSz="914400">
              <a:lnSpc>
                <a:spcPct val="100000"/>
              </a:lnSpc>
              <a:spcAft>
                <a:spcPts val="500"/>
              </a:spcAft>
              <a:tabLst>
                <a:tab pos="0" algn="l"/>
              </a:tabLst>
            </a:pPr>
            <a:r>
              <a:rPr lang="en-US" sz="1300" b="1" u="none" strike="noStrike">
                <a:solidFill>
                  <a:schemeClr val="accent1"/>
                </a:solidFill>
                <a:effectLst/>
                <a:uFillTx/>
                <a:latin typeface="Courier New" panose="02070309020205020404"/>
                <a:ea typeface="Courier New" panose="02070309020205020404"/>
              </a:rPr>
              <a:t>[EXECUTE_TOOL]</a:t>
            </a:r>
            <a:endParaRPr lang="en-US" sz="1300" b="0" u="none" strike="noStrike">
              <a:solidFill>
                <a:srgbClr val="000000"/>
              </a:solidFill>
              <a:effectLst/>
              <a:uFillTx/>
              <a:latin typeface="Arial" panose="020B0604020202020204"/>
            </a:endParaRPr>
          </a:p>
          <a:p>
            <a:pPr defTabSz="914400">
              <a:lnSpc>
                <a:spcPct val="100000"/>
              </a:lnSpc>
              <a:spcAft>
                <a:spcPts val="500"/>
              </a:spcAft>
              <a:tabLst>
                <a:tab pos="0" algn="l"/>
              </a:tabLst>
            </a:pPr>
            <a:r>
              <a:rPr lang="en-US" sz="1300" b="0" u="none" strike="noStrike">
                <a:solidFill>
                  <a:schemeClr val="lt1"/>
                </a:solidFill>
                <a:effectLst/>
                <a:uFillTx/>
                <a:latin typeface="Courier New" panose="02070309020205020404"/>
                <a:ea typeface="Courier New" panose="02070309020205020404"/>
              </a:rPr>
              <a:t>calling create_support_ticket</a:t>
            </a:r>
            <a:endParaRPr lang="en-US" sz="1300" b="0" u="none" strike="noStrike">
              <a:solidFill>
                <a:srgbClr val="000000"/>
              </a:solidFill>
              <a:effectLst/>
              <a:uFillTx/>
              <a:latin typeface="Arial" panose="020B0604020202020204"/>
            </a:endParaRPr>
          </a:p>
          <a:p>
            <a:pPr defTabSz="914400">
              <a:lnSpc>
                <a:spcPct val="100000"/>
              </a:lnSpc>
              <a:spcAft>
                <a:spcPts val="500"/>
              </a:spcAft>
              <a:tabLst>
                <a:tab pos="0" algn="l"/>
              </a:tabLst>
            </a:pPr>
            <a:r>
              <a:rPr lang="en-US" sz="1300" b="1" u="none" strike="noStrike">
                <a:solidFill>
                  <a:schemeClr val="accent1"/>
                </a:solidFill>
                <a:effectLst/>
                <a:uFillTx/>
                <a:latin typeface="Courier New" panose="02070309020205020404"/>
                <a:ea typeface="Courier New" panose="02070309020205020404"/>
              </a:rPr>
              <a:t>[OBSERVE_RESULT]</a:t>
            </a:r>
            <a:endParaRPr lang="en-US" sz="1300" b="0" u="none" strike="noStrike">
              <a:solidFill>
                <a:srgbClr val="000000"/>
              </a:solidFill>
              <a:effectLst/>
              <a:uFillTx/>
              <a:latin typeface="Arial" panose="020B0604020202020204"/>
            </a:endParaRPr>
          </a:p>
          <a:p>
            <a:pPr defTabSz="914400">
              <a:lnSpc>
                <a:spcPct val="100000"/>
              </a:lnSpc>
              <a:spcAft>
                <a:spcPts val="500"/>
              </a:spcAft>
              <a:tabLst>
                <a:tab pos="0" algn="l"/>
              </a:tabLst>
            </a:pPr>
            <a:r>
              <a:rPr lang="en-US" sz="1300" b="0" u="none" strike="noStrike">
                <a:solidFill>
                  <a:schemeClr val="lt1"/>
                </a:solidFill>
                <a:effectLst/>
                <a:uFillTx/>
                <a:latin typeface="Courier New" panose="02070309020205020404"/>
                <a:ea typeface="Courier New" panose="02070309020205020404"/>
              </a:rPr>
              <a:t>tool=create_support_ticket status=success code=OK</a:t>
            </a:r>
            <a:endParaRPr lang="en-US" sz="1300" b="0" u="none" strike="noStrike">
              <a:solidFill>
                <a:srgbClr val="000000"/>
              </a:solidFill>
              <a:effectLst/>
              <a:uFillTx/>
              <a:latin typeface="Arial" panose="020B0604020202020204"/>
            </a:endParaRPr>
          </a:p>
          <a:p>
            <a:pPr defTabSz="914400">
              <a:lnSpc>
                <a:spcPct val="100000"/>
              </a:lnSpc>
              <a:spcAft>
                <a:spcPts val="500"/>
              </a:spcAft>
              <a:tabLst>
                <a:tab pos="0" algn="l"/>
              </a:tabLst>
            </a:pPr>
            <a:r>
              <a:rPr lang="en-US" sz="1300" b="1" u="none" strike="noStrike">
                <a:solidFill>
                  <a:schemeClr val="accent4"/>
                </a:solidFill>
                <a:effectLst/>
                <a:uFillTx/>
                <a:latin typeface="Courier New" panose="02070309020205020404"/>
                <a:ea typeface="Courier New" panose="02070309020205020404"/>
              </a:rPr>
              <a:t>Final outcome: TICKET_CREATED</a:t>
            </a:r>
            <a:endParaRPr lang="en-US" sz="1300" b="0" u="none" strike="noStrike">
              <a:solidFill>
                <a:srgbClr val="000000"/>
              </a:solidFill>
              <a:effectLst/>
              <a:uFillTx/>
              <a:latin typeface="Arial" panose="020B0604020202020204"/>
            </a:endParaRPr>
          </a:p>
        </p:txBody>
      </p:sp>
      <p:sp>
        <p:nvSpPr>
          <p:cNvPr id="146" name="response card"/>
          <p:cNvSpPr/>
          <p:nvPr/>
        </p:nvSpPr>
        <p:spPr>
          <a:xfrm>
            <a:off x="5897880" y="4800600"/>
            <a:ext cx="5742000" cy="1371240"/>
          </a:xfrm>
          <a:prstGeom prst="roundRect">
            <a:avLst>
              <a:gd name="adj" fmla="val 8000"/>
            </a:avLst>
          </a:prstGeom>
          <a:solidFill>
            <a:schemeClr val="tx2"/>
          </a:solidFill>
          <a:ln w="12700">
            <a:solidFill>
              <a:srgbClr val="0B1F3A"/>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47" name="Text 29"/>
          <p:cNvSpPr/>
          <p:nvPr/>
        </p:nvSpPr>
        <p:spPr>
          <a:xfrm>
            <a:off x="6172200" y="4846320"/>
            <a:ext cx="5211720" cy="12798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200" b="1" u="none" strike="noStrike">
                <a:solidFill>
                  <a:schemeClr val="accent1"/>
                </a:solidFill>
                <a:effectLst/>
                <a:uFillTx/>
                <a:latin typeface="Calibri"/>
              </a:rPr>
              <a:t>Final response</a:t>
            </a:r>
            <a:endParaRPr lang="en-US" sz="1200" b="0" u="none" strike="noStrike">
              <a:solidFill>
                <a:srgbClr val="000000"/>
              </a:solidFill>
              <a:effectLst/>
              <a:uFillTx/>
              <a:latin typeface="Arial" panose="020B0604020202020204"/>
            </a:endParaRPr>
          </a:p>
          <a:p>
            <a:pPr defTabSz="914400">
              <a:lnSpc>
                <a:spcPct val="100000"/>
              </a:lnSpc>
              <a:spcAft>
                <a:spcPts val="600"/>
              </a:spcAft>
              <a:tabLst>
                <a:tab pos="0" algn="l"/>
              </a:tabLst>
            </a:pPr>
            <a:r>
              <a:rPr lang="en-US" sz="1700" b="1" u="none" strike="noStrike">
                <a:solidFill>
                  <a:schemeClr val="lt1"/>
                </a:solidFill>
                <a:effectLst/>
                <a:uFillTx/>
                <a:latin typeface="Calibri"/>
              </a:rPr>
              <a:t>“Your support ticket has been created: CS-10246.”</a:t>
            </a:r>
            <a:endParaRPr lang="en-US" sz="1700" b="0" u="none" strike="noStrike">
              <a:solidFill>
                <a:srgbClr val="000000"/>
              </a:solidFill>
              <a:effectLst/>
              <a:uFillTx/>
              <a:latin typeface="Arial" panose="020B0604020202020204"/>
            </a:endParaRPr>
          </a:p>
          <a:p>
            <a:pPr defTabSz="914400">
              <a:lnSpc>
                <a:spcPct val="100000"/>
              </a:lnSpc>
              <a:tabLst>
                <a:tab pos="0" algn="l"/>
              </a:tabLst>
            </a:pPr>
            <a:r>
              <a:rPr lang="en-US" sz="1300" b="0" u="none" strike="noStrike">
                <a:solidFill>
                  <a:schemeClr val="lt2"/>
                </a:solidFill>
                <a:effectLst/>
                <a:uFillTx/>
                <a:latin typeface="Calibri"/>
              </a:rPr>
              <a:t>A real support workflow, completed in a bounded and controlled way.</a:t>
            </a:r>
            <a:endParaRPr lang="en-US" sz="1300" b="0" u="none" strike="noStrike">
              <a:solidFill>
                <a:srgbClr val="000000"/>
              </a:solidFill>
              <a:effectLst/>
              <a:uFillTx/>
              <a:latin typeface="Arial" panose="020B0604020202020204"/>
            </a:endParaRPr>
          </a:p>
        </p:txBody>
      </p:sp>
      <p:sp>
        <p:nvSpPr>
          <p:cNvPr id="148" name="PlaceHolder 2"/>
          <p:cNvSpPr>
            <a:spLocks noGrp="1"/>
          </p:cNvSpPr>
          <p:nvPr>
            <p:ph type="sldNum" idx="8"/>
          </p:nvPr>
        </p:nvSpPr>
        <p:spPr>
          <a:xfrm>
            <a:off x="1124712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000" b="0" u="none" strike="noStrike">
                <a:solidFill>
                  <a:srgbClr val="7A8AA6"/>
                </a:solidFill>
                <a:effectLst/>
                <a:uFillTx/>
                <a:latin typeface="Calibri"/>
              </a:defRPr>
            </a:lvl1pPr>
          </a:lstStyle>
          <a:p>
            <a:pPr indent="0" algn="l" defTabSz="914400">
              <a:lnSpc>
                <a:spcPct val="100000"/>
              </a:lnSpc>
              <a:buNone/>
            </a:pPr>
            <a:fld id="{E06F8838-676C-4C29-B1B8-4B663B869DF6}" type="slidenum">
              <a:rPr lang="en-US" sz="1000" b="0" u="none" strike="noStrike">
                <a:solidFill>
                  <a:srgbClr val="7A8AA6"/>
                </a:solidFill>
                <a:effectLst/>
                <a:uFillTx/>
                <a:latin typeface="Calibri"/>
              </a:rPr>
            </a:fld>
            <a:endParaRPr lang="en-US" sz="100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PlaceHolder 1"/>
          <p:cNvSpPr>
            <a:spLocks noGrp="1"/>
          </p:cNvSpPr>
          <p:nvPr>
            <p:ph type="title" hasCustomPrompt="1"/>
          </p:nvPr>
        </p:nvSpPr>
        <p:spPr>
          <a:xfrm>
            <a:off x="548640" y="365760"/>
            <a:ext cx="11063880" cy="776880"/>
          </a:xfrm>
          <a:prstGeom prst="rect">
            <a:avLst/>
          </a:prstGeom>
          <a:noFill/>
          <a:ln w="0">
            <a:noFill/>
          </a:ln>
        </p:spPr>
        <p:txBody>
          <a:bodyPr lIns="0" tIns="0" rIns="0" bIns="0" anchor="ctr">
            <a:noAutofit/>
          </a:bodyPr>
          <a:p>
            <a:pPr indent="0" algn="ctr" defTabSz="914400">
              <a:lnSpc>
                <a:spcPct val="100000"/>
              </a:lnSpc>
              <a:buNone/>
              <a:tabLst>
                <a:tab pos="0" algn="l"/>
              </a:tabLst>
            </a:pPr>
            <a:r>
              <a:rPr lang="en-US" sz="3400" b="1" u="none" strike="noStrike">
                <a:solidFill>
                  <a:schemeClr val="dk2"/>
                </a:solidFill>
                <a:effectLst/>
                <a:uFillTx/>
                <a:latin typeface="Cambria"/>
              </a:rPr>
              <a:t>Live workflow: memory and continuity</a:t>
            </a:r>
            <a:endParaRPr lang="en-US" sz="3400" b="0" u="none" strike="noStrike">
              <a:solidFill>
                <a:schemeClr val="dk1"/>
              </a:solidFill>
              <a:effectLst/>
              <a:uFillTx/>
              <a:latin typeface="Calibri"/>
            </a:endParaRPr>
          </a:p>
        </p:txBody>
      </p:sp>
      <p:sp>
        <p:nvSpPr>
          <p:cNvPr id="150" name="quote bar"/>
          <p:cNvSpPr/>
          <p:nvPr/>
        </p:nvSpPr>
        <p:spPr>
          <a:xfrm>
            <a:off x="548640" y="1325880"/>
            <a:ext cx="11091240" cy="776880"/>
          </a:xfrm>
          <a:prstGeom prst="roundRect">
            <a:avLst>
              <a:gd name="adj" fmla="val 14118"/>
            </a:avLst>
          </a:prstGeom>
          <a:solidFill>
            <a:schemeClr val="accent1"/>
          </a:solidFill>
          <a:ln w="12700">
            <a:solidFill>
              <a:srgbClr val="F2B705"/>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151" name="Text 2"/>
          <p:cNvSpPr/>
          <p:nvPr/>
        </p:nvSpPr>
        <p:spPr>
          <a:xfrm>
            <a:off x="822960" y="1325880"/>
            <a:ext cx="10515240" cy="7768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300" b="1" u="none" strike="noStrike">
                <a:solidFill>
                  <a:schemeClr val="dk2"/>
                </a:solidFill>
                <a:effectLst/>
                <a:uFillTx/>
                <a:latin typeface="Calibri"/>
              </a:rPr>
              <a:t>Returning customer says:  </a:t>
            </a:r>
            <a:r>
              <a:rPr lang="en-US" sz="1800" b="0" i="1" u="none" strike="noStrike">
                <a:solidFill>
                  <a:schemeClr val="dk2"/>
                </a:solidFill>
                <a:effectLst/>
                <a:uFillTx/>
                <a:latin typeface="Calibri"/>
              </a:rPr>
              <a:t>“What is the update on my issue?”</a:t>
            </a:r>
            <a:endParaRPr lang="en-US" sz="1800" b="0" u="none" strike="noStrike">
              <a:solidFill>
                <a:srgbClr val="000000"/>
              </a:solidFill>
              <a:effectLst/>
              <a:uFillTx/>
              <a:latin typeface="Arial" panose="020B0604020202020204"/>
            </a:endParaRPr>
          </a:p>
        </p:txBody>
      </p:sp>
      <p:sp>
        <p:nvSpPr>
          <p:cNvPr id="152" name="step card 1"/>
          <p:cNvSpPr/>
          <p:nvPr/>
        </p:nvSpPr>
        <p:spPr>
          <a:xfrm>
            <a:off x="548640" y="2331720"/>
            <a:ext cx="2633040" cy="1416960"/>
          </a:xfrm>
          <a:prstGeom prst="roundRect">
            <a:avLst>
              <a:gd name="adj" fmla="val 7742"/>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153" name="icon circle"/>
          <p:cNvSpPr/>
          <p:nvPr/>
        </p:nvSpPr>
        <p:spPr>
          <a:xfrm>
            <a:off x="731520" y="2468880"/>
            <a:ext cx="502560" cy="502560"/>
          </a:xfrm>
          <a:prstGeom prst="ellipse">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154" name="Image 0" descr="icon"/>
          <p:cNvPicPr/>
          <p:nvPr/>
        </p:nvPicPr>
        <p:blipFill>
          <a:blip r:embed="rId1"/>
          <a:stretch>
            <a:fillRect/>
          </a:stretch>
        </p:blipFill>
        <p:spPr>
          <a:xfrm>
            <a:off x="862200" y="2599560"/>
            <a:ext cx="241200" cy="241200"/>
          </a:xfrm>
          <a:prstGeom prst="rect">
            <a:avLst/>
          </a:prstGeom>
          <a:noFill/>
          <a:ln w="0">
            <a:noFill/>
          </a:ln>
        </p:spPr>
      </p:pic>
      <p:sp>
        <p:nvSpPr>
          <p:cNvPr id="155" name="Text 5"/>
          <p:cNvSpPr/>
          <p:nvPr/>
        </p:nvSpPr>
        <p:spPr>
          <a:xfrm>
            <a:off x="2468880" y="2423160"/>
            <a:ext cx="54828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pPr>
            <a:r>
              <a:rPr lang="en-US" sz="2400" b="1" u="none" strike="noStrike">
                <a:solidFill>
                  <a:schemeClr val="accent6"/>
                </a:solidFill>
                <a:effectLst/>
                <a:uFillTx/>
                <a:latin typeface="Cambria"/>
                <a:ea typeface="Cambria"/>
              </a:rPr>
              <a:t>1</a:t>
            </a:r>
            <a:endParaRPr lang="en-US" sz="2400" b="0" u="none" strike="noStrike">
              <a:solidFill>
                <a:srgbClr val="000000"/>
              </a:solidFill>
              <a:effectLst/>
              <a:uFillTx/>
              <a:latin typeface="Arial" panose="020B0604020202020204"/>
            </a:endParaRPr>
          </a:p>
        </p:txBody>
      </p:sp>
      <p:sp>
        <p:nvSpPr>
          <p:cNvPr id="156" name="Text 6"/>
          <p:cNvSpPr/>
          <p:nvPr/>
        </p:nvSpPr>
        <p:spPr>
          <a:xfrm>
            <a:off x="731520" y="3063240"/>
            <a:ext cx="2285640"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Loads prior case information from memory</a:t>
            </a:r>
            <a:endParaRPr lang="en-US" sz="1400" b="0" u="none" strike="noStrike">
              <a:solidFill>
                <a:srgbClr val="000000"/>
              </a:solidFill>
              <a:effectLst/>
              <a:uFillTx/>
              <a:latin typeface="Arial" panose="020B0604020202020204"/>
            </a:endParaRPr>
          </a:p>
        </p:txBody>
      </p:sp>
      <p:sp>
        <p:nvSpPr>
          <p:cNvPr id="157" name="step card 2"/>
          <p:cNvSpPr/>
          <p:nvPr/>
        </p:nvSpPr>
        <p:spPr>
          <a:xfrm>
            <a:off x="3364920" y="2331720"/>
            <a:ext cx="2633040" cy="1416960"/>
          </a:xfrm>
          <a:prstGeom prst="roundRect">
            <a:avLst>
              <a:gd name="adj" fmla="val 7742"/>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158" name="icon circle"/>
          <p:cNvSpPr/>
          <p:nvPr/>
        </p:nvSpPr>
        <p:spPr>
          <a:xfrm>
            <a:off x="3547800" y="2468880"/>
            <a:ext cx="502560" cy="502560"/>
          </a:xfrm>
          <a:prstGeom prst="ellipse">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159" name="Image 1" descr="icon"/>
          <p:cNvPicPr/>
          <p:nvPr/>
        </p:nvPicPr>
        <p:blipFill>
          <a:blip r:embed="rId2"/>
          <a:stretch>
            <a:fillRect/>
          </a:stretch>
        </p:blipFill>
        <p:spPr>
          <a:xfrm>
            <a:off x="3678480" y="2599560"/>
            <a:ext cx="241200" cy="241200"/>
          </a:xfrm>
          <a:prstGeom prst="rect">
            <a:avLst/>
          </a:prstGeom>
          <a:noFill/>
          <a:ln w="0">
            <a:noFill/>
          </a:ln>
        </p:spPr>
      </p:pic>
      <p:sp>
        <p:nvSpPr>
          <p:cNvPr id="160" name="Text 9"/>
          <p:cNvSpPr/>
          <p:nvPr/>
        </p:nvSpPr>
        <p:spPr>
          <a:xfrm>
            <a:off x="5285160" y="2423160"/>
            <a:ext cx="54828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pPr>
            <a:r>
              <a:rPr lang="en-US" sz="2400" b="1" u="none" strike="noStrike">
                <a:solidFill>
                  <a:schemeClr val="accent6"/>
                </a:solidFill>
                <a:effectLst/>
                <a:uFillTx/>
                <a:latin typeface="Cambria"/>
                <a:ea typeface="Cambria"/>
              </a:rPr>
              <a:t>2</a:t>
            </a:r>
            <a:endParaRPr lang="en-US" sz="2400" b="0" u="none" strike="noStrike">
              <a:solidFill>
                <a:srgbClr val="000000"/>
              </a:solidFill>
              <a:effectLst/>
              <a:uFillTx/>
              <a:latin typeface="Arial" panose="020B0604020202020204"/>
            </a:endParaRPr>
          </a:p>
        </p:txBody>
      </p:sp>
      <p:sp>
        <p:nvSpPr>
          <p:cNvPr id="161" name="Text 10"/>
          <p:cNvSpPr/>
          <p:nvPr/>
        </p:nvSpPr>
        <p:spPr>
          <a:xfrm>
            <a:off x="3547800" y="3063240"/>
            <a:ext cx="2285640"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Finds the existing ticket associated with the customer</a:t>
            </a:r>
            <a:endParaRPr lang="en-US" sz="1400" b="0" u="none" strike="noStrike">
              <a:solidFill>
                <a:srgbClr val="000000"/>
              </a:solidFill>
              <a:effectLst/>
              <a:uFillTx/>
              <a:latin typeface="Arial" panose="020B0604020202020204"/>
            </a:endParaRPr>
          </a:p>
        </p:txBody>
      </p:sp>
      <p:sp>
        <p:nvSpPr>
          <p:cNvPr id="162" name="step card 3"/>
          <p:cNvSpPr/>
          <p:nvPr/>
        </p:nvSpPr>
        <p:spPr>
          <a:xfrm>
            <a:off x="6181200" y="2331720"/>
            <a:ext cx="2633040" cy="1416960"/>
          </a:xfrm>
          <a:prstGeom prst="roundRect">
            <a:avLst>
              <a:gd name="adj" fmla="val 7742"/>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163" name="icon circle"/>
          <p:cNvSpPr/>
          <p:nvPr/>
        </p:nvSpPr>
        <p:spPr>
          <a:xfrm>
            <a:off x="6364080" y="2468880"/>
            <a:ext cx="502560" cy="502560"/>
          </a:xfrm>
          <a:prstGeom prst="ellipse">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164" name="Image 2" descr="icon"/>
          <p:cNvPicPr/>
          <p:nvPr/>
        </p:nvPicPr>
        <p:blipFill>
          <a:blip r:embed="rId3"/>
          <a:stretch>
            <a:fillRect/>
          </a:stretch>
        </p:blipFill>
        <p:spPr>
          <a:xfrm>
            <a:off x="6495120" y="2599560"/>
            <a:ext cx="241200" cy="241200"/>
          </a:xfrm>
          <a:prstGeom prst="rect">
            <a:avLst/>
          </a:prstGeom>
          <a:noFill/>
          <a:ln w="0">
            <a:noFill/>
          </a:ln>
        </p:spPr>
      </p:pic>
      <p:sp>
        <p:nvSpPr>
          <p:cNvPr id="165" name="Text 13"/>
          <p:cNvSpPr/>
          <p:nvPr/>
        </p:nvSpPr>
        <p:spPr>
          <a:xfrm>
            <a:off x="8101440" y="2423160"/>
            <a:ext cx="54828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pPr>
            <a:r>
              <a:rPr lang="en-US" sz="2400" b="1" u="none" strike="noStrike">
                <a:solidFill>
                  <a:schemeClr val="accent6"/>
                </a:solidFill>
                <a:effectLst/>
                <a:uFillTx/>
                <a:latin typeface="Cambria"/>
                <a:ea typeface="Cambria"/>
              </a:rPr>
              <a:t>3</a:t>
            </a:r>
            <a:endParaRPr lang="en-US" sz="2400" b="0" u="none" strike="noStrike">
              <a:solidFill>
                <a:srgbClr val="000000"/>
              </a:solidFill>
              <a:effectLst/>
              <a:uFillTx/>
              <a:latin typeface="Arial" panose="020B0604020202020204"/>
            </a:endParaRPr>
          </a:p>
        </p:txBody>
      </p:sp>
      <p:sp>
        <p:nvSpPr>
          <p:cNvPr id="166" name="Text 14"/>
          <p:cNvSpPr/>
          <p:nvPr/>
        </p:nvSpPr>
        <p:spPr>
          <a:xfrm>
            <a:off x="6364080" y="3063240"/>
            <a:ext cx="2285640"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Uses the stored ticket ID without asking the user to repeat it</a:t>
            </a:r>
            <a:endParaRPr lang="en-US" sz="1400" b="0" u="none" strike="noStrike">
              <a:solidFill>
                <a:srgbClr val="000000"/>
              </a:solidFill>
              <a:effectLst/>
              <a:uFillTx/>
              <a:latin typeface="Arial" panose="020B0604020202020204"/>
            </a:endParaRPr>
          </a:p>
        </p:txBody>
      </p:sp>
      <p:sp>
        <p:nvSpPr>
          <p:cNvPr id="167" name="step card 4"/>
          <p:cNvSpPr/>
          <p:nvPr/>
        </p:nvSpPr>
        <p:spPr>
          <a:xfrm>
            <a:off x="8997840" y="2331720"/>
            <a:ext cx="2633040" cy="1416960"/>
          </a:xfrm>
          <a:prstGeom prst="roundRect">
            <a:avLst>
              <a:gd name="adj" fmla="val 7742"/>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168" name="icon circle"/>
          <p:cNvSpPr/>
          <p:nvPr/>
        </p:nvSpPr>
        <p:spPr>
          <a:xfrm>
            <a:off x="9180720" y="2468880"/>
            <a:ext cx="502560" cy="502560"/>
          </a:xfrm>
          <a:prstGeom prst="ellipse">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169" name="Image 3" descr="icon"/>
          <p:cNvPicPr/>
          <p:nvPr/>
        </p:nvPicPr>
        <p:blipFill>
          <a:blip r:embed="rId4"/>
          <a:stretch>
            <a:fillRect/>
          </a:stretch>
        </p:blipFill>
        <p:spPr>
          <a:xfrm>
            <a:off x="9311400" y="2599560"/>
            <a:ext cx="241200" cy="241200"/>
          </a:xfrm>
          <a:prstGeom prst="rect">
            <a:avLst/>
          </a:prstGeom>
          <a:noFill/>
          <a:ln w="0">
            <a:noFill/>
          </a:ln>
        </p:spPr>
      </p:pic>
      <p:sp>
        <p:nvSpPr>
          <p:cNvPr id="170" name="Text 17"/>
          <p:cNvSpPr/>
          <p:nvPr/>
        </p:nvSpPr>
        <p:spPr>
          <a:xfrm>
            <a:off x="10918080" y="2423160"/>
            <a:ext cx="54828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pPr>
            <a:r>
              <a:rPr lang="en-US" sz="2400" b="1" u="none" strike="noStrike">
                <a:solidFill>
                  <a:schemeClr val="accent6"/>
                </a:solidFill>
                <a:effectLst/>
                <a:uFillTx/>
                <a:latin typeface="Cambria"/>
                <a:ea typeface="Cambria"/>
              </a:rPr>
              <a:t>4</a:t>
            </a:r>
            <a:endParaRPr lang="en-US" sz="2400" b="0" u="none" strike="noStrike">
              <a:solidFill>
                <a:srgbClr val="000000"/>
              </a:solidFill>
              <a:effectLst/>
              <a:uFillTx/>
              <a:latin typeface="Arial" panose="020B0604020202020204"/>
            </a:endParaRPr>
          </a:p>
        </p:txBody>
      </p:sp>
      <p:sp>
        <p:nvSpPr>
          <p:cNvPr id="171" name="Text 18"/>
          <p:cNvSpPr/>
          <p:nvPr/>
        </p:nvSpPr>
        <p:spPr>
          <a:xfrm>
            <a:off x="9180720" y="3063240"/>
            <a:ext cx="2285640" cy="5940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Checks ticket status</a:t>
            </a:r>
            <a:endParaRPr lang="en-US" sz="1400" b="0" u="none" strike="noStrike">
              <a:solidFill>
                <a:srgbClr val="000000"/>
              </a:solidFill>
              <a:effectLst/>
              <a:uFillTx/>
              <a:latin typeface="Arial" panose="020B0604020202020204"/>
            </a:endParaRPr>
          </a:p>
        </p:txBody>
      </p:sp>
      <p:sp>
        <p:nvSpPr>
          <p:cNvPr id="172" name="terminal panel"/>
          <p:cNvSpPr/>
          <p:nvPr/>
        </p:nvSpPr>
        <p:spPr>
          <a:xfrm>
            <a:off x="548640" y="3977640"/>
            <a:ext cx="6674760" cy="2239920"/>
          </a:xfrm>
          <a:prstGeom prst="roundRect">
            <a:avLst>
              <a:gd name="adj" fmla="val 4082"/>
            </a:avLst>
          </a:prstGeom>
          <a:solidFill>
            <a:schemeClr val="tx2"/>
          </a:solidFill>
          <a:ln w="12700">
            <a:solidFill>
              <a:srgbClr val="0B1F3A"/>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73" name="Shape 20"/>
          <p:cNvSpPr/>
          <p:nvPr/>
        </p:nvSpPr>
        <p:spPr>
          <a:xfrm>
            <a:off x="777240" y="4160520"/>
            <a:ext cx="145800" cy="145800"/>
          </a:xfrm>
          <a:prstGeom prst="ellipse">
            <a:avLst/>
          </a:prstGeom>
          <a:solidFill>
            <a:schemeClr val="accent3"/>
          </a:solidFill>
          <a:ln w="12700">
            <a:solidFill>
              <a:srgbClr val="E5484D"/>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74" name="Shape 21"/>
          <p:cNvSpPr/>
          <p:nvPr/>
        </p:nvSpPr>
        <p:spPr>
          <a:xfrm>
            <a:off x="1033200" y="4160520"/>
            <a:ext cx="145800" cy="145800"/>
          </a:xfrm>
          <a:prstGeom prst="ellipse">
            <a:avLst/>
          </a:prstGeom>
          <a:solidFill>
            <a:schemeClr val="accent1"/>
          </a:solidFill>
          <a:ln w="12700">
            <a:solidFill>
              <a:srgbClr val="F2B705"/>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175" name="Shape 22"/>
          <p:cNvSpPr/>
          <p:nvPr/>
        </p:nvSpPr>
        <p:spPr>
          <a:xfrm>
            <a:off x="1289160" y="4160520"/>
            <a:ext cx="145800" cy="145800"/>
          </a:xfrm>
          <a:prstGeom prst="ellipse">
            <a:avLst/>
          </a:prstGeom>
          <a:solidFill>
            <a:schemeClr val="accent4"/>
          </a:solidFill>
          <a:ln w="12700">
            <a:solidFill>
              <a:srgbClr val="2FB380"/>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76" name="Text 23"/>
          <p:cNvSpPr/>
          <p:nvPr/>
        </p:nvSpPr>
        <p:spPr>
          <a:xfrm>
            <a:off x="1645920" y="4069080"/>
            <a:ext cx="5303160" cy="328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pPr>
            <a:r>
              <a:rPr lang="en-US" sz="1100" b="0" u="none" strike="noStrike">
                <a:solidFill>
                  <a:schemeClr val="accent6"/>
                </a:solidFill>
                <a:effectLst/>
                <a:uFillTx/>
                <a:latin typeface="Calibri"/>
              </a:rPr>
              <a:t>Week 6 demo output</a:t>
            </a:r>
            <a:endParaRPr lang="en-US" sz="1100" b="0" u="none" strike="noStrike">
              <a:solidFill>
                <a:srgbClr val="000000"/>
              </a:solidFill>
              <a:effectLst/>
              <a:uFillTx/>
              <a:latin typeface="Arial" panose="020B0604020202020204"/>
            </a:endParaRPr>
          </a:p>
        </p:txBody>
      </p:sp>
      <p:sp>
        <p:nvSpPr>
          <p:cNvPr id="177" name="Text 24"/>
          <p:cNvSpPr/>
          <p:nvPr/>
        </p:nvSpPr>
        <p:spPr>
          <a:xfrm>
            <a:off x="822960" y="4526280"/>
            <a:ext cx="6126120" cy="1554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spcAft>
                <a:spcPts val="500"/>
              </a:spcAft>
              <a:tabLst>
                <a:tab pos="0" algn="l"/>
              </a:tabLst>
            </a:pPr>
            <a:r>
              <a:rPr lang="en-US" sz="1300" b="1" u="none" strike="noStrike">
                <a:solidFill>
                  <a:schemeClr val="accent1"/>
                </a:solidFill>
                <a:effectLst/>
                <a:uFillTx/>
                <a:latin typeface="Courier New" panose="02070309020205020404"/>
                <a:ea typeface="Courier New" panose="02070309020205020404"/>
              </a:rPr>
              <a:t>[MEMORY_LOADED]</a:t>
            </a:r>
            <a:endParaRPr lang="en-US" sz="1300" b="0" u="none" strike="noStrike">
              <a:solidFill>
                <a:srgbClr val="000000"/>
              </a:solidFill>
              <a:effectLst/>
              <a:uFillTx/>
              <a:latin typeface="Arial" panose="020B0604020202020204"/>
            </a:endParaRPr>
          </a:p>
          <a:p>
            <a:pPr defTabSz="914400">
              <a:lnSpc>
                <a:spcPct val="100000"/>
              </a:lnSpc>
              <a:spcAft>
                <a:spcPts val="500"/>
              </a:spcAft>
              <a:tabLst>
                <a:tab pos="0" algn="l"/>
              </a:tabLst>
            </a:pPr>
            <a:r>
              <a:rPr lang="en-US" sz="1300" b="0" u="none" strike="noStrike">
                <a:solidFill>
                  <a:schemeClr val="lt1"/>
                </a:solidFill>
                <a:effectLst/>
                <a:uFillTx/>
                <a:latin typeface="Courier New" panose="02070309020205020404"/>
                <a:ea typeface="Courier New" panose="02070309020205020404"/>
              </a:rPr>
              <a:t>1 prior case(s) found for this customer</a:t>
            </a:r>
            <a:endParaRPr lang="en-US" sz="1300" b="0" u="none" strike="noStrike">
              <a:solidFill>
                <a:srgbClr val="000000"/>
              </a:solidFill>
              <a:effectLst/>
              <a:uFillTx/>
              <a:latin typeface="Arial" panose="020B0604020202020204"/>
            </a:endParaRPr>
          </a:p>
          <a:p>
            <a:pPr defTabSz="914400">
              <a:lnSpc>
                <a:spcPct val="100000"/>
              </a:lnSpc>
              <a:spcAft>
                <a:spcPts val="500"/>
              </a:spcAft>
              <a:tabLst>
                <a:tab pos="0" algn="l"/>
              </a:tabLst>
            </a:pPr>
            <a:r>
              <a:rPr lang="en-US" sz="1300" b="0" u="none" strike="noStrike">
                <a:solidFill>
                  <a:schemeClr val="lt1"/>
                </a:solidFill>
                <a:effectLst/>
                <a:uFillTx/>
                <a:latin typeface="Courier New" panose="02070309020205020404"/>
                <a:ea typeface="Courier New" panose="02070309020205020404"/>
              </a:rPr>
              <a:t>ticket=CS-10245 status=in_progress category=mobile_banking</a:t>
            </a:r>
            <a:endParaRPr lang="en-US" sz="1300" b="0" u="none" strike="noStrike">
              <a:solidFill>
                <a:srgbClr val="000000"/>
              </a:solidFill>
              <a:effectLst/>
              <a:uFillTx/>
              <a:latin typeface="Arial" panose="020B0604020202020204"/>
            </a:endParaRPr>
          </a:p>
          <a:p>
            <a:pPr defTabSz="914400">
              <a:lnSpc>
                <a:spcPct val="100000"/>
              </a:lnSpc>
              <a:spcAft>
                <a:spcPts val="500"/>
              </a:spcAft>
              <a:tabLst>
                <a:tab pos="0" algn="l"/>
              </a:tabLst>
            </a:pPr>
            <a:r>
              <a:rPr lang="en-US" sz="1300" b="1" u="none" strike="noStrike">
                <a:solidFill>
                  <a:schemeClr val="accent4"/>
                </a:solidFill>
                <a:effectLst/>
                <a:uFillTx/>
                <a:latin typeface="Courier New" panose="02070309020205020404"/>
                <a:ea typeface="Courier New" panose="02070309020205020404"/>
              </a:rPr>
              <a:t>Final outcome: TICKET_STATUS_RETURNED</a:t>
            </a:r>
            <a:endParaRPr lang="en-US" sz="1300" b="0" u="none" strike="noStrike">
              <a:solidFill>
                <a:srgbClr val="000000"/>
              </a:solidFill>
              <a:effectLst/>
              <a:uFillTx/>
              <a:latin typeface="Arial" panose="020B0604020202020204"/>
            </a:endParaRPr>
          </a:p>
          <a:p>
            <a:pPr defTabSz="914400">
              <a:lnSpc>
                <a:spcPct val="100000"/>
              </a:lnSpc>
              <a:spcAft>
                <a:spcPts val="500"/>
              </a:spcAft>
              <a:tabLst>
                <a:tab pos="0" algn="l"/>
              </a:tabLst>
            </a:pPr>
            <a:r>
              <a:rPr lang="en-US" sz="1300" b="0" u="none" strike="noStrike">
                <a:solidFill>
                  <a:schemeClr val="lt1"/>
                </a:solidFill>
                <a:effectLst/>
                <a:uFillTx/>
                <a:latin typeface="Courier New" panose="02070309020205020404"/>
                <a:ea typeface="Courier New" panose="02070309020205020404"/>
              </a:rPr>
              <a:t>“Ticket CS-10245 — Status: in_progress.”</a:t>
            </a:r>
            <a:endParaRPr lang="en-US" sz="1300" b="0" u="none" strike="noStrike">
              <a:solidFill>
                <a:srgbClr val="000000"/>
              </a:solidFill>
              <a:effectLst/>
              <a:uFillTx/>
              <a:latin typeface="Arial" panose="020B0604020202020204"/>
            </a:endParaRPr>
          </a:p>
        </p:txBody>
      </p:sp>
      <p:sp>
        <p:nvSpPr>
          <p:cNvPr id="178" name="memory callout"/>
          <p:cNvSpPr/>
          <p:nvPr/>
        </p:nvSpPr>
        <p:spPr>
          <a:xfrm>
            <a:off x="7452360" y="3977640"/>
            <a:ext cx="4187520" cy="2239920"/>
          </a:xfrm>
          <a:prstGeom prst="roundRect">
            <a:avLst>
              <a:gd name="adj" fmla="val 4898"/>
            </a:avLst>
          </a:prstGeom>
          <a:solidFill>
            <a:schemeClr val="tx2"/>
          </a:solidFill>
          <a:ln w="12700">
            <a:solidFill>
              <a:srgbClr val="0B1F3A"/>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79" name="icon circle"/>
          <p:cNvSpPr/>
          <p:nvPr/>
        </p:nvSpPr>
        <p:spPr>
          <a:xfrm>
            <a:off x="7726680" y="4206240"/>
            <a:ext cx="639720" cy="639720"/>
          </a:xfrm>
          <a:prstGeom prst="ellipse">
            <a:avLst/>
          </a:prstGeom>
          <a:solidFill>
            <a:schemeClr val="accent1"/>
          </a:solidFill>
          <a:ln w="12700">
            <a:solidFill>
              <a:srgbClr val="F2B705"/>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pic>
        <p:nvPicPr>
          <p:cNvPr id="180" name="Image 4" descr="icon"/>
          <p:cNvPicPr/>
          <p:nvPr/>
        </p:nvPicPr>
        <p:blipFill>
          <a:blip r:embed="rId5"/>
          <a:stretch>
            <a:fillRect/>
          </a:stretch>
        </p:blipFill>
        <p:spPr>
          <a:xfrm>
            <a:off x="7893000" y="4372560"/>
            <a:ext cx="306720" cy="306720"/>
          </a:xfrm>
          <a:prstGeom prst="rect">
            <a:avLst/>
          </a:prstGeom>
          <a:noFill/>
          <a:ln w="0">
            <a:noFill/>
          </a:ln>
        </p:spPr>
      </p:pic>
      <p:sp>
        <p:nvSpPr>
          <p:cNvPr id="181" name="Text 27"/>
          <p:cNvSpPr/>
          <p:nvPr/>
        </p:nvSpPr>
        <p:spPr>
          <a:xfrm>
            <a:off x="8503920" y="4160520"/>
            <a:ext cx="3017160" cy="7311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800" b="1" u="none" strike="noStrike">
                <a:solidFill>
                  <a:schemeClr val="lt1"/>
                </a:solidFill>
                <a:effectLst/>
                <a:uFillTx/>
                <a:latin typeface="Cambria"/>
                <a:ea typeface="Cambria"/>
              </a:rPr>
              <a:t>Memory is not authorization</a:t>
            </a:r>
            <a:endParaRPr lang="en-US" sz="1800" b="0" u="none" strike="noStrike">
              <a:solidFill>
                <a:srgbClr val="000000"/>
              </a:solidFill>
              <a:effectLst/>
              <a:uFillTx/>
              <a:latin typeface="Arial" panose="020B0604020202020204"/>
            </a:endParaRPr>
          </a:p>
        </p:txBody>
      </p:sp>
      <p:sp>
        <p:nvSpPr>
          <p:cNvPr id="182" name="Text 28"/>
          <p:cNvSpPr/>
          <p:nvPr/>
        </p:nvSpPr>
        <p:spPr>
          <a:xfrm>
            <a:off x="7726680" y="5029200"/>
            <a:ext cx="3657240" cy="10054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pPr>
            <a:r>
              <a:rPr lang="en-US" sz="1400" b="0" u="none" strike="noStrike">
                <a:solidFill>
                  <a:schemeClr val="lt2"/>
                </a:solidFill>
                <a:effectLst/>
                <a:uFillTx/>
                <a:latin typeface="Calibri"/>
              </a:rPr>
              <a:t>Memory improves continuity for a returning customer without creating authorization by itself.</a:t>
            </a:r>
            <a:endParaRPr lang="en-US" sz="1400" b="0" u="none" strike="noStrike">
              <a:solidFill>
                <a:srgbClr val="000000"/>
              </a:solidFill>
              <a:effectLst/>
              <a:uFillTx/>
              <a:latin typeface="Arial" panose="020B0604020202020204"/>
            </a:endParaRPr>
          </a:p>
        </p:txBody>
      </p:sp>
      <p:sp>
        <p:nvSpPr>
          <p:cNvPr id="183" name="PlaceHolder 2"/>
          <p:cNvSpPr>
            <a:spLocks noGrp="1"/>
          </p:cNvSpPr>
          <p:nvPr>
            <p:ph type="sldNum" idx="9"/>
          </p:nvPr>
        </p:nvSpPr>
        <p:spPr>
          <a:xfrm>
            <a:off x="1124712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000" b="0" u="none" strike="noStrike">
                <a:solidFill>
                  <a:srgbClr val="7A8AA6"/>
                </a:solidFill>
                <a:effectLst/>
                <a:uFillTx/>
                <a:latin typeface="Calibri"/>
              </a:defRPr>
            </a:lvl1pPr>
          </a:lstStyle>
          <a:p>
            <a:pPr indent="0" algn="l" defTabSz="914400">
              <a:lnSpc>
                <a:spcPct val="100000"/>
              </a:lnSpc>
              <a:buNone/>
            </a:pPr>
            <a:fld id="{FAFEA4C9-608A-4DE8-840B-0FEA0CDF5757}" type="slidenum">
              <a:rPr lang="en-US" sz="1000" b="0" u="none" strike="noStrike">
                <a:solidFill>
                  <a:srgbClr val="7A8AA6"/>
                </a:solidFill>
                <a:effectLst/>
                <a:uFillTx/>
                <a:latin typeface="Calibri"/>
              </a:rPr>
            </a:fld>
            <a:endParaRPr lang="en-US" sz="100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title" hasCustomPrompt="1"/>
          </p:nvPr>
        </p:nvSpPr>
        <p:spPr>
          <a:xfrm>
            <a:off x="548640" y="365760"/>
            <a:ext cx="11063880" cy="776880"/>
          </a:xfrm>
          <a:prstGeom prst="rect">
            <a:avLst/>
          </a:prstGeom>
          <a:noFill/>
          <a:ln w="0">
            <a:noFill/>
          </a:ln>
        </p:spPr>
        <p:txBody>
          <a:bodyPr lIns="0" tIns="0" rIns="0" bIns="0" anchor="ctr">
            <a:noAutofit/>
          </a:bodyPr>
          <a:p>
            <a:pPr indent="0" algn="ctr" defTabSz="914400">
              <a:lnSpc>
                <a:spcPct val="100000"/>
              </a:lnSpc>
              <a:buNone/>
              <a:tabLst>
                <a:tab pos="0" algn="l"/>
              </a:tabLst>
            </a:pPr>
            <a:r>
              <a:rPr lang="en-US" sz="3400" b="1" u="none" strike="noStrike">
                <a:solidFill>
                  <a:schemeClr val="lt1"/>
                </a:solidFill>
                <a:effectLst/>
                <a:uFillTx/>
                <a:latin typeface="Cambria"/>
              </a:rPr>
              <a:t>Engineering evidence: inspectable traces</a:t>
            </a:r>
            <a:endParaRPr lang="en-US" sz="3400" b="0" u="none" strike="noStrike">
              <a:solidFill>
                <a:schemeClr val="dk1"/>
              </a:solidFill>
              <a:effectLst/>
              <a:uFillTx/>
              <a:latin typeface="Calibri"/>
            </a:endParaRPr>
          </a:p>
        </p:txBody>
      </p:sp>
      <p:sp>
        <p:nvSpPr>
          <p:cNvPr id="185" name="trace step 1"/>
          <p:cNvSpPr/>
          <p:nvPr/>
        </p:nvSpPr>
        <p:spPr>
          <a:xfrm>
            <a:off x="548640" y="1417320"/>
            <a:ext cx="1462680" cy="868320"/>
          </a:xfrm>
          <a:prstGeom prst="roundRect">
            <a:avLst>
              <a:gd name="adj" fmla="val 10526"/>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86" name="Text 2"/>
          <p:cNvSpPr/>
          <p:nvPr/>
        </p:nvSpPr>
        <p:spPr>
          <a:xfrm>
            <a:off x="548640" y="1463040"/>
            <a:ext cx="1462680" cy="319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300" b="1" u="none" strike="noStrike">
                <a:solidFill>
                  <a:schemeClr val="accent1"/>
                </a:solidFill>
                <a:effectLst/>
                <a:uFillTx/>
                <a:latin typeface="Calibri"/>
              </a:rPr>
              <a:t>1</a:t>
            </a:r>
            <a:endParaRPr lang="en-US" sz="1300" b="0" u="none" strike="noStrike">
              <a:solidFill>
                <a:srgbClr val="FFFFFF"/>
              </a:solidFill>
              <a:effectLst/>
              <a:uFillTx/>
              <a:latin typeface="Arial" panose="020B0604020202020204"/>
            </a:endParaRPr>
          </a:p>
        </p:txBody>
      </p:sp>
      <p:sp>
        <p:nvSpPr>
          <p:cNvPr id="187" name="Text 3"/>
          <p:cNvSpPr/>
          <p:nvPr/>
        </p:nvSpPr>
        <p:spPr>
          <a:xfrm>
            <a:off x="548640" y="1783080"/>
            <a:ext cx="1462680" cy="411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050" b="1" u="none" strike="noStrike">
                <a:solidFill>
                  <a:schemeClr val="lt1"/>
                </a:solidFill>
                <a:effectLst/>
                <a:uFillTx/>
                <a:latin typeface="Courier New" panose="02070309020205020404"/>
                <a:ea typeface="Courier New" panose="02070309020205020404"/>
              </a:rPr>
              <a:t>MEMORY_LOADED</a:t>
            </a:r>
            <a:endParaRPr lang="en-US" sz="1050" b="0" u="none" strike="noStrike">
              <a:solidFill>
                <a:srgbClr val="FFFFFF"/>
              </a:solidFill>
              <a:effectLst/>
              <a:uFillTx/>
              <a:latin typeface="Arial" panose="020B0604020202020204"/>
            </a:endParaRPr>
          </a:p>
        </p:txBody>
      </p:sp>
      <p:sp>
        <p:nvSpPr>
          <p:cNvPr id="188" name="Text 4"/>
          <p:cNvSpPr/>
          <p:nvPr/>
        </p:nvSpPr>
        <p:spPr>
          <a:xfrm>
            <a:off x="1993320" y="1554480"/>
            <a:ext cx="182520" cy="5482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2000" b="1" u="none" strike="noStrike">
                <a:solidFill>
                  <a:schemeClr val="accent1"/>
                </a:solidFill>
                <a:effectLst/>
                <a:uFillTx/>
                <a:latin typeface="Calibri"/>
              </a:rPr>
              <a:t>›</a:t>
            </a:r>
            <a:endParaRPr lang="en-US" sz="2000" b="0" u="none" strike="noStrike">
              <a:solidFill>
                <a:srgbClr val="FFFFFF"/>
              </a:solidFill>
              <a:effectLst/>
              <a:uFillTx/>
              <a:latin typeface="Arial" panose="020B0604020202020204"/>
            </a:endParaRPr>
          </a:p>
        </p:txBody>
      </p:sp>
      <p:sp>
        <p:nvSpPr>
          <p:cNvPr id="189" name="trace step 2"/>
          <p:cNvSpPr/>
          <p:nvPr/>
        </p:nvSpPr>
        <p:spPr>
          <a:xfrm>
            <a:off x="2148840" y="1417320"/>
            <a:ext cx="1462680" cy="868320"/>
          </a:xfrm>
          <a:prstGeom prst="roundRect">
            <a:avLst>
              <a:gd name="adj" fmla="val 10526"/>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90" name="Text 6"/>
          <p:cNvSpPr/>
          <p:nvPr/>
        </p:nvSpPr>
        <p:spPr>
          <a:xfrm>
            <a:off x="2148840" y="1463040"/>
            <a:ext cx="1462680" cy="319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300" b="1" u="none" strike="noStrike">
                <a:solidFill>
                  <a:schemeClr val="accent1"/>
                </a:solidFill>
                <a:effectLst/>
                <a:uFillTx/>
                <a:latin typeface="Calibri"/>
              </a:rPr>
              <a:t>2</a:t>
            </a:r>
            <a:endParaRPr lang="en-US" sz="1300" b="0" u="none" strike="noStrike">
              <a:solidFill>
                <a:srgbClr val="FFFFFF"/>
              </a:solidFill>
              <a:effectLst/>
              <a:uFillTx/>
              <a:latin typeface="Arial" panose="020B0604020202020204"/>
            </a:endParaRPr>
          </a:p>
        </p:txBody>
      </p:sp>
      <p:sp>
        <p:nvSpPr>
          <p:cNvPr id="191" name="Text 7"/>
          <p:cNvSpPr/>
          <p:nvPr/>
        </p:nvSpPr>
        <p:spPr>
          <a:xfrm>
            <a:off x="2148840" y="1783080"/>
            <a:ext cx="1462680" cy="411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050" b="1" u="none" strike="noStrike">
                <a:solidFill>
                  <a:schemeClr val="lt1"/>
                </a:solidFill>
                <a:effectLst/>
                <a:uFillTx/>
                <a:latin typeface="Courier New" panose="02070309020205020404"/>
                <a:ea typeface="Courier New" panose="02070309020205020404"/>
              </a:rPr>
              <a:t>CLASSIFY_REQUEST</a:t>
            </a:r>
            <a:endParaRPr lang="en-US" sz="1050" b="0" u="none" strike="noStrike">
              <a:solidFill>
                <a:srgbClr val="FFFFFF"/>
              </a:solidFill>
              <a:effectLst/>
              <a:uFillTx/>
              <a:latin typeface="Arial" panose="020B0604020202020204"/>
            </a:endParaRPr>
          </a:p>
        </p:txBody>
      </p:sp>
      <p:sp>
        <p:nvSpPr>
          <p:cNvPr id="192" name="Text 8"/>
          <p:cNvSpPr/>
          <p:nvPr/>
        </p:nvSpPr>
        <p:spPr>
          <a:xfrm>
            <a:off x="3593520" y="1554480"/>
            <a:ext cx="182520" cy="5482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2000" b="1" u="none" strike="noStrike">
                <a:solidFill>
                  <a:schemeClr val="accent1"/>
                </a:solidFill>
                <a:effectLst/>
                <a:uFillTx/>
                <a:latin typeface="Calibri"/>
              </a:rPr>
              <a:t>›</a:t>
            </a:r>
            <a:endParaRPr lang="en-US" sz="2000" b="0" u="none" strike="noStrike">
              <a:solidFill>
                <a:srgbClr val="FFFFFF"/>
              </a:solidFill>
              <a:effectLst/>
              <a:uFillTx/>
              <a:latin typeface="Arial" panose="020B0604020202020204"/>
            </a:endParaRPr>
          </a:p>
        </p:txBody>
      </p:sp>
      <p:sp>
        <p:nvSpPr>
          <p:cNvPr id="193" name="trace step 3"/>
          <p:cNvSpPr/>
          <p:nvPr/>
        </p:nvSpPr>
        <p:spPr>
          <a:xfrm>
            <a:off x="3749040" y="1417320"/>
            <a:ext cx="1462680" cy="868320"/>
          </a:xfrm>
          <a:prstGeom prst="roundRect">
            <a:avLst>
              <a:gd name="adj" fmla="val 10526"/>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94" name="Text 10"/>
          <p:cNvSpPr/>
          <p:nvPr/>
        </p:nvSpPr>
        <p:spPr>
          <a:xfrm>
            <a:off x="3749040" y="1463040"/>
            <a:ext cx="1462680" cy="319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300" b="1" u="none" strike="noStrike">
                <a:solidFill>
                  <a:schemeClr val="accent1"/>
                </a:solidFill>
                <a:effectLst/>
                <a:uFillTx/>
                <a:latin typeface="Calibri"/>
              </a:rPr>
              <a:t>3</a:t>
            </a:r>
            <a:endParaRPr lang="en-US" sz="1300" b="0" u="none" strike="noStrike">
              <a:solidFill>
                <a:srgbClr val="FFFFFF"/>
              </a:solidFill>
              <a:effectLst/>
              <a:uFillTx/>
              <a:latin typeface="Arial" panose="020B0604020202020204"/>
            </a:endParaRPr>
          </a:p>
        </p:txBody>
      </p:sp>
      <p:sp>
        <p:nvSpPr>
          <p:cNvPr id="195" name="Text 11"/>
          <p:cNvSpPr/>
          <p:nvPr/>
        </p:nvSpPr>
        <p:spPr>
          <a:xfrm>
            <a:off x="3749040" y="1783080"/>
            <a:ext cx="1462680" cy="411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050" b="1" u="none" strike="noStrike">
                <a:solidFill>
                  <a:schemeClr val="lt1"/>
                </a:solidFill>
                <a:effectLst/>
                <a:uFillTx/>
                <a:latin typeface="Courier New" panose="02070309020205020404"/>
                <a:ea typeface="Courier New" panose="02070309020205020404"/>
              </a:rPr>
              <a:t>SELECT_ACTION</a:t>
            </a:r>
            <a:endParaRPr lang="en-US" sz="1050" b="0" u="none" strike="noStrike">
              <a:solidFill>
                <a:srgbClr val="FFFFFF"/>
              </a:solidFill>
              <a:effectLst/>
              <a:uFillTx/>
              <a:latin typeface="Arial" panose="020B0604020202020204"/>
            </a:endParaRPr>
          </a:p>
        </p:txBody>
      </p:sp>
      <p:sp>
        <p:nvSpPr>
          <p:cNvPr id="196" name="Text 12"/>
          <p:cNvSpPr/>
          <p:nvPr/>
        </p:nvSpPr>
        <p:spPr>
          <a:xfrm>
            <a:off x="5193720" y="1554480"/>
            <a:ext cx="182520" cy="5482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2000" b="1" u="none" strike="noStrike">
                <a:solidFill>
                  <a:schemeClr val="accent1"/>
                </a:solidFill>
                <a:effectLst/>
                <a:uFillTx/>
                <a:latin typeface="Calibri"/>
              </a:rPr>
              <a:t>›</a:t>
            </a:r>
            <a:endParaRPr lang="en-US" sz="2000" b="0" u="none" strike="noStrike">
              <a:solidFill>
                <a:srgbClr val="FFFFFF"/>
              </a:solidFill>
              <a:effectLst/>
              <a:uFillTx/>
              <a:latin typeface="Arial" panose="020B0604020202020204"/>
            </a:endParaRPr>
          </a:p>
        </p:txBody>
      </p:sp>
      <p:sp>
        <p:nvSpPr>
          <p:cNvPr id="197" name="trace step 4"/>
          <p:cNvSpPr/>
          <p:nvPr/>
        </p:nvSpPr>
        <p:spPr>
          <a:xfrm>
            <a:off x="5349240" y="1417320"/>
            <a:ext cx="1462680" cy="868320"/>
          </a:xfrm>
          <a:prstGeom prst="roundRect">
            <a:avLst>
              <a:gd name="adj" fmla="val 10526"/>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198" name="Text 14"/>
          <p:cNvSpPr/>
          <p:nvPr/>
        </p:nvSpPr>
        <p:spPr>
          <a:xfrm>
            <a:off x="5349240" y="1463040"/>
            <a:ext cx="1462680" cy="319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300" b="1" u="none" strike="noStrike">
                <a:solidFill>
                  <a:schemeClr val="accent1"/>
                </a:solidFill>
                <a:effectLst/>
                <a:uFillTx/>
                <a:latin typeface="Calibri"/>
              </a:rPr>
              <a:t>4</a:t>
            </a:r>
            <a:endParaRPr lang="en-US" sz="1300" b="0" u="none" strike="noStrike">
              <a:solidFill>
                <a:srgbClr val="FFFFFF"/>
              </a:solidFill>
              <a:effectLst/>
              <a:uFillTx/>
              <a:latin typeface="Arial" panose="020B0604020202020204"/>
            </a:endParaRPr>
          </a:p>
        </p:txBody>
      </p:sp>
      <p:sp>
        <p:nvSpPr>
          <p:cNvPr id="199" name="Text 15"/>
          <p:cNvSpPr/>
          <p:nvPr/>
        </p:nvSpPr>
        <p:spPr>
          <a:xfrm>
            <a:off x="5349240" y="1783080"/>
            <a:ext cx="1462680" cy="411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050" b="1" u="none" strike="noStrike">
                <a:solidFill>
                  <a:schemeClr val="lt1"/>
                </a:solidFill>
                <a:effectLst/>
                <a:uFillTx/>
                <a:latin typeface="Courier New" panose="02070309020205020404"/>
                <a:ea typeface="Courier New" panose="02070309020205020404"/>
              </a:rPr>
              <a:t>EXECUTE_TOOL</a:t>
            </a:r>
            <a:endParaRPr lang="en-US" sz="1050" b="0" u="none" strike="noStrike">
              <a:solidFill>
                <a:srgbClr val="FFFFFF"/>
              </a:solidFill>
              <a:effectLst/>
              <a:uFillTx/>
              <a:latin typeface="Arial" panose="020B0604020202020204"/>
            </a:endParaRPr>
          </a:p>
        </p:txBody>
      </p:sp>
      <p:sp>
        <p:nvSpPr>
          <p:cNvPr id="200" name="Text 16"/>
          <p:cNvSpPr/>
          <p:nvPr/>
        </p:nvSpPr>
        <p:spPr>
          <a:xfrm>
            <a:off x="6793920" y="1554480"/>
            <a:ext cx="182520" cy="5482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2000" b="1" u="none" strike="noStrike">
                <a:solidFill>
                  <a:schemeClr val="accent1"/>
                </a:solidFill>
                <a:effectLst/>
                <a:uFillTx/>
                <a:latin typeface="Calibri"/>
              </a:rPr>
              <a:t>›</a:t>
            </a:r>
            <a:endParaRPr lang="en-US" sz="2000" b="0" u="none" strike="noStrike">
              <a:solidFill>
                <a:srgbClr val="FFFFFF"/>
              </a:solidFill>
              <a:effectLst/>
              <a:uFillTx/>
              <a:latin typeface="Arial" panose="020B0604020202020204"/>
            </a:endParaRPr>
          </a:p>
        </p:txBody>
      </p:sp>
      <p:sp>
        <p:nvSpPr>
          <p:cNvPr id="201" name="trace step 5"/>
          <p:cNvSpPr/>
          <p:nvPr/>
        </p:nvSpPr>
        <p:spPr>
          <a:xfrm>
            <a:off x="6949440" y="1417320"/>
            <a:ext cx="1462680" cy="868320"/>
          </a:xfrm>
          <a:prstGeom prst="roundRect">
            <a:avLst>
              <a:gd name="adj" fmla="val 10526"/>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202" name="Text 18"/>
          <p:cNvSpPr/>
          <p:nvPr/>
        </p:nvSpPr>
        <p:spPr>
          <a:xfrm>
            <a:off x="6949440" y="1463040"/>
            <a:ext cx="1462680" cy="319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300" b="1" u="none" strike="noStrike">
                <a:solidFill>
                  <a:schemeClr val="accent1"/>
                </a:solidFill>
                <a:effectLst/>
                <a:uFillTx/>
                <a:latin typeface="Calibri"/>
              </a:rPr>
              <a:t>5</a:t>
            </a:r>
            <a:endParaRPr lang="en-US" sz="1300" b="0" u="none" strike="noStrike">
              <a:solidFill>
                <a:srgbClr val="FFFFFF"/>
              </a:solidFill>
              <a:effectLst/>
              <a:uFillTx/>
              <a:latin typeface="Arial" panose="020B0604020202020204"/>
            </a:endParaRPr>
          </a:p>
        </p:txBody>
      </p:sp>
      <p:sp>
        <p:nvSpPr>
          <p:cNvPr id="203" name="Text 19"/>
          <p:cNvSpPr/>
          <p:nvPr/>
        </p:nvSpPr>
        <p:spPr>
          <a:xfrm>
            <a:off x="6949440" y="1783080"/>
            <a:ext cx="1462680" cy="411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050" b="1" u="none" strike="noStrike">
                <a:solidFill>
                  <a:schemeClr val="lt1"/>
                </a:solidFill>
                <a:effectLst/>
                <a:uFillTx/>
                <a:latin typeface="Courier New" panose="02070309020205020404"/>
                <a:ea typeface="Courier New" panose="02070309020205020404"/>
              </a:rPr>
              <a:t>OBSERVE_RESULT</a:t>
            </a:r>
            <a:endParaRPr lang="en-US" sz="1050" b="0" u="none" strike="noStrike">
              <a:solidFill>
                <a:srgbClr val="FFFFFF"/>
              </a:solidFill>
              <a:effectLst/>
              <a:uFillTx/>
              <a:latin typeface="Arial" panose="020B0604020202020204"/>
            </a:endParaRPr>
          </a:p>
        </p:txBody>
      </p:sp>
      <p:sp>
        <p:nvSpPr>
          <p:cNvPr id="204" name="Text 20"/>
          <p:cNvSpPr/>
          <p:nvPr/>
        </p:nvSpPr>
        <p:spPr>
          <a:xfrm>
            <a:off x="8394120" y="1554480"/>
            <a:ext cx="182520" cy="5482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2000" b="1" u="none" strike="noStrike">
                <a:solidFill>
                  <a:schemeClr val="accent1"/>
                </a:solidFill>
                <a:effectLst/>
                <a:uFillTx/>
                <a:latin typeface="Calibri"/>
              </a:rPr>
              <a:t>›</a:t>
            </a:r>
            <a:endParaRPr lang="en-US" sz="2000" b="0" u="none" strike="noStrike">
              <a:solidFill>
                <a:srgbClr val="FFFFFF"/>
              </a:solidFill>
              <a:effectLst/>
              <a:uFillTx/>
              <a:latin typeface="Arial" panose="020B0604020202020204"/>
            </a:endParaRPr>
          </a:p>
        </p:txBody>
      </p:sp>
      <p:sp>
        <p:nvSpPr>
          <p:cNvPr id="205" name="trace step 6"/>
          <p:cNvSpPr/>
          <p:nvPr/>
        </p:nvSpPr>
        <p:spPr>
          <a:xfrm>
            <a:off x="8549640" y="1417320"/>
            <a:ext cx="1462680" cy="868320"/>
          </a:xfrm>
          <a:prstGeom prst="roundRect">
            <a:avLst>
              <a:gd name="adj" fmla="val 10526"/>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206" name="Text 22"/>
          <p:cNvSpPr/>
          <p:nvPr/>
        </p:nvSpPr>
        <p:spPr>
          <a:xfrm>
            <a:off x="8549640" y="1463040"/>
            <a:ext cx="1462680" cy="319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300" b="1" u="none" strike="noStrike">
                <a:solidFill>
                  <a:schemeClr val="accent1"/>
                </a:solidFill>
                <a:effectLst/>
                <a:uFillTx/>
                <a:latin typeface="Calibri"/>
              </a:rPr>
              <a:t>6</a:t>
            </a:r>
            <a:endParaRPr lang="en-US" sz="1300" b="0" u="none" strike="noStrike">
              <a:solidFill>
                <a:srgbClr val="FFFFFF"/>
              </a:solidFill>
              <a:effectLst/>
              <a:uFillTx/>
              <a:latin typeface="Arial" panose="020B0604020202020204"/>
            </a:endParaRPr>
          </a:p>
        </p:txBody>
      </p:sp>
      <p:sp>
        <p:nvSpPr>
          <p:cNvPr id="207" name="Text 23"/>
          <p:cNvSpPr/>
          <p:nvPr/>
        </p:nvSpPr>
        <p:spPr>
          <a:xfrm>
            <a:off x="8549640" y="1783080"/>
            <a:ext cx="1462680" cy="411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050" b="1" u="none" strike="noStrike">
                <a:solidFill>
                  <a:schemeClr val="lt1"/>
                </a:solidFill>
                <a:effectLst/>
                <a:uFillTx/>
                <a:latin typeface="Courier New" panose="02070309020205020404"/>
                <a:ea typeface="Courier New" panose="02070309020205020404"/>
              </a:rPr>
              <a:t>RESPOND</a:t>
            </a:r>
            <a:endParaRPr lang="en-US" sz="1050" b="0" u="none" strike="noStrike">
              <a:solidFill>
                <a:srgbClr val="FFFFFF"/>
              </a:solidFill>
              <a:effectLst/>
              <a:uFillTx/>
              <a:latin typeface="Arial" panose="020B0604020202020204"/>
            </a:endParaRPr>
          </a:p>
        </p:txBody>
      </p:sp>
      <p:sp>
        <p:nvSpPr>
          <p:cNvPr id="208" name="Text 24"/>
          <p:cNvSpPr/>
          <p:nvPr/>
        </p:nvSpPr>
        <p:spPr>
          <a:xfrm>
            <a:off x="9994320" y="1554480"/>
            <a:ext cx="182520" cy="5482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2000" b="1" u="none" strike="noStrike">
                <a:solidFill>
                  <a:schemeClr val="accent1"/>
                </a:solidFill>
                <a:effectLst/>
                <a:uFillTx/>
                <a:latin typeface="Calibri"/>
              </a:rPr>
              <a:t>›</a:t>
            </a:r>
            <a:endParaRPr lang="en-US" sz="2000" b="0" u="none" strike="noStrike">
              <a:solidFill>
                <a:srgbClr val="FFFFFF"/>
              </a:solidFill>
              <a:effectLst/>
              <a:uFillTx/>
              <a:latin typeface="Arial" panose="020B0604020202020204"/>
            </a:endParaRPr>
          </a:p>
        </p:txBody>
      </p:sp>
      <p:sp>
        <p:nvSpPr>
          <p:cNvPr id="209" name="trace step 7"/>
          <p:cNvSpPr/>
          <p:nvPr/>
        </p:nvSpPr>
        <p:spPr>
          <a:xfrm>
            <a:off x="10149840" y="1417320"/>
            <a:ext cx="1462680" cy="868320"/>
          </a:xfrm>
          <a:prstGeom prst="roundRect">
            <a:avLst>
              <a:gd name="adj" fmla="val 10526"/>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210" name="Text 26"/>
          <p:cNvSpPr/>
          <p:nvPr/>
        </p:nvSpPr>
        <p:spPr>
          <a:xfrm>
            <a:off x="10149840" y="1463040"/>
            <a:ext cx="1462680" cy="319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300" b="1" u="none" strike="noStrike">
                <a:solidFill>
                  <a:schemeClr val="accent1"/>
                </a:solidFill>
                <a:effectLst/>
                <a:uFillTx/>
                <a:latin typeface="Calibri"/>
              </a:rPr>
              <a:t>7</a:t>
            </a:r>
            <a:endParaRPr lang="en-US" sz="1300" b="0" u="none" strike="noStrike">
              <a:solidFill>
                <a:srgbClr val="FFFFFF"/>
              </a:solidFill>
              <a:effectLst/>
              <a:uFillTx/>
              <a:latin typeface="Arial" panose="020B0604020202020204"/>
            </a:endParaRPr>
          </a:p>
        </p:txBody>
      </p:sp>
      <p:sp>
        <p:nvSpPr>
          <p:cNvPr id="211" name="Text 27"/>
          <p:cNvSpPr/>
          <p:nvPr/>
        </p:nvSpPr>
        <p:spPr>
          <a:xfrm>
            <a:off x="10149840" y="1783080"/>
            <a:ext cx="1462680" cy="411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050" b="1" u="none" strike="noStrike">
                <a:solidFill>
                  <a:schemeClr val="lt1"/>
                </a:solidFill>
                <a:effectLst/>
                <a:uFillTx/>
                <a:latin typeface="Courier New" panose="02070309020205020404"/>
                <a:ea typeface="Courier New" panose="02070309020205020404"/>
              </a:rPr>
              <a:t>MEMORY_WRITE</a:t>
            </a:r>
            <a:endParaRPr lang="en-US" sz="1050" b="0" u="none" strike="noStrike">
              <a:solidFill>
                <a:srgbClr val="FFFFFF"/>
              </a:solidFill>
              <a:effectLst/>
              <a:uFillTx/>
              <a:latin typeface="Arial" panose="020B0604020202020204"/>
            </a:endParaRPr>
          </a:p>
        </p:txBody>
      </p:sp>
      <p:sp>
        <p:nvSpPr>
          <p:cNvPr id="212" name="log panel"/>
          <p:cNvSpPr/>
          <p:nvPr/>
        </p:nvSpPr>
        <p:spPr>
          <a:xfrm>
            <a:off x="548640" y="2606040"/>
            <a:ext cx="6583320" cy="3611520"/>
          </a:xfrm>
          <a:prstGeom prst="roundRect">
            <a:avLst>
              <a:gd name="adj" fmla="val 2532"/>
            </a:avLst>
          </a:prstGeom>
          <a:solidFill>
            <a:srgbClr val="071428"/>
          </a:solidFill>
          <a:ln w="12700">
            <a:solidFill>
              <a:srgbClr val="7A8AA6"/>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213" name="Text 29"/>
          <p:cNvSpPr/>
          <p:nvPr/>
        </p:nvSpPr>
        <p:spPr>
          <a:xfrm>
            <a:off x="822960" y="2697480"/>
            <a:ext cx="6034680"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200" b="0" u="none" strike="noStrike">
                <a:solidFill>
                  <a:schemeClr val="accent6"/>
                </a:solidFill>
                <a:effectLst/>
                <a:uFillTx/>
                <a:latin typeface="Calibri"/>
              </a:rPr>
              <a:t>Example from the live demo</a:t>
            </a:r>
            <a:endParaRPr lang="en-US" sz="1200" b="0" u="none" strike="noStrike">
              <a:solidFill>
                <a:srgbClr val="FFFFFF"/>
              </a:solidFill>
              <a:effectLst/>
              <a:uFillTx/>
              <a:latin typeface="Arial" panose="020B0604020202020204"/>
            </a:endParaRPr>
          </a:p>
        </p:txBody>
      </p:sp>
      <p:sp>
        <p:nvSpPr>
          <p:cNvPr id="214" name="Text 30"/>
          <p:cNvSpPr/>
          <p:nvPr/>
        </p:nvSpPr>
        <p:spPr>
          <a:xfrm>
            <a:off x="822960" y="3154680"/>
            <a:ext cx="6034680" cy="2925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pPr>
            <a:r>
              <a:rPr lang="en-US" sz="1300" b="1" u="none" strike="noStrike">
                <a:solidFill>
                  <a:schemeClr val="accent1"/>
                </a:solidFill>
                <a:effectLst/>
                <a:uFillTx/>
                <a:latin typeface="Courier New" panose="02070309020205020404"/>
                <a:ea typeface="Courier New" panose="02070309020205020404"/>
              </a:rPr>
              <a:t>[MEMORY_LOADED]</a:t>
            </a:r>
            <a:endParaRPr lang="en-US" sz="1300" b="0" u="none" strike="noStrike">
              <a:solidFill>
                <a:srgbClr val="FFFFFF"/>
              </a:solidFill>
              <a:effectLst/>
              <a:uFillTx/>
              <a:latin typeface="Arial" panose="020B0604020202020204"/>
            </a:endParaRPr>
          </a:p>
          <a:p>
            <a:pPr defTabSz="914400">
              <a:lnSpc>
                <a:spcPct val="100000"/>
              </a:lnSpc>
              <a:spcAft>
                <a:spcPts val="800"/>
              </a:spcAft>
              <a:tabLst>
                <a:tab pos="0" algn="l"/>
              </a:tabLst>
            </a:pPr>
            <a:r>
              <a:rPr lang="en-US" sz="1300" b="0" u="none" strike="noStrike">
                <a:solidFill>
                  <a:schemeClr val="lt1"/>
                </a:solidFill>
                <a:effectLst/>
                <a:uFillTx/>
                <a:latin typeface="Courier New" panose="02070309020205020404"/>
                <a:ea typeface="Courier New" panose="02070309020205020404"/>
              </a:rPr>
              <a:t>no prior cases — fresh customer session</a:t>
            </a:r>
            <a:endParaRPr lang="en-US" sz="1300" b="0" u="none" strike="noStrike">
              <a:solidFill>
                <a:srgbClr val="FFFFFF"/>
              </a:solidFill>
              <a:effectLst/>
              <a:uFillTx/>
              <a:latin typeface="Arial" panose="020B0604020202020204"/>
            </a:endParaRPr>
          </a:p>
          <a:p>
            <a:pPr defTabSz="914400">
              <a:lnSpc>
                <a:spcPct val="100000"/>
              </a:lnSpc>
              <a:tabLst>
                <a:tab pos="0" algn="l"/>
              </a:tabLst>
            </a:pPr>
            <a:r>
              <a:rPr lang="en-US" sz="1300" b="1" u="none" strike="noStrike">
                <a:solidFill>
                  <a:schemeClr val="accent1"/>
                </a:solidFill>
                <a:effectLst/>
                <a:uFillTx/>
                <a:latin typeface="Courier New" panose="02070309020205020404"/>
                <a:ea typeface="Courier New" panose="02070309020205020404"/>
              </a:rPr>
              <a:t>[CLASSIFY_REQUEST]</a:t>
            </a:r>
            <a:endParaRPr lang="en-US" sz="1300" b="0" u="none" strike="noStrike">
              <a:solidFill>
                <a:srgbClr val="FFFFFF"/>
              </a:solidFill>
              <a:effectLst/>
              <a:uFillTx/>
              <a:latin typeface="Arial" panose="020B0604020202020204"/>
            </a:endParaRPr>
          </a:p>
          <a:p>
            <a:pPr defTabSz="914400">
              <a:lnSpc>
                <a:spcPct val="100000"/>
              </a:lnSpc>
              <a:spcAft>
                <a:spcPts val="800"/>
              </a:spcAft>
              <a:tabLst>
                <a:tab pos="0" algn="l"/>
              </a:tabLst>
            </a:pPr>
            <a:r>
              <a:rPr lang="en-US" sz="1300" b="0" u="none" strike="noStrike">
                <a:solidFill>
                  <a:schemeClr val="lt1"/>
                </a:solidFill>
                <a:effectLst/>
                <a:uFillTx/>
                <a:latin typeface="Courier New" panose="02070309020205020404"/>
                <a:ea typeface="Courier New" panose="02070309020205020404"/>
              </a:rPr>
              <a:t>intent='create_ticket' action=create_support_ticket</a:t>
            </a:r>
            <a:endParaRPr lang="en-US" sz="1300" b="0" u="none" strike="noStrike">
              <a:solidFill>
                <a:srgbClr val="FFFFFF"/>
              </a:solidFill>
              <a:effectLst/>
              <a:uFillTx/>
              <a:latin typeface="Arial" panose="020B0604020202020204"/>
            </a:endParaRPr>
          </a:p>
          <a:p>
            <a:pPr defTabSz="914400">
              <a:lnSpc>
                <a:spcPct val="100000"/>
              </a:lnSpc>
              <a:tabLst>
                <a:tab pos="0" algn="l"/>
              </a:tabLst>
            </a:pPr>
            <a:r>
              <a:rPr lang="en-US" sz="1300" b="1" u="none" strike="noStrike">
                <a:solidFill>
                  <a:schemeClr val="accent1"/>
                </a:solidFill>
                <a:effectLst/>
                <a:uFillTx/>
                <a:latin typeface="Courier New" panose="02070309020205020404"/>
                <a:ea typeface="Courier New" panose="02070309020205020404"/>
              </a:rPr>
              <a:t>[EXECUTE_TOOL]</a:t>
            </a:r>
            <a:endParaRPr lang="en-US" sz="1300" b="0" u="none" strike="noStrike">
              <a:solidFill>
                <a:srgbClr val="FFFFFF"/>
              </a:solidFill>
              <a:effectLst/>
              <a:uFillTx/>
              <a:latin typeface="Arial" panose="020B0604020202020204"/>
            </a:endParaRPr>
          </a:p>
          <a:p>
            <a:pPr defTabSz="914400">
              <a:lnSpc>
                <a:spcPct val="100000"/>
              </a:lnSpc>
              <a:spcAft>
                <a:spcPts val="800"/>
              </a:spcAft>
              <a:tabLst>
                <a:tab pos="0" algn="l"/>
              </a:tabLst>
            </a:pPr>
            <a:r>
              <a:rPr lang="en-US" sz="1300" b="0" u="none" strike="noStrike">
                <a:solidFill>
                  <a:schemeClr val="lt1"/>
                </a:solidFill>
                <a:effectLst/>
                <a:uFillTx/>
                <a:latin typeface="Courier New" panose="02070309020205020404"/>
                <a:ea typeface="Courier New" panose="02070309020205020404"/>
              </a:rPr>
              <a:t>calling create_support_ticket</a:t>
            </a:r>
            <a:endParaRPr lang="en-US" sz="1300" b="0" u="none" strike="noStrike">
              <a:solidFill>
                <a:srgbClr val="FFFFFF"/>
              </a:solidFill>
              <a:effectLst/>
              <a:uFillTx/>
              <a:latin typeface="Arial" panose="020B0604020202020204"/>
            </a:endParaRPr>
          </a:p>
          <a:p>
            <a:pPr defTabSz="914400">
              <a:lnSpc>
                <a:spcPct val="100000"/>
              </a:lnSpc>
              <a:tabLst>
                <a:tab pos="0" algn="l"/>
              </a:tabLst>
            </a:pPr>
            <a:r>
              <a:rPr lang="en-US" sz="1300" b="1" u="none" strike="noStrike">
                <a:solidFill>
                  <a:schemeClr val="accent1"/>
                </a:solidFill>
                <a:effectLst/>
                <a:uFillTx/>
                <a:latin typeface="Courier New" panose="02070309020205020404"/>
                <a:ea typeface="Courier New" panose="02070309020205020404"/>
              </a:rPr>
              <a:t>[OBSERVE_RESULT]</a:t>
            </a:r>
            <a:endParaRPr lang="en-US" sz="1300" b="0" u="none" strike="noStrike">
              <a:solidFill>
                <a:srgbClr val="FFFFFF"/>
              </a:solidFill>
              <a:effectLst/>
              <a:uFillTx/>
              <a:latin typeface="Arial" panose="020B0604020202020204"/>
            </a:endParaRPr>
          </a:p>
          <a:p>
            <a:pPr defTabSz="914400">
              <a:lnSpc>
                <a:spcPct val="100000"/>
              </a:lnSpc>
              <a:tabLst>
                <a:tab pos="0" algn="l"/>
              </a:tabLst>
            </a:pPr>
            <a:r>
              <a:rPr lang="en-US" sz="1300" b="0" u="none" strike="noStrike">
                <a:solidFill>
                  <a:schemeClr val="lt1"/>
                </a:solidFill>
                <a:effectLst/>
                <a:uFillTx/>
                <a:latin typeface="Courier New" panose="02070309020205020404"/>
                <a:ea typeface="Courier New" panose="02070309020205020404"/>
              </a:rPr>
              <a:t>tool=create_support_ticket status=success</a:t>
            </a:r>
            <a:endParaRPr lang="en-US" sz="1300" b="0" u="none" strike="noStrike">
              <a:solidFill>
                <a:srgbClr val="FFFFFF"/>
              </a:solidFill>
              <a:effectLst/>
              <a:uFillTx/>
              <a:latin typeface="Arial" panose="020B0604020202020204"/>
            </a:endParaRPr>
          </a:p>
        </p:txBody>
      </p:sp>
      <p:sp>
        <p:nvSpPr>
          <p:cNvPr id="215" name="icon circle"/>
          <p:cNvSpPr/>
          <p:nvPr/>
        </p:nvSpPr>
        <p:spPr>
          <a:xfrm>
            <a:off x="7498080" y="2606040"/>
            <a:ext cx="566640" cy="566640"/>
          </a:xfrm>
          <a:prstGeom prst="ellipse">
            <a:avLst/>
          </a:prstGeom>
          <a:solidFill>
            <a:schemeClr val="accent1"/>
          </a:solidFill>
          <a:ln w="12700">
            <a:solidFill>
              <a:srgbClr val="F2B705"/>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pic>
        <p:nvPicPr>
          <p:cNvPr id="216" name="Image 0" descr="icon"/>
          <p:cNvPicPr/>
          <p:nvPr/>
        </p:nvPicPr>
        <p:blipFill>
          <a:blip r:embed="rId1"/>
          <a:stretch>
            <a:fillRect/>
          </a:stretch>
        </p:blipFill>
        <p:spPr>
          <a:xfrm>
            <a:off x="7645320" y="2753280"/>
            <a:ext cx="271800" cy="271800"/>
          </a:xfrm>
          <a:prstGeom prst="rect">
            <a:avLst/>
          </a:prstGeom>
          <a:noFill/>
          <a:ln w="0">
            <a:noFill/>
          </a:ln>
        </p:spPr>
      </p:pic>
      <p:sp>
        <p:nvSpPr>
          <p:cNvPr id="217" name="Text 32"/>
          <p:cNvSpPr/>
          <p:nvPr/>
        </p:nvSpPr>
        <p:spPr>
          <a:xfrm>
            <a:off x="8229600" y="2606040"/>
            <a:ext cx="3382920" cy="5666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700" b="1" u="none" strike="noStrike">
                <a:solidFill>
                  <a:schemeClr val="lt1"/>
                </a:solidFill>
                <a:effectLst/>
                <a:uFillTx/>
                <a:latin typeface="Calibri"/>
              </a:rPr>
              <a:t>What the agent saw</a:t>
            </a:r>
            <a:endParaRPr lang="en-US" sz="1700" b="0" u="none" strike="noStrike">
              <a:solidFill>
                <a:srgbClr val="FFFFFF"/>
              </a:solidFill>
              <a:effectLst/>
              <a:uFillTx/>
              <a:latin typeface="Arial" panose="020B0604020202020204"/>
            </a:endParaRPr>
          </a:p>
        </p:txBody>
      </p:sp>
      <p:sp>
        <p:nvSpPr>
          <p:cNvPr id="218" name="icon circle"/>
          <p:cNvSpPr/>
          <p:nvPr/>
        </p:nvSpPr>
        <p:spPr>
          <a:xfrm>
            <a:off x="7498080" y="3337560"/>
            <a:ext cx="566640" cy="566640"/>
          </a:xfrm>
          <a:prstGeom prst="ellipse">
            <a:avLst/>
          </a:prstGeom>
          <a:solidFill>
            <a:schemeClr val="accent1"/>
          </a:solidFill>
          <a:ln w="12700">
            <a:solidFill>
              <a:srgbClr val="F2B705"/>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pic>
        <p:nvPicPr>
          <p:cNvPr id="219" name="Image 1" descr="icon"/>
          <p:cNvPicPr/>
          <p:nvPr/>
        </p:nvPicPr>
        <p:blipFill>
          <a:blip r:embed="rId2"/>
          <a:stretch>
            <a:fillRect/>
          </a:stretch>
        </p:blipFill>
        <p:spPr>
          <a:xfrm>
            <a:off x="7645320" y="3484800"/>
            <a:ext cx="271800" cy="271800"/>
          </a:xfrm>
          <a:prstGeom prst="rect">
            <a:avLst/>
          </a:prstGeom>
          <a:noFill/>
          <a:ln w="0">
            <a:noFill/>
          </a:ln>
        </p:spPr>
      </p:pic>
      <p:sp>
        <p:nvSpPr>
          <p:cNvPr id="220" name="Text 34"/>
          <p:cNvSpPr/>
          <p:nvPr/>
        </p:nvSpPr>
        <p:spPr>
          <a:xfrm>
            <a:off x="8229600" y="3337560"/>
            <a:ext cx="3382920" cy="5666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700" b="1" u="none" strike="noStrike">
                <a:solidFill>
                  <a:schemeClr val="lt1"/>
                </a:solidFill>
                <a:effectLst/>
                <a:uFillTx/>
                <a:latin typeface="Calibri"/>
              </a:rPr>
              <a:t>What it decided</a:t>
            </a:r>
            <a:endParaRPr lang="en-US" sz="1700" b="0" u="none" strike="noStrike">
              <a:solidFill>
                <a:srgbClr val="FFFFFF"/>
              </a:solidFill>
              <a:effectLst/>
              <a:uFillTx/>
              <a:latin typeface="Arial" panose="020B0604020202020204"/>
            </a:endParaRPr>
          </a:p>
        </p:txBody>
      </p:sp>
      <p:sp>
        <p:nvSpPr>
          <p:cNvPr id="221" name="icon circle"/>
          <p:cNvSpPr/>
          <p:nvPr/>
        </p:nvSpPr>
        <p:spPr>
          <a:xfrm>
            <a:off x="7498080" y="4069080"/>
            <a:ext cx="566640" cy="566640"/>
          </a:xfrm>
          <a:prstGeom prst="ellipse">
            <a:avLst/>
          </a:prstGeom>
          <a:solidFill>
            <a:schemeClr val="accent1"/>
          </a:solidFill>
          <a:ln w="12700">
            <a:solidFill>
              <a:srgbClr val="F2B705"/>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pic>
        <p:nvPicPr>
          <p:cNvPr id="222" name="Image 2" descr="icon"/>
          <p:cNvPicPr/>
          <p:nvPr/>
        </p:nvPicPr>
        <p:blipFill>
          <a:blip r:embed="rId3"/>
          <a:stretch>
            <a:fillRect/>
          </a:stretch>
        </p:blipFill>
        <p:spPr>
          <a:xfrm>
            <a:off x="7645320" y="4216320"/>
            <a:ext cx="271800" cy="271800"/>
          </a:xfrm>
          <a:prstGeom prst="rect">
            <a:avLst/>
          </a:prstGeom>
          <a:noFill/>
          <a:ln w="0">
            <a:noFill/>
          </a:ln>
        </p:spPr>
      </p:pic>
      <p:sp>
        <p:nvSpPr>
          <p:cNvPr id="223" name="Text 36"/>
          <p:cNvSpPr/>
          <p:nvPr/>
        </p:nvSpPr>
        <p:spPr>
          <a:xfrm>
            <a:off x="8229600" y="4069080"/>
            <a:ext cx="3382920" cy="5666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700" b="1" u="none" strike="noStrike">
                <a:solidFill>
                  <a:schemeClr val="lt1"/>
                </a:solidFill>
                <a:effectLst/>
                <a:uFillTx/>
                <a:latin typeface="Calibri"/>
              </a:rPr>
              <a:t>Which tool it used</a:t>
            </a:r>
            <a:endParaRPr lang="en-US" sz="1700" b="0" u="none" strike="noStrike">
              <a:solidFill>
                <a:srgbClr val="FFFFFF"/>
              </a:solidFill>
              <a:effectLst/>
              <a:uFillTx/>
              <a:latin typeface="Arial" panose="020B0604020202020204"/>
            </a:endParaRPr>
          </a:p>
        </p:txBody>
      </p:sp>
      <p:sp>
        <p:nvSpPr>
          <p:cNvPr id="224" name="icon circle"/>
          <p:cNvSpPr/>
          <p:nvPr/>
        </p:nvSpPr>
        <p:spPr>
          <a:xfrm>
            <a:off x="7498080" y="4800600"/>
            <a:ext cx="566640" cy="566640"/>
          </a:xfrm>
          <a:prstGeom prst="ellipse">
            <a:avLst/>
          </a:prstGeom>
          <a:solidFill>
            <a:schemeClr val="accent1"/>
          </a:solidFill>
          <a:ln w="12700">
            <a:solidFill>
              <a:srgbClr val="F2B705"/>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pic>
        <p:nvPicPr>
          <p:cNvPr id="225" name="Image 3" descr="icon"/>
          <p:cNvPicPr/>
          <p:nvPr/>
        </p:nvPicPr>
        <p:blipFill>
          <a:blip r:embed="rId4"/>
          <a:stretch>
            <a:fillRect/>
          </a:stretch>
        </p:blipFill>
        <p:spPr>
          <a:xfrm>
            <a:off x="7645320" y="4947840"/>
            <a:ext cx="271800" cy="271800"/>
          </a:xfrm>
          <a:prstGeom prst="rect">
            <a:avLst/>
          </a:prstGeom>
          <a:noFill/>
          <a:ln w="0">
            <a:noFill/>
          </a:ln>
        </p:spPr>
      </p:pic>
      <p:sp>
        <p:nvSpPr>
          <p:cNvPr id="226" name="Text 38"/>
          <p:cNvSpPr/>
          <p:nvPr/>
        </p:nvSpPr>
        <p:spPr>
          <a:xfrm>
            <a:off x="8229600" y="4800600"/>
            <a:ext cx="3382920" cy="5666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700" b="1" u="none" strike="noStrike">
                <a:solidFill>
                  <a:schemeClr val="lt1"/>
                </a:solidFill>
                <a:effectLst/>
                <a:uFillTx/>
                <a:latin typeface="Calibri"/>
              </a:rPr>
              <a:t>What result it obtained</a:t>
            </a:r>
            <a:endParaRPr lang="en-US" sz="1700" b="0" u="none" strike="noStrike">
              <a:solidFill>
                <a:srgbClr val="FFFFFF"/>
              </a:solidFill>
              <a:effectLst/>
              <a:uFillTx/>
              <a:latin typeface="Arial" panose="020B0604020202020204"/>
            </a:endParaRPr>
          </a:p>
        </p:txBody>
      </p:sp>
      <p:sp>
        <p:nvSpPr>
          <p:cNvPr id="227" name="Text 39"/>
          <p:cNvSpPr/>
          <p:nvPr/>
        </p:nvSpPr>
        <p:spPr>
          <a:xfrm>
            <a:off x="7498080" y="5577840"/>
            <a:ext cx="4114440" cy="6397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pPr>
            <a:r>
              <a:rPr lang="en-US" sz="1300" b="0" i="1" u="none" strike="noStrike">
                <a:solidFill>
                  <a:schemeClr val="lt2"/>
                </a:solidFill>
                <a:effectLst/>
                <a:uFillTx/>
                <a:latin typeface="Calibri"/>
              </a:rPr>
              <a:t>The assignment emphasises evidence, traceability and explainability rather than a “black box” AI result.</a:t>
            </a:r>
            <a:endParaRPr lang="en-US" sz="1300" b="0" u="none" strike="noStrike">
              <a:solidFill>
                <a:srgbClr val="FFFFFF"/>
              </a:solidFill>
              <a:effectLst/>
              <a:uFillTx/>
              <a:latin typeface="Arial" panose="020B0604020202020204"/>
            </a:endParaRPr>
          </a:p>
        </p:txBody>
      </p:sp>
      <p:sp>
        <p:nvSpPr>
          <p:cNvPr id="228" name="PlaceHolder 2"/>
          <p:cNvSpPr>
            <a:spLocks noGrp="1"/>
          </p:cNvSpPr>
          <p:nvPr>
            <p:ph type="sldNum" idx="10"/>
          </p:nvPr>
        </p:nvSpPr>
        <p:spPr>
          <a:xfrm>
            <a:off x="1124712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000" b="0" u="none" strike="noStrike">
                <a:solidFill>
                  <a:srgbClr val="B8C4DA"/>
                </a:solidFill>
                <a:effectLst/>
                <a:uFillTx/>
                <a:latin typeface="Calibri"/>
              </a:defRPr>
            </a:lvl1pPr>
          </a:lstStyle>
          <a:p>
            <a:pPr indent="0" algn="l" defTabSz="914400">
              <a:lnSpc>
                <a:spcPct val="100000"/>
              </a:lnSpc>
              <a:buNone/>
            </a:pPr>
            <a:fld id="{AE51DB51-7060-486F-9580-5CC5DBE47E87}" type="slidenum">
              <a:rPr lang="en-US" sz="1000" b="0" u="none" strike="noStrike">
                <a:solidFill>
                  <a:srgbClr val="B8C4DA"/>
                </a:solidFill>
                <a:effectLst/>
                <a:uFillTx/>
                <a:latin typeface="Calibri"/>
              </a:rPr>
            </a:fld>
            <a:endParaRPr lang="en-US" sz="1000" b="0" u="none" strike="noStrike">
              <a:solidFill>
                <a:srgbClr val="FFFFFF"/>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PlaceHolder 1"/>
          <p:cNvSpPr>
            <a:spLocks noGrp="1"/>
          </p:cNvSpPr>
          <p:nvPr>
            <p:ph type="title" hasCustomPrompt="1"/>
          </p:nvPr>
        </p:nvSpPr>
        <p:spPr>
          <a:xfrm>
            <a:off x="548640" y="365760"/>
            <a:ext cx="11063880" cy="776880"/>
          </a:xfrm>
          <a:prstGeom prst="rect">
            <a:avLst/>
          </a:prstGeom>
          <a:noFill/>
          <a:ln w="0">
            <a:noFill/>
          </a:ln>
        </p:spPr>
        <p:txBody>
          <a:bodyPr lIns="0" tIns="0" rIns="0" bIns="0" anchor="ctr">
            <a:noAutofit/>
          </a:bodyPr>
          <a:p>
            <a:pPr indent="0" algn="ctr" defTabSz="914400">
              <a:lnSpc>
                <a:spcPct val="100000"/>
              </a:lnSpc>
              <a:buNone/>
              <a:tabLst>
                <a:tab pos="0" algn="l"/>
              </a:tabLst>
            </a:pPr>
            <a:r>
              <a:rPr lang="en-US" sz="3400" b="1" u="none" strike="noStrike">
                <a:solidFill>
                  <a:schemeClr val="dk2"/>
                </a:solidFill>
                <a:effectLst/>
                <a:uFillTx/>
                <a:latin typeface="Cambria"/>
              </a:rPr>
              <a:t>Evaluation evidence: the 30-scenario final set</a:t>
            </a:r>
            <a:endParaRPr lang="en-US" sz="3400" b="0" u="none" strike="noStrike">
              <a:solidFill>
                <a:schemeClr val="dk1"/>
              </a:solidFill>
              <a:effectLst/>
              <a:uFillTx/>
              <a:latin typeface="Calibri"/>
            </a:endParaRPr>
          </a:p>
        </p:txBody>
      </p:sp>
      <p:sp>
        <p:nvSpPr>
          <p:cNvPr id="230" name="stat card"/>
          <p:cNvSpPr/>
          <p:nvPr/>
        </p:nvSpPr>
        <p:spPr>
          <a:xfrm>
            <a:off x="548640" y="1371600"/>
            <a:ext cx="3108600" cy="3017160"/>
          </a:xfrm>
          <a:prstGeom prst="roundRect">
            <a:avLst>
              <a:gd name="adj" fmla="val 3636"/>
            </a:avLst>
          </a:prstGeom>
          <a:solidFill>
            <a:schemeClr val="tx2"/>
          </a:solidFill>
          <a:ln w="12700">
            <a:solidFill>
              <a:srgbClr val="0B1F3A"/>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231" name="Text 2"/>
          <p:cNvSpPr/>
          <p:nvPr/>
        </p:nvSpPr>
        <p:spPr>
          <a:xfrm>
            <a:off x="548640" y="1508760"/>
            <a:ext cx="3108600" cy="1554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9600" b="1" u="none" strike="noStrike">
                <a:solidFill>
                  <a:schemeClr val="accent1"/>
                </a:solidFill>
                <a:effectLst/>
                <a:uFillTx/>
                <a:latin typeface="Cambria"/>
                <a:ea typeface="Cambria"/>
              </a:rPr>
              <a:t>30</a:t>
            </a:r>
            <a:endParaRPr lang="en-US" sz="9600" b="0" u="none" strike="noStrike">
              <a:solidFill>
                <a:srgbClr val="000000"/>
              </a:solidFill>
              <a:effectLst/>
              <a:uFillTx/>
              <a:latin typeface="Arial" panose="020B0604020202020204"/>
            </a:endParaRPr>
          </a:p>
        </p:txBody>
      </p:sp>
      <p:sp>
        <p:nvSpPr>
          <p:cNvPr id="232" name="Text 3"/>
          <p:cNvSpPr/>
          <p:nvPr/>
        </p:nvSpPr>
        <p:spPr>
          <a:xfrm>
            <a:off x="777240" y="3154680"/>
            <a:ext cx="2651400" cy="8226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algn="ctr" defTabSz="914400">
              <a:lnSpc>
                <a:spcPct val="100000"/>
              </a:lnSpc>
              <a:tabLst>
                <a:tab pos="0" algn="l"/>
              </a:tabLst>
            </a:pPr>
            <a:r>
              <a:rPr lang="en-US" sz="1600" b="0" u="none" strike="noStrike">
                <a:solidFill>
                  <a:schemeClr val="lt1"/>
                </a:solidFill>
                <a:effectLst/>
                <a:uFillTx/>
                <a:latin typeface="Calibri"/>
              </a:rPr>
              <a:t>scenarios in the final evaluation harness</a:t>
            </a:r>
            <a:endParaRPr lang="en-US" sz="1600" b="0" u="none" strike="noStrike">
              <a:solidFill>
                <a:srgbClr val="000000"/>
              </a:solidFill>
              <a:effectLst/>
              <a:uFillTx/>
              <a:latin typeface="Arial" panose="020B0604020202020204"/>
            </a:endParaRPr>
          </a:p>
        </p:txBody>
      </p:sp>
      <p:sp>
        <p:nvSpPr>
          <p:cNvPr id="233" name="category Normal cases"/>
          <p:cNvSpPr/>
          <p:nvPr/>
        </p:nvSpPr>
        <p:spPr>
          <a:xfrm>
            <a:off x="3931920" y="1371600"/>
            <a:ext cx="2377080" cy="1371240"/>
          </a:xfrm>
          <a:prstGeom prst="roundRect">
            <a:avLst>
              <a:gd name="adj" fmla="val 8000"/>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234" name="icon circle"/>
          <p:cNvSpPr/>
          <p:nvPr/>
        </p:nvSpPr>
        <p:spPr>
          <a:xfrm>
            <a:off x="4114800" y="1554480"/>
            <a:ext cx="548280" cy="548280"/>
          </a:xfrm>
          <a:prstGeom prst="ellipse">
            <a:avLst/>
          </a:prstGeom>
          <a:solidFill>
            <a:schemeClr val="accent4"/>
          </a:solidFill>
          <a:ln w="12700">
            <a:solidFill>
              <a:srgbClr val="2FB380"/>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235" name="Image 0" descr="icon"/>
          <p:cNvPicPr/>
          <p:nvPr/>
        </p:nvPicPr>
        <p:blipFill>
          <a:blip r:embed="rId1"/>
          <a:stretch>
            <a:fillRect/>
          </a:stretch>
        </p:blipFill>
        <p:spPr>
          <a:xfrm>
            <a:off x="4257360" y="1697040"/>
            <a:ext cx="263160" cy="263160"/>
          </a:xfrm>
          <a:prstGeom prst="rect">
            <a:avLst/>
          </a:prstGeom>
          <a:noFill/>
          <a:ln w="0">
            <a:noFill/>
          </a:ln>
        </p:spPr>
      </p:pic>
      <p:sp>
        <p:nvSpPr>
          <p:cNvPr id="236" name="Text 6"/>
          <p:cNvSpPr/>
          <p:nvPr/>
        </p:nvSpPr>
        <p:spPr>
          <a:xfrm>
            <a:off x="4114800" y="2148840"/>
            <a:ext cx="205704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pPr>
            <a:r>
              <a:rPr lang="en-US" sz="1500" b="1" u="none" strike="noStrike">
                <a:solidFill>
                  <a:schemeClr val="dk2"/>
                </a:solidFill>
                <a:effectLst/>
                <a:uFillTx/>
                <a:latin typeface="Calibri"/>
              </a:rPr>
              <a:t>Normal cases</a:t>
            </a:r>
            <a:endParaRPr lang="en-US" sz="1500" b="0" u="none" strike="noStrike">
              <a:solidFill>
                <a:srgbClr val="000000"/>
              </a:solidFill>
              <a:effectLst/>
              <a:uFillTx/>
              <a:latin typeface="Arial" panose="020B0604020202020204"/>
            </a:endParaRPr>
          </a:p>
        </p:txBody>
      </p:sp>
      <p:sp>
        <p:nvSpPr>
          <p:cNvPr id="237" name="category Edge cases"/>
          <p:cNvSpPr/>
          <p:nvPr/>
        </p:nvSpPr>
        <p:spPr>
          <a:xfrm>
            <a:off x="6583680" y="1371600"/>
            <a:ext cx="2377080" cy="1371240"/>
          </a:xfrm>
          <a:prstGeom prst="roundRect">
            <a:avLst>
              <a:gd name="adj" fmla="val 8000"/>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238" name="icon circle"/>
          <p:cNvSpPr/>
          <p:nvPr/>
        </p:nvSpPr>
        <p:spPr>
          <a:xfrm>
            <a:off x="6766560" y="1554480"/>
            <a:ext cx="548280" cy="548280"/>
          </a:xfrm>
          <a:prstGeom prst="ellipse">
            <a:avLst/>
          </a:prstGeom>
          <a:solidFill>
            <a:schemeClr val="accent1"/>
          </a:solidFill>
          <a:ln w="12700">
            <a:solidFill>
              <a:srgbClr val="F2B705"/>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pic>
        <p:nvPicPr>
          <p:cNvPr id="239" name="Image 1" descr="icon"/>
          <p:cNvPicPr/>
          <p:nvPr/>
        </p:nvPicPr>
        <p:blipFill>
          <a:blip r:embed="rId2"/>
          <a:stretch>
            <a:fillRect/>
          </a:stretch>
        </p:blipFill>
        <p:spPr>
          <a:xfrm>
            <a:off x="6909120" y="1697040"/>
            <a:ext cx="263160" cy="263160"/>
          </a:xfrm>
          <a:prstGeom prst="rect">
            <a:avLst/>
          </a:prstGeom>
          <a:noFill/>
          <a:ln w="0">
            <a:noFill/>
          </a:ln>
        </p:spPr>
      </p:pic>
      <p:sp>
        <p:nvSpPr>
          <p:cNvPr id="240" name="Text 9"/>
          <p:cNvSpPr/>
          <p:nvPr/>
        </p:nvSpPr>
        <p:spPr>
          <a:xfrm>
            <a:off x="6766560" y="2148840"/>
            <a:ext cx="205704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pPr>
            <a:r>
              <a:rPr lang="en-US" sz="1500" b="1" u="none" strike="noStrike">
                <a:solidFill>
                  <a:schemeClr val="dk2"/>
                </a:solidFill>
                <a:effectLst/>
                <a:uFillTx/>
                <a:latin typeface="Calibri"/>
              </a:rPr>
              <a:t>Edge cases</a:t>
            </a:r>
            <a:endParaRPr lang="en-US" sz="1500" b="0" u="none" strike="noStrike">
              <a:solidFill>
                <a:srgbClr val="000000"/>
              </a:solidFill>
              <a:effectLst/>
              <a:uFillTx/>
              <a:latin typeface="Arial" panose="020B0604020202020204"/>
            </a:endParaRPr>
          </a:p>
        </p:txBody>
      </p:sp>
      <p:sp>
        <p:nvSpPr>
          <p:cNvPr id="241" name="category Incorrect-information cases"/>
          <p:cNvSpPr/>
          <p:nvPr/>
        </p:nvSpPr>
        <p:spPr>
          <a:xfrm>
            <a:off x="9235440" y="1371600"/>
            <a:ext cx="2377080" cy="1371240"/>
          </a:xfrm>
          <a:prstGeom prst="roundRect">
            <a:avLst>
              <a:gd name="adj" fmla="val 8000"/>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242" name="icon circle"/>
          <p:cNvSpPr/>
          <p:nvPr/>
        </p:nvSpPr>
        <p:spPr>
          <a:xfrm>
            <a:off x="9418320" y="1554480"/>
            <a:ext cx="548280" cy="548280"/>
          </a:xfrm>
          <a:prstGeom prst="ellipse">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243" name="Image 2" descr="icon"/>
          <p:cNvPicPr/>
          <p:nvPr/>
        </p:nvPicPr>
        <p:blipFill>
          <a:blip r:embed="rId3"/>
          <a:stretch>
            <a:fillRect/>
          </a:stretch>
        </p:blipFill>
        <p:spPr>
          <a:xfrm>
            <a:off x="9560880" y="1697040"/>
            <a:ext cx="263160" cy="263160"/>
          </a:xfrm>
          <a:prstGeom prst="rect">
            <a:avLst/>
          </a:prstGeom>
          <a:noFill/>
          <a:ln w="0">
            <a:noFill/>
          </a:ln>
        </p:spPr>
      </p:pic>
      <p:sp>
        <p:nvSpPr>
          <p:cNvPr id="244" name="Text 12"/>
          <p:cNvSpPr/>
          <p:nvPr/>
        </p:nvSpPr>
        <p:spPr>
          <a:xfrm>
            <a:off x="9418320" y="2148840"/>
            <a:ext cx="205704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pPr>
            <a:r>
              <a:rPr lang="en-US" sz="1500" b="1" u="none" strike="noStrike">
                <a:solidFill>
                  <a:schemeClr val="dk2"/>
                </a:solidFill>
                <a:effectLst/>
                <a:uFillTx/>
                <a:latin typeface="Calibri"/>
              </a:rPr>
              <a:t>Incorrect-information cases</a:t>
            </a:r>
            <a:endParaRPr lang="en-US" sz="1500" b="0" u="none" strike="noStrike">
              <a:solidFill>
                <a:srgbClr val="000000"/>
              </a:solidFill>
              <a:effectLst/>
              <a:uFillTx/>
              <a:latin typeface="Arial" panose="020B0604020202020204"/>
            </a:endParaRPr>
          </a:p>
        </p:txBody>
      </p:sp>
      <p:sp>
        <p:nvSpPr>
          <p:cNvPr id="245" name="category Adversarial cases"/>
          <p:cNvSpPr/>
          <p:nvPr/>
        </p:nvSpPr>
        <p:spPr>
          <a:xfrm>
            <a:off x="3931920" y="3017520"/>
            <a:ext cx="2377080" cy="1371240"/>
          </a:xfrm>
          <a:prstGeom prst="roundRect">
            <a:avLst>
              <a:gd name="adj" fmla="val 8000"/>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246" name="icon circle"/>
          <p:cNvSpPr/>
          <p:nvPr/>
        </p:nvSpPr>
        <p:spPr>
          <a:xfrm>
            <a:off x="4114800" y="3200400"/>
            <a:ext cx="548280" cy="548280"/>
          </a:xfrm>
          <a:prstGeom prst="ellipse">
            <a:avLst/>
          </a:prstGeom>
          <a:solidFill>
            <a:schemeClr val="accent3"/>
          </a:solidFill>
          <a:ln w="12700">
            <a:solidFill>
              <a:srgbClr val="E5484D"/>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247" name="Image 3" descr="icon"/>
          <p:cNvPicPr/>
          <p:nvPr/>
        </p:nvPicPr>
        <p:blipFill>
          <a:blip r:embed="rId4"/>
          <a:stretch>
            <a:fillRect/>
          </a:stretch>
        </p:blipFill>
        <p:spPr>
          <a:xfrm>
            <a:off x="4257360" y="3342960"/>
            <a:ext cx="263160" cy="263160"/>
          </a:xfrm>
          <a:prstGeom prst="rect">
            <a:avLst/>
          </a:prstGeom>
          <a:noFill/>
          <a:ln w="0">
            <a:noFill/>
          </a:ln>
        </p:spPr>
      </p:pic>
      <p:sp>
        <p:nvSpPr>
          <p:cNvPr id="248" name="Text 15"/>
          <p:cNvSpPr/>
          <p:nvPr/>
        </p:nvSpPr>
        <p:spPr>
          <a:xfrm>
            <a:off x="4114800" y="3794760"/>
            <a:ext cx="205704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pPr>
            <a:r>
              <a:rPr lang="en-US" sz="1500" b="1" u="none" strike="noStrike">
                <a:solidFill>
                  <a:schemeClr val="dk2"/>
                </a:solidFill>
                <a:effectLst/>
                <a:uFillTx/>
                <a:latin typeface="Calibri"/>
              </a:rPr>
              <a:t>Adversarial cases</a:t>
            </a:r>
            <a:endParaRPr lang="en-US" sz="1500" b="0" u="none" strike="noStrike">
              <a:solidFill>
                <a:srgbClr val="000000"/>
              </a:solidFill>
              <a:effectLst/>
              <a:uFillTx/>
              <a:latin typeface="Arial" panose="020B0604020202020204"/>
            </a:endParaRPr>
          </a:p>
        </p:txBody>
      </p:sp>
      <p:sp>
        <p:nvSpPr>
          <p:cNvPr id="249" name="category Tool-failure cases"/>
          <p:cNvSpPr/>
          <p:nvPr/>
        </p:nvSpPr>
        <p:spPr>
          <a:xfrm>
            <a:off x="6583680" y="3017520"/>
            <a:ext cx="2377080" cy="1371240"/>
          </a:xfrm>
          <a:prstGeom prst="roundRect">
            <a:avLst>
              <a:gd name="adj" fmla="val 8000"/>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250" name="icon circle"/>
          <p:cNvSpPr/>
          <p:nvPr/>
        </p:nvSpPr>
        <p:spPr>
          <a:xfrm>
            <a:off x="6766560" y="3200400"/>
            <a:ext cx="548280" cy="548280"/>
          </a:xfrm>
          <a:prstGeom prst="ellipse">
            <a:avLst/>
          </a:prstGeom>
          <a:solidFill>
            <a:schemeClr val="accent2"/>
          </a:solidFill>
          <a:ln w="12700">
            <a:solidFill>
              <a:srgbClr val="1FA3A3"/>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251" name="Image 4" descr="icon"/>
          <p:cNvPicPr/>
          <p:nvPr/>
        </p:nvPicPr>
        <p:blipFill>
          <a:blip r:embed="rId5"/>
          <a:stretch>
            <a:fillRect/>
          </a:stretch>
        </p:blipFill>
        <p:spPr>
          <a:xfrm>
            <a:off x="6909120" y="3342960"/>
            <a:ext cx="263160" cy="263160"/>
          </a:xfrm>
          <a:prstGeom prst="rect">
            <a:avLst/>
          </a:prstGeom>
          <a:noFill/>
          <a:ln w="0">
            <a:noFill/>
          </a:ln>
        </p:spPr>
      </p:pic>
      <p:sp>
        <p:nvSpPr>
          <p:cNvPr id="252" name="Text 18"/>
          <p:cNvSpPr/>
          <p:nvPr/>
        </p:nvSpPr>
        <p:spPr>
          <a:xfrm>
            <a:off x="6766560" y="3794760"/>
            <a:ext cx="205704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pPr>
            <a:r>
              <a:rPr lang="en-US" sz="1500" b="1" u="none" strike="noStrike">
                <a:solidFill>
                  <a:schemeClr val="dk2"/>
                </a:solidFill>
                <a:effectLst/>
                <a:uFillTx/>
                <a:latin typeface="Calibri"/>
              </a:rPr>
              <a:t>Tool-failure cases</a:t>
            </a:r>
            <a:endParaRPr lang="en-US" sz="1500" b="0" u="none" strike="noStrike">
              <a:solidFill>
                <a:srgbClr val="000000"/>
              </a:solidFill>
              <a:effectLst/>
              <a:uFillTx/>
              <a:latin typeface="Arial" panose="020B0604020202020204"/>
            </a:endParaRPr>
          </a:p>
        </p:txBody>
      </p:sp>
      <p:sp>
        <p:nvSpPr>
          <p:cNvPr id="253" name="category Unauthorized-action cases"/>
          <p:cNvSpPr/>
          <p:nvPr/>
        </p:nvSpPr>
        <p:spPr>
          <a:xfrm>
            <a:off x="9235440" y="3017520"/>
            <a:ext cx="2377080" cy="1371240"/>
          </a:xfrm>
          <a:prstGeom prst="roundRect">
            <a:avLst>
              <a:gd name="adj" fmla="val 8000"/>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254" name="icon circle"/>
          <p:cNvSpPr/>
          <p:nvPr/>
        </p:nvSpPr>
        <p:spPr>
          <a:xfrm>
            <a:off x="9418320" y="3200400"/>
            <a:ext cx="548280" cy="548280"/>
          </a:xfrm>
          <a:prstGeom prst="ellipse">
            <a:avLst/>
          </a:prstGeom>
          <a:solidFill>
            <a:schemeClr val="accent6"/>
          </a:solidFill>
          <a:ln w="12700">
            <a:solidFill>
              <a:srgbClr val="7A8AA6"/>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255" name="Image 5" descr="icon"/>
          <p:cNvPicPr/>
          <p:nvPr/>
        </p:nvPicPr>
        <p:blipFill>
          <a:blip r:embed="rId6"/>
          <a:stretch>
            <a:fillRect/>
          </a:stretch>
        </p:blipFill>
        <p:spPr>
          <a:xfrm>
            <a:off x="9560880" y="3342960"/>
            <a:ext cx="263160" cy="263160"/>
          </a:xfrm>
          <a:prstGeom prst="rect">
            <a:avLst/>
          </a:prstGeom>
          <a:noFill/>
          <a:ln w="0">
            <a:noFill/>
          </a:ln>
        </p:spPr>
      </p:pic>
      <p:sp>
        <p:nvSpPr>
          <p:cNvPr id="256" name="Text 21"/>
          <p:cNvSpPr/>
          <p:nvPr/>
        </p:nvSpPr>
        <p:spPr>
          <a:xfrm>
            <a:off x="9418320" y="3794760"/>
            <a:ext cx="2057040" cy="5025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tabLst>
                <a:tab pos="0" algn="l"/>
              </a:tabLst>
            </a:pPr>
            <a:r>
              <a:rPr lang="en-US" sz="1500" b="1" u="none" strike="noStrike">
                <a:solidFill>
                  <a:schemeClr val="dk2"/>
                </a:solidFill>
                <a:effectLst/>
                <a:uFillTx/>
                <a:latin typeface="Calibri"/>
              </a:rPr>
              <a:t>Unauthorized-action cases</a:t>
            </a:r>
            <a:endParaRPr lang="en-US" sz="1500" b="0" u="none" strike="noStrike">
              <a:solidFill>
                <a:srgbClr val="000000"/>
              </a:solidFill>
              <a:effectLst/>
              <a:uFillTx/>
              <a:latin typeface="Arial" panose="020B0604020202020204"/>
            </a:endParaRPr>
          </a:p>
        </p:txBody>
      </p:sp>
      <p:sp>
        <p:nvSpPr>
          <p:cNvPr id="257" name="repo evidence panel"/>
          <p:cNvSpPr/>
          <p:nvPr/>
        </p:nvSpPr>
        <p:spPr>
          <a:xfrm>
            <a:off x="548640" y="4617720"/>
            <a:ext cx="11091240" cy="1599840"/>
          </a:xfrm>
          <a:prstGeom prst="roundRect">
            <a:avLst>
              <a:gd name="adj" fmla="val 5714"/>
            </a:avLst>
          </a:prstGeom>
          <a:solidFill>
            <a:srgbClr val="071428"/>
          </a:solidFill>
          <a:ln w="12700">
            <a:solidFill>
              <a:srgbClr val="07142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258" name="Text 23"/>
          <p:cNvSpPr/>
          <p:nvPr/>
        </p:nvSpPr>
        <p:spPr>
          <a:xfrm>
            <a:off x="822960" y="4681800"/>
            <a:ext cx="4571640"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200" b="1" u="none" strike="noStrike">
                <a:solidFill>
                  <a:schemeClr val="accent1"/>
                </a:solidFill>
                <a:effectLst/>
                <a:uFillTx/>
                <a:latin typeface="Calibri"/>
              </a:rPr>
              <a:t>Evidence in the repo</a:t>
            </a:r>
            <a:endParaRPr lang="en-US" sz="1200" b="0" u="none" strike="noStrike">
              <a:solidFill>
                <a:srgbClr val="000000"/>
              </a:solidFill>
              <a:effectLst/>
              <a:uFillTx/>
              <a:latin typeface="Arial" panose="020B0604020202020204"/>
            </a:endParaRPr>
          </a:p>
        </p:txBody>
      </p:sp>
      <p:sp>
        <p:nvSpPr>
          <p:cNvPr id="259" name="Text 24"/>
          <p:cNvSpPr/>
          <p:nvPr/>
        </p:nvSpPr>
        <p:spPr>
          <a:xfrm>
            <a:off x="822960" y="5074920"/>
            <a:ext cx="10515240" cy="10512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spcAft>
                <a:spcPts val="400"/>
              </a:spcAft>
              <a:tabLst>
                <a:tab pos="0" algn="l"/>
              </a:tabLst>
            </a:pPr>
            <a:r>
              <a:rPr lang="en-US" sz="1200" b="0" u="none" strike="noStrike">
                <a:solidFill>
                  <a:schemeClr val="lt1"/>
                </a:solidFill>
                <a:effectLst/>
                <a:uFillTx/>
                <a:latin typeface="Courier New" panose="02070309020205020404"/>
                <a:ea typeface="Courier New" panose="02070309020205020404"/>
              </a:rPr>
              <a:t>docs/evaluation/week7/Week_7_AI_Agent_Evaluation_Simple_Test_Cases.md</a:t>
            </a:r>
            <a:endParaRPr lang="en-US" sz="1200" b="0" u="none" strike="noStrike">
              <a:solidFill>
                <a:srgbClr val="000000"/>
              </a:solidFill>
              <a:effectLst/>
              <a:uFillTx/>
              <a:latin typeface="Arial" panose="020B0604020202020204"/>
            </a:endParaRPr>
          </a:p>
          <a:p>
            <a:pPr defTabSz="914400">
              <a:lnSpc>
                <a:spcPct val="100000"/>
              </a:lnSpc>
              <a:spcAft>
                <a:spcPts val="400"/>
              </a:spcAft>
              <a:tabLst>
                <a:tab pos="0" algn="l"/>
              </a:tabLst>
            </a:pPr>
            <a:r>
              <a:rPr lang="en-US" sz="1200" b="0" u="none" strike="noStrike">
                <a:solidFill>
                  <a:schemeClr val="lt1"/>
                </a:solidFill>
                <a:effectLst/>
                <a:uFillTx/>
                <a:latin typeface="Courier New" panose="02070309020205020404"/>
                <a:ea typeface="Courier New" panose="02070309020205020404"/>
              </a:rPr>
              <a:t>evidence/demo/centenary-agent-week6/week7_evaluation_harness.py</a:t>
            </a:r>
            <a:endParaRPr lang="en-US" sz="1200" b="0" u="none" strike="noStrike">
              <a:solidFill>
                <a:srgbClr val="000000"/>
              </a:solidFill>
              <a:effectLst/>
              <a:uFillTx/>
              <a:latin typeface="Arial" panose="020B0604020202020204"/>
            </a:endParaRPr>
          </a:p>
          <a:p>
            <a:pPr defTabSz="914400">
              <a:lnSpc>
                <a:spcPct val="100000"/>
              </a:lnSpc>
              <a:spcAft>
                <a:spcPts val="400"/>
              </a:spcAft>
              <a:tabLst>
                <a:tab pos="0" algn="l"/>
              </a:tabLst>
            </a:pPr>
            <a:r>
              <a:rPr lang="en-US" sz="1200" b="0" u="none" strike="noStrike">
                <a:solidFill>
                  <a:schemeClr val="lt1"/>
                </a:solidFill>
                <a:effectLst/>
                <a:uFillTx/>
                <a:latin typeface="Courier New" panose="02070309020205020404"/>
                <a:ea typeface="Courier New" panose="02070309020205020404"/>
              </a:rPr>
              <a:t>tests/week7/test_week7_evaluation_harness.py — asserts the configured scenarios total 30</a:t>
            </a:r>
            <a:endParaRPr lang="en-US" sz="1200" b="0" u="none" strike="noStrike">
              <a:solidFill>
                <a:srgbClr val="000000"/>
              </a:solidFill>
              <a:effectLst/>
              <a:uFillTx/>
              <a:latin typeface="Arial" panose="020B0604020202020204"/>
            </a:endParaRPr>
          </a:p>
        </p:txBody>
      </p:sp>
      <p:sp>
        <p:nvSpPr>
          <p:cNvPr id="260" name="PlaceHolder 2"/>
          <p:cNvSpPr>
            <a:spLocks noGrp="1"/>
          </p:cNvSpPr>
          <p:nvPr>
            <p:ph type="sldNum" idx="11"/>
          </p:nvPr>
        </p:nvSpPr>
        <p:spPr>
          <a:xfrm>
            <a:off x="1124712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000" b="0" u="none" strike="noStrike">
                <a:solidFill>
                  <a:srgbClr val="7A8AA6"/>
                </a:solidFill>
                <a:effectLst/>
                <a:uFillTx/>
                <a:latin typeface="Calibri"/>
              </a:defRPr>
            </a:lvl1pPr>
          </a:lstStyle>
          <a:p>
            <a:pPr indent="0" algn="l" defTabSz="914400">
              <a:lnSpc>
                <a:spcPct val="100000"/>
              </a:lnSpc>
              <a:buNone/>
            </a:pPr>
            <a:fld id="{253C3C1A-FBDE-4ABD-AA94-2EFF2D34ED67}" type="slidenum">
              <a:rPr lang="en-US" sz="1000" b="0" u="none" strike="noStrike">
                <a:solidFill>
                  <a:srgbClr val="7A8AA6"/>
                </a:solidFill>
                <a:effectLst/>
                <a:uFillTx/>
                <a:latin typeface="Calibri"/>
              </a:rPr>
            </a:fld>
            <a:endParaRPr lang="en-US" sz="100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PlaceHolder 1"/>
          <p:cNvSpPr>
            <a:spLocks noGrp="1"/>
          </p:cNvSpPr>
          <p:nvPr>
            <p:ph type="title" hasCustomPrompt="1"/>
          </p:nvPr>
        </p:nvSpPr>
        <p:spPr>
          <a:xfrm>
            <a:off x="548640" y="365760"/>
            <a:ext cx="11063880" cy="776880"/>
          </a:xfrm>
          <a:prstGeom prst="rect">
            <a:avLst/>
          </a:prstGeom>
          <a:noFill/>
          <a:ln w="0">
            <a:noFill/>
          </a:ln>
        </p:spPr>
        <p:txBody>
          <a:bodyPr lIns="0" tIns="0" rIns="0" bIns="0" anchor="ctr">
            <a:noAutofit/>
          </a:bodyPr>
          <a:p>
            <a:pPr indent="0" algn="ctr" defTabSz="914400">
              <a:lnSpc>
                <a:spcPct val="100000"/>
              </a:lnSpc>
              <a:buNone/>
              <a:tabLst>
                <a:tab pos="0" algn="l"/>
              </a:tabLst>
            </a:pPr>
            <a:r>
              <a:rPr lang="en-US" sz="3400" b="1" u="none" strike="noStrike">
                <a:solidFill>
                  <a:schemeClr val="dk2"/>
                </a:solidFill>
                <a:effectLst/>
                <a:uFillTx/>
                <a:latin typeface="Cambria"/>
              </a:rPr>
              <a:t>Controlled failure: cross-customer access</a:t>
            </a:r>
            <a:endParaRPr lang="en-US" sz="3400" b="0" u="none" strike="noStrike">
              <a:solidFill>
                <a:schemeClr val="dk1"/>
              </a:solidFill>
              <a:effectLst/>
              <a:uFillTx/>
              <a:latin typeface="Calibri"/>
            </a:endParaRPr>
          </a:p>
        </p:txBody>
      </p:sp>
      <p:sp>
        <p:nvSpPr>
          <p:cNvPr id="262" name="attacker card"/>
          <p:cNvSpPr/>
          <p:nvPr/>
        </p:nvSpPr>
        <p:spPr>
          <a:xfrm>
            <a:off x="548640" y="1371600"/>
            <a:ext cx="3200040" cy="1737000"/>
          </a:xfrm>
          <a:prstGeom prst="roundRect">
            <a:avLst>
              <a:gd name="adj" fmla="val 6316"/>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263" name="icon circle"/>
          <p:cNvSpPr/>
          <p:nvPr/>
        </p:nvSpPr>
        <p:spPr>
          <a:xfrm>
            <a:off x="777240" y="1600200"/>
            <a:ext cx="639720" cy="639720"/>
          </a:xfrm>
          <a:prstGeom prst="ellipse">
            <a:avLst/>
          </a:prstGeom>
          <a:solidFill>
            <a:schemeClr val="accent3"/>
          </a:solidFill>
          <a:ln w="12700">
            <a:solidFill>
              <a:srgbClr val="E5484D"/>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264" name="Image 0" descr="icon"/>
          <p:cNvPicPr/>
          <p:nvPr/>
        </p:nvPicPr>
        <p:blipFill>
          <a:blip r:embed="rId1"/>
          <a:stretch>
            <a:fillRect/>
          </a:stretch>
        </p:blipFill>
        <p:spPr>
          <a:xfrm>
            <a:off x="943560" y="1766520"/>
            <a:ext cx="306720" cy="306720"/>
          </a:xfrm>
          <a:prstGeom prst="rect">
            <a:avLst/>
          </a:prstGeom>
          <a:noFill/>
          <a:ln w="0">
            <a:noFill/>
          </a:ln>
        </p:spPr>
      </p:pic>
      <p:sp>
        <p:nvSpPr>
          <p:cNvPr id="265" name="Text 3"/>
          <p:cNvSpPr/>
          <p:nvPr/>
        </p:nvSpPr>
        <p:spPr>
          <a:xfrm>
            <a:off x="1554480" y="1554480"/>
            <a:ext cx="2102760" cy="1371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800" b="1" u="none" strike="noStrike">
                <a:solidFill>
                  <a:schemeClr val="dk2"/>
                </a:solidFill>
                <a:effectLst/>
                <a:uFillTx/>
                <a:latin typeface="Courier New" panose="02070309020205020404"/>
                <a:ea typeface="Courier New" panose="02070309020205020404"/>
              </a:rPr>
              <a:t>CUST-HACKER</a:t>
            </a:r>
            <a:endParaRPr lang="en-US" sz="1800" b="0" u="none" strike="noStrike">
              <a:solidFill>
                <a:srgbClr val="000000"/>
              </a:solidFill>
              <a:effectLst/>
              <a:uFillTx/>
              <a:latin typeface="Arial" panose="020B0604020202020204"/>
            </a:endParaRPr>
          </a:p>
          <a:p>
            <a:pPr defTabSz="914400">
              <a:lnSpc>
                <a:spcPct val="100000"/>
              </a:lnSpc>
              <a:tabLst>
                <a:tab pos="0" algn="l"/>
              </a:tabLst>
            </a:pPr>
            <a:r>
              <a:rPr lang="en-US" sz="1400" b="0" u="none" strike="noStrike">
                <a:solidFill>
                  <a:schemeClr val="dk1"/>
                </a:solidFill>
                <a:effectLst/>
                <a:uFillTx/>
                <a:latin typeface="Calibri"/>
                <a:ea typeface="Courier New" panose="02070309020205020404"/>
              </a:rPr>
              <a:t>asks for the status of ticket CS-10245</a:t>
            </a:r>
            <a:endParaRPr lang="en-US" sz="1400" b="0" u="none" strike="noStrike">
              <a:solidFill>
                <a:srgbClr val="000000"/>
              </a:solidFill>
              <a:effectLst/>
              <a:uFillTx/>
              <a:latin typeface="Arial" panose="020B0604020202020204"/>
            </a:endParaRPr>
          </a:p>
        </p:txBody>
      </p:sp>
      <p:sp>
        <p:nvSpPr>
          <p:cNvPr id="266" name="guard card"/>
          <p:cNvSpPr/>
          <p:nvPr/>
        </p:nvSpPr>
        <p:spPr>
          <a:xfrm>
            <a:off x="4572000" y="1371600"/>
            <a:ext cx="3017160" cy="1737000"/>
          </a:xfrm>
          <a:prstGeom prst="roundRect">
            <a:avLst>
              <a:gd name="adj" fmla="val 6316"/>
            </a:avLst>
          </a:prstGeom>
          <a:solidFill>
            <a:schemeClr val="tx2"/>
          </a:solidFill>
          <a:ln w="12700">
            <a:solidFill>
              <a:srgbClr val="0B1F3A"/>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267" name="icon circle"/>
          <p:cNvSpPr/>
          <p:nvPr/>
        </p:nvSpPr>
        <p:spPr>
          <a:xfrm>
            <a:off x="4800600" y="1600200"/>
            <a:ext cx="639720" cy="639720"/>
          </a:xfrm>
          <a:prstGeom prst="ellipse">
            <a:avLst/>
          </a:prstGeom>
          <a:solidFill>
            <a:schemeClr val="accent1"/>
          </a:solidFill>
          <a:ln w="12700">
            <a:solidFill>
              <a:srgbClr val="F2B705"/>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pic>
        <p:nvPicPr>
          <p:cNvPr id="268" name="Image 1" descr="icon"/>
          <p:cNvPicPr/>
          <p:nvPr/>
        </p:nvPicPr>
        <p:blipFill>
          <a:blip r:embed="rId2"/>
          <a:stretch>
            <a:fillRect/>
          </a:stretch>
        </p:blipFill>
        <p:spPr>
          <a:xfrm>
            <a:off x="4966920" y="1766520"/>
            <a:ext cx="306720" cy="306720"/>
          </a:xfrm>
          <a:prstGeom prst="rect">
            <a:avLst/>
          </a:prstGeom>
          <a:noFill/>
          <a:ln w="0">
            <a:noFill/>
          </a:ln>
        </p:spPr>
      </p:pic>
      <p:sp>
        <p:nvSpPr>
          <p:cNvPr id="269" name="Text 6"/>
          <p:cNvSpPr/>
          <p:nvPr/>
        </p:nvSpPr>
        <p:spPr>
          <a:xfrm>
            <a:off x="5577840" y="1554480"/>
            <a:ext cx="1919880" cy="1371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700" b="1" u="none" strike="noStrike">
                <a:solidFill>
                  <a:schemeClr val="lt1"/>
                </a:solidFill>
                <a:effectLst/>
                <a:uFillTx/>
                <a:latin typeface="Calibri"/>
              </a:rPr>
              <a:t>Ownership check</a:t>
            </a:r>
            <a:endParaRPr lang="en-US" sz="1700" b="0" u="none" strike="noStrike">
              <a:solidFill>
                <a:srgbClr val="000000"/>
              </a:solidFill>
              <a:effectLst/>
              <a:uFillTx/>
              <a:latin typeface="Arial" panose="020B0604020202020204"/>
            </a:endParaRPr>
          </a:p>
          <a:p>
            <a:pPr defTabSz="914400">
              <a:lnSpc>
                <a:spcPct val="100000"/>
              </a:lnSpc>
              <a:tabLst>
                <a:tab pos="0" algn="l"/>
              </a:tabLst>
            </a:pPr>
            <a:r>
              <a:rPr lang="en-US" sz="1300" b="0" u="none" strike="noStrike">
                <a:solidFill>
                  <a:schemeClr val="lt2"/>
                </a:solidFill>
                <a:effectLst/>
                <a:uFillTx/>
                <a:latin typeface="Calibri"/>
              </a:rPr>
              <a:t>trusted session identity</a:t>
            </a:r>
            <a:endParaRPr lang="en-US" sz="1300" b="0" u="none" strike="noStrike">
              <a:solidFill>
                <a:srgbClr val="000000"/>
              </a:solidFill>
              <a:effectLst/>
              <a:uFillTx/>
              <a:latin typeface="Arial" panose="020B0604020202020204"/>
            </a:endParaRPr>
          </a:p>
        </p:txBody>
      </p:sp>
      <p:sp>
        <p:nvSpPr>
          <p:cNvPr id="270" name="ticket card"/>
          <p:cNvSpPr/>
          <p:nvPr/>
        </p:nvSpPr>
        <p:spPr>
          <a:xfrm>
            <a:off x="8412480" y="1371600"/>
            <a:ext cx="3227400" cy="1737000"/>
          </a:xfrm>
          <a:prstGeom prst="roundRect">
            <a:avLst>
              <a:gd name="adj" fmla="val 6316"/>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271" name="icon circle"/>
          <p:cNvSpPr/>
          <p:nvPr/>
        </p:nvSpPr>
        <p:spPr>
          <a:xfrm>
            <a:off x="8641080" y="1600200"/>
            <a:ext cx="639720" cy="639720"/>
          </a:xfrm>
          <a:prstGeom prst="ellipse">
            <a:avLst/>
          </a:prstGeom>
          <a:solidFill>
            <a:schemeClr val="accent5"/>
          </a:solidFill>
          <a:ln w="12700">
            <a:solidFill>
              <a:srgbClr val="3B6FD4"/>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272" name="Image 2" descr="icon"/>
          <p:cNvPicPr/>
          <p:nvPr/>
        </p:nvPicPr>
        <p:blipFill>
          <a:blip r:embed="rId3"/>
          <a:stretch>
            <a:fillRect/>
          </a:stretch>
        </p:blipFill>
        <p:spPr>
          <a:xfrm>
            <a:off x="8807400" y="1766520"/>
            <a:ext cx="306720" cy="306720"/>
          </a:xfrm>
          <a:prstGeom prst="rect">
            <a:avLst/>
          </a:prstGeom>
          <a:noFill/>
          <a:ln w="0">
            <a:noFill/>
          </a:ln>
        </p:spPr>
      </p:pic>
      <p:sp>
        <p:nvSpPr>
          <p:cNvPr id="273" name="Text 9"/>
          <p:cNvSpPr/>
          <p:nvPr/>
        </p:nvSpPr>
        <p:spPr>
          <a:xfrm>
            <a:off x="9418320" y="1554480"/>
            <a:ext cx="2148480" cy="1371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800" b="1" u="none" strike="noStrike">
                <a:solidFill>
                  <a:schemeClr val="dk2"/>
                </a:solidFill>
                <a:effectLst/>
                <a:uFillTx/>
                <a:latin typeface="Courier New" panose="02070309020205020404"/>
                <a:ea typeface="Courier New" panose="02070309020205020404"/>
              </a:rPr>
              <a:t>Ticket CS-10245</a:t>
            </a:r>
            <a:endParaRPr lang="en-US" sz="1800" b="0" u="none" strike="noStrike">
              <a:solidFill>
                <a:srgbClr val="000000"/>
              </a:solidFill>
              <a:effectLst/>
              <a:uFillTx/>
              <a:latin typeface="Arial" panose="020B0604020202020204"/>
            </a:endParaRPr>
          </a:p>
          <a:p>
            <a:pPr defTabSz="914400">
              <a:lnSpc>
                <a:spcPct val="100000"/>
              </a:lnSpc>
              <a:tabLst>
                <a:tab pos="0" algn="l"/>
              </a:tabLst>
            </a:pPr>
            <a:r>
              <a:rPr lang="en-US" sz="1400" b="0" u="none" strike="noStrike">
                <a:solidFill>
                  <a:schemeClr val="dk1"/>
                </a:solidFill>
                <a:effectLst/>
                <a:uFillTx/>
                <a:latin typeface="Calibri"/>
                <a:ea typeface="Courier New" panose="02070309020205020404"/>
              </a:rPr>
              <a:t>belongs to CUST-88213</a:t>
            </a:r>
            <a:endParaRPr lang="en-US" sz="1400" b="0" u="none" strike="noStrike">
              <a:solidFill>
                <a:srgbClr val="000000"/>
              </a:solidFill>
              <a:effectLst/>
              <a:uFillTx/>
              <a:latin typeface="Arial" panose="020B0604020202020204"/>
            </a:endParaRPr>
          </a:p>
        </p:txBody>
      </p:sp>
      <p:sp>
        <p:nvSpPr>
          <p:cNvPr id="274" name="Shape 10"/>
          <p:cNvSpPr/>
          <p:nvPr/>
        </p:nvSpPr>
        <p:spPr>
          <a:xfrm>
            <a:off x="3749040" y="2240280"/>
            <a:ext cx="822960" cy="360"/>
          </a:xfrm>
          <a:prstGeom prst="line">
            <a:avLst/>
          </a:prstGeom>
          <a:ln w="38100">
            <a:solidFill>
              <a:srgbClr val="E5484D"/>
            </a:solidFill>
            <a:round/>
            <a:tailEnd type="triangle" w="med" len="med"/>
          </a:ln>
        </p:spPr>
        <p:style>
          <a:lnRef idx="0">
            <a:srgbClr val="FFFFFF"/>
          </a:lnRef>
          <a:fillRef idx="0">
            <a:srgbClr val="FFFFFF"/>
          </a:fillRef>
          <a:effectRef idx="0">
            <a:srgbClr val="FFFFFF"/>
          </a:effectRef>
          <a:fontRef idx="minor"/>
        </p:style>
        <p:txBody>
          <a:bodyPr lIns="90000" tIns="-44640" rIns="90000" bIns="-44640" anchor="t" anchorCtr="1">
            <a:noAutofit/>
          </a:bodyPr>
          <a:p>
            <a:endParaRPr lang="en-US" sz="1800" b="0" u="none" strike="noStrike">
              <a:solidFill>
                <a:srgbClr val="000000"/>
              </a:solidFill>
              <a:effectLst/>
              <a:uFillTx/>
              <a:latin typeface="Arial" panose="020B0604020202020204"/>
            </a:endParaRPr>
          </a:p>
        </p:txBody>
      </p:sp>
      <p:sp>
        <p:nvSpPr>
          <p:cNvPr id="275" name="Shape 11"/>
          <p:cNvSpPr/>
          <p:nvPr/>
        </p:nvSpPr>
        <p:spPr>
          <a:xfrm>
            <a:off x="7589520" y="2240280"/>
            <a:ext cx="822960" cy="360"/>
          </a:xfrm>
          <a:prstGeom prst="line">
            <a:avLst/>
          </a:prstGeom>
          <a:ln w="38100">
            <a:solidFill>
              <a:srgbClr val="E5484D"/>
            </a:solidFill>
            <a:prstDash val="dash"/>
            <a:round/>
          </a:ln>
        </p:spPr>
        <p:style>
          <a:lnRef idx="0">
            <a:srgbClr val="FFFFFF"/>
          </a:lnRef>
          <a:fillRef idx="0">
            <a:srgbClr val="FFFFFF"/>
          </a:fillRef>
          <a:effectRef idx="0">
            <a:srgbClr val="FFFFFF"/>
          </a:effectRef>
          <a:fontRef idx="minor"/>
        </p:style>
        <p:txBody>
          <a:bodyPr lIns="90000" tIns="-44640" rIns="90000" bIns="-44640" anchor="t" anchorCtr="1">
            <a:noAutofit/>
          </a:bodyPr>
          <a:p>
            <a:endParaRPr lang="en-US" sz="1800" b="0" u="none" strike="noStrike">
              <a:solidFill>
                <a:srgbClr val="000000"/>
              </a:solidFill>
              <a:effectLst/>
              <a:uFillTx/>
              <a:latin typeface="Arial" panose="020B0604020202020204"/>
            </a:endParaRPr>
          </a:p>
        </p:txBody>
      </p:sp>
      <p:sp>
        <p:nvSpPr>
          <p:cNvPr id="276" name="Shape 12"/>
          <p:cNvSpPr/>
          <p:nvPr/>
        </p:nvSpPr>
        <p:spPr>
          <a:xfrm>
            <a:off x="7772400" y="2011680"/>
            <a:ext cx="456840" cy="456840"/>
          </a:xfrm>
          <a:prstGeom prst="ellipse">
            <a:avLst/>
          </a:prstGeom>
          <a:solidFill>
            <a:schemeClr val="accent3"/>
          </a:solidFill>
          <a:ln w="25400">
            <a:solidFill>
              <a:srgbClr val="FFFFFF"/>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277" name="Image 3" descr="blocked"/>
          <p:cNvPicPr/>
          <p:nvPr/>
        </p:nvPicPr>
        <p:blipFill>
          <a:blip r:embed="rId4"/>
          <a:stretch>
            <a:fillRect/>
          </a:stretch>
        </p:blipFill>
        <p:spPr>
          <a:xfrm>
            <a:off x="7882200" y="2121480"/>
            <a:ext cx="237240" cy="237240"/>
          </a:xfrm>
          <a:prstGeom prst="rect">
            <a:avLst/>
          </a:prstGeom>
          <a:noFill/>
          <a:ln w="0">
            <a:noFill/>
          </a:ln>
        </p:spPr>
      </p:pic>
      <p:sp>
        <p:nvSpPr>
          <p:cNvPr id="278" name="steps card"/>
          <p:cNvSpPr/>
          <p:nvPr/>
        </p:nvSpPr>
        <p:spPr>
          <a:xfrm>
            <a:off x="548640" y="3429000"/>
            <a:ext cx="5486040" cy="2788560"/>
          </a:xfrm>
          <a:prstGeom prst="roundRect">
            <a:avLst>
              <a:gd name="adj" fmla="val 3934"/>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279" name="Text 14"/>
          <p:cNvSpPr/>
          <p:nvPr/>
        </p:nvSpPr>
        <p:spPr>
          <a:xfrm>
            <a:off x="822960" y="3520440"/>
            <a:ext cx="4937400" cy="411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600" b="1" u="none" strike="noStrike">
                <a:solidFill>
                  <a:schemeClr val="dk2"/>
                </a:solidFill>
                <a:effectLst/>
                <a:uFillTx/>
                <a:latin typeface="Calibri"/>
              </a:rPr>
              <a:t>What the system does</a:t>
            </a:r>
            <a:endParaRPr lang="en-US" sz="1600" b="0" u="none" strike="noStrike">
              <a:solidFill>
                <a:srgbClr val="000000"/>
              </a:solidFill>
              <a:effectLst/>
              <a:uFillTx/>
              <a:latin typeface="Arial" panose="020B0604020202020204"/>
            </a:endParaRPr>
          </a:p>
        </p:txBody>
      </p:sp>
      <p:sp>
        <p:nvSpPr>
          <p:cNvPr id="280" name="Shape 15"/>
          <p:cNvSpPr/>
          <p:nvPr/>
        </p:nvSpPr>
        <p:spPr>
          <a:xfrm>
            <a:off x="822960" y="4078080"/>
            <a:ext cx="365400" cy="365400"/>
          </a:xfrm>
          <a:prstGeom prst="ellipse">
            <a:avLst/>
          </a:prstGeom>
          <a:solidFill>
            <a:schemeClr val="accent3"/>
          </a:solidFill>
          <a:ln w="12700">
            <a:solidFill>
              <a:srgbClr val="E5484D"/>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281" name="Text 16"/>
          <p:cNvSpPr/>
          <p:nvPr/>
        </p:nvSpPr>
        <p:spPr>
          <a:xfrm>
            <a:off x="822960" y="4078080"/>
            <a:ext cx="365400"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1</a:t>
            </a:r>
            <a:endParaRPr lang="en-US" sz="1300" b="0" u="none" strike="noStrike">
              <a:solidFill>
                <a:srgbClr val="000000"/>
              </a:solidFill>
              <a:effectLst/>
              <a:uFillTx/>
              <a:latin typeface="Arial" panose="020B0604020202020204"/>
            </a:endParaRPr>
          </a:p>
        </p:txBody>
      </p:sp>
      <p:sp>
        <p:nvSpPr>
          <p:cNvPr id="282" name="Text 17"/>
          <p:cNvSpPr/>
          <p:nvPr/>
        </p:nvSpPr>
        <p:spPr>
          <a:xfrm>
            <a:off x="1371600" y="4023360"/>
            <a:ext cx="4480200" cy="4752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Reads the customer identity from the trusted session context</a:t>
            </a:r>
            <a:endParaRPr lang="en-US" sz="1400" b="0" u="none" strike="noStrike">
              <a:solidFill>
                <a:srgbClr val="000000"/>
              </a:solidFill>
              <a:effectLst/>
              <a:uFillTx/>
              <a:latin typeface="Arial" panose="020B0604020202020204"/>
            </a:endParaRPr>
          </a:p>
        </p:txBody>
      </p:sp>
      <p:sp>
        <p:nvSpPr>
          <p:cNvPr id="283" name="Shape 18"/>
          <p:cNvSpPr/>
          <p:nvPr/>
        </p:nvSpPr>
        <p:spPr>
          <a:xfrm>
            <a:off x="822960" y="4608720"/>
            <a:ext cx="365400" cy="365400"/>
          </a:xfrm>
          <a:prstGeom prst="ellipse">
            <a:avLst/>
          </a:prstGeom>
          <a:solidFill>
            <a:schemeClr val="accent3"/>
          </a:solidFill>
          <a:ln w="12700">
            <a:solidFill>
              <a:srgbClr val="E5484D"/>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284" name="Text 19"/>
          <p:cNvSpPr/>
          <p:nvPr/>
        </p:nvSpPr>
        <p:spPr>
          <a:xfrm>
            <a:off x="822960" y="4608720"/>
            <a:ext cx="365400"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2</a:t>
            </a:r>
            <a:endParaRPr lang="en-US" sz="1300" b="0" u="none" strike="noStrike">
              <a:solidFill>
                <a:srgbClr val="000000"/>
              </a:solidFill>
              <a:effectLst/>
              <a:uFillTx/>
              <a:latin typeface="Arial" panose="020B0604020202020204"/>
            </a:endParaRPr>
          </a:p>
        </p:txBody>
      </p:sp>
      <p:sp>
        <p:nvSpPr>
          <p:cNvPr id="285" name="Text 20"/>
          <p:cNvSpPr/>
          <p:nvPr/>
        </p:nvSpPr>
        <p:spPr>
          <a:xfrm>
            <a:off x="1371600" y="4553640"/>
            <a:ext cx="4480200" cy="4752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Calls the tool with the active customer identity</a:t>
            </a:r>
            <a:endParaRPr lang="en-US" sz="1400" b="0" u="none" strike="noStrike">
              <a:solidFill>
                <a:srgbClr val="000000"/>
              </a:solidFill>
              <a:effectLst/>
              <a:uFillTx/>
              <a:latin typeface="Arial" panose="020B0604020202020204"/>
            </a:endParaRPr>
          </a:p>
        </p:txBody>
      </p:sp>
      <p:sp>
        <p:nvSpPr>
          <p:cNvPr id="286" name="Shape 21"/>
          <p:cNvSpPr/>
          <p:nvPr/>
        </p:nvSpPr>
        <p:spPr>
          <a:xfrm>
            <a:off x="822960" y="5139000"/>
            <a:ext cx="365400" cy="365400"/>
          </a:xfrm>
          <a:prstGeom prst="ellipse">
            <a:avLst/>
          </a:prstGeom>
          <a:solidFill>
            <a:schemeClr val="accent3"/>
          </a:solidFill>
          <a:ln w="12700">
            <a:solidFill>
              <a:srgbClr val="E5484D"/>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287" name="Text 22"/>
          <p:cNvSpPr/>
          <p:nvPr/>
        </p:nvSpPr>
        <p:spPr>
          <a:xfrm>
            <a:off x="822960" y="5139000"/>
            <a:ext cx="365400"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3</a:t>
            </a:r>
            <a:endParaRPr lang="en-US" sz="1300" b="0" u="none" strike="noStrike">
              <a:solidFill>
                <a:srgbClr val="000000"/>
              </a:solidFill>
              <a:effectLst/>
              <a:uFillTx/>
              <a:latin typeface="Arial" panose="020B0604020202020204"/>
            </a:endParaRPr>
          </a:p>
        </p:txBody>
      </p:sp>
      <p:sp>
        <p:nvSpPr>
          <p:cNvPr id="288" name="Text 23"/>
          <p:cNvSpPr/>
          <p:nvPr/>
        </p:nvSpPr>
        <p:spPr>
          <a:xfrm>
            <a:off x="1371600" y="5083920"/>
            <a:ext cx="4480200" cy="4752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Detects the ticket does not belong to this customer</a:t>
            </a:r>
            <a:endParaRPr lang="en-US" sz="1400" b="0" u="none" strike="noStrike">
              <a:solidFill>
                <a:srgbClr val="000000"/>
              </a:solidFill>
              <a:effectLst/>
              <a:uFillTx/>
              <a:latin typeface="Arial" panose="020B0604020202020204"/>
            </a:endParaRPr>
          </a:p>
        </p:txBody>
      </p:sp>
      <p:sp>
        <p:nvSpPr>
          <p:cNvPr id="289" name="Shape 24"/>
          <p:cNvSpPr/>
          <p:nvPr/>
        </p:nvSpPr>
        <p:spPr>
          <a:xfrm>
            <a:off x="822960" y="5669280"/>
            <a:ext cx="365400" cy="365400"/>
          </a:xfrm>
          <a:prstGeom prst="ellipse">
            <a:avLst/>
          </a:prstGeom>
          <a:solidFill>
            <a:schemeClr val="accent3"/>
          </a:solidFill>
          <a:ln w="12700">
            <a:solidFill>
              <a:srgbClr val="E5484D"/>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290" name="Text 25"/>
          <p:cNvSpPr/>
          <p:nvPr/>
        </p:nvSpPr>
        <p:spPr>
          <a:xfrm>
            <a:off x="822960" y="5669280"/>
            <a:ext cx="365400"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1300" b="1" u="none" strike="noStrike">
                <a:solidFill>
                  <a:schemeClr val="lt1"/>
                </a:solidFill>
                <a:effectLst/>
                <a:uFillTx/>
                <a:latin typeface="Calibri"/>
              </a:rPr>
              <a:t>4</a:t>
            </a:r>
            <a:endParaRPr lang="en-US" sz="1300" b="0" u="none" strike="noStrike">
              <a:solidFill>
                <a:srgbClr val="000000"/>
              </a:solidFill>
              <a:effectLst/>
              <a:uFillTx/>
              <a:latin typeface="Arial" panose="020B0604020202020204"/>
            </a:endParaRPr>
          </a:p>
        </p:txBody>
      </p:sp>
      <p:sp>
        <p:nvSpPr>
          <p:cNvPr id="291" name="Text 26"/>
          <p:cNvSpPr/>
          <p:nvPr/>
        </p:nvSpPr>
        <p:spPr>
          <a:xfrm>
            <a:off x="1371600" y="5614560"/>
            <a:ext cx="4480200" cy="4752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400" b="0" u="none" strike="noStrike">
                <a:solidFill>
                  <a:schemeClr val="dk1"/>
                </a:solidFill>
                <a:effectLst/>
                <a:uFillTx/>
                <a:latin typeface="Calibri"/>
              </a:rPr>
              <a:t>Refuses access</a:t>
            </a:r>
            <a:endParaRPr lang="en-US" sz="1400" b="0" u="none" strike="noStrike">
              <a:solidFill>
                <a:srgbClr val="000000"/>
              </a:solidFill>
              <a:effectLst/>
              <a:uFillTx/>
              <a:latin typeface="Arial" panose="020B0604020202020204"/>
            </a:endParaRPr>
          </a:p>
        </p:txBody>
      </p:sp>
      <p:sp>
        <p:nvSpPr>
          <p:cNvPr id="292" name="terminal panel"/>
          <p:cNvSpPr/>
          <p:nvPr/>
        </p:nvSpPr>
        <p:spPr>
          <a:xfrm>
            <a:off x="6263640" y="3429000"/>
            <a:ext cx="5376240" cy="1874160"/>
          </a:xfrm>
          <a:prstGeom prst="roundRect">
            <a:avLst>
              <a:gd name="adj" fmla="val 4878"/>
            </a:avLst>
          </a:prstGeom>
          <a:solidFill>
            <a:schemeClr val="tx2"/>
          </a:solidFill>
          <a:ln w="12700">
            <a:solidFill>
              <a:srgbClr val="0B1F3A"/>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293" name="Shape 28"/>
          <p:cNvSpPr/>
          <p:nvPr/>
        </p:nvSpPr>
        <p:spPr>
          <a:xfrm>
            <a:off x="6492240" y="3611880"/>
            <a:ext cx="145800" cy="145800"/>
          </a:xfrm>
          <a:prstGeom prst="ellipse">
            <a:avLst/>
          </a:prstGeom>
          <a:solidFill>
            <a:schemeClr val="accent3"/>
          </a:solidFill>
          <a:ln w="12700">
            <a:solidFill>
              <a:srgbClr val="E5484D"/>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294" name="Shape 29"/>
          <p:cNvSpPr/>
          <p:nvPr/>
        </p:nvSpPr>
        <p:spPr>
          <a:xfrm>
            <a:off x="6748200" y="3611880"/>
            <a:ext cx="145800" cy="145800"/>
          </a:xfrm>
          <a:prstGeom prst="ellipse">
            <a:avLst/>
          </a:prstGeom>
          <a:solidFill>
            <a:schemeClr val="accent1"/>
          </a:solidFill>
          <a:ln w="12700">
            <a:solidFill>
              <a:srgbClr val="F2B705"/>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295" name="Shape 30"/>
          <p:cNvSpPr/>
          <p:nvPr/>
        </p:nvSpPr>
        <p:spPr>
          <a:xfrm>
            <a:off x="7004160" y="3611880"/>
            <a:ext cx="145800" cy="145800"/>
          </a:xfrm>
          <a:prstGeom prst="ellipse">
            <a:avLst/>
          </a:prstGeom>
          <a:solidFill>
            <a:schemeClr val="accent4"/>
          </a:solidFill>
          <a:ln w="12700">
            <a:solidFill>
              <a:srgbClr val="2FB380"/>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296" name="Text 31"/>
          <p:cNvSpPr/>
          <p:nvPr/>
        </p:nvSpPr>
        <p:spPr>
          <a:xfrm>
            <a:off x="7360920" y="3520440"/>
            <a:ext cx="4004640" cy="3286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r" defTabSz="914400">
              <a:lnSpc>
                <a:spcPct val="100000"/>
              </a:lnSpc>
              <a:tabLst>
                <a:tab pos="0" algn="l"/>
              </a:tabLst>
            </a:pPr>
            <a:r>
              <a:rPr lang="en-US" sz="1100" b="0" u="none" strike="noStrike">
                <a:solidFill>
                  <a:schemeClr val="accent6"/>
                </a:solidFill>
                <a:effectLst/>
                <a:uFillTx/>
                <a:latin typeface="Calibri"/>
              </a:rPr>
              <a:t>Week 6 demo output</a:t>
            </a:r>
            <a:endParaRPr lang="en-US" sz="1100" b="0" u="none" strike="noStrike">
              <a:solidFill>
                <a:srgbClr val="000000"/>
              </a:solidFill>
              <a:effectLst/>
              <a:uFillTx/>
              <a:latin typeface="Arial" panose="020B0604020202020204"/>
            </a:endParaRPr>
          </a:p>
        </p:txBody>
      </p:sp>
      <p:sp>
        <p:nvSpPr>
          <p:cNvPr id="297" name="Text 32"/>
          <p:cNvSpPr/>
          <p:nvPr/>
        </p:nvSpPr>
        <p:spPr>
          <a:xfrm>
            <a:off x="6537960" y="3977640"/>
            <a:ext cx="4827600" cy="11883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t">
            <a:noAutofit/>
          </a:bodyPr>
          <a:p>
            <a:pPr defTabSz="914400">
              <a:lnSpc>
                <a:spcPct val="100000"/>
              </a:lnSpc>
              <a:spcAft>
                <a:spcPts val="500"/>
              </a:spcAft>
              <a:tabLst>
                <a:tab pos="0" algn="l"/>
              </a:tabLst>
            </a:pPr>
            <a:r>
              <a:rPr lang="en-US" sz="1250" b="1" u="none" strike="noStrike">
                <a:solidFill>
                  <a:schemeClr val="accent1"/>
                </a:solidFill>
                <a:effectLst/>
                <a:uFillTx/>
                <a:latin typeface="Courier New" panose="02070309020205020404"/>
                <a:ea typeface="Courier New" panose="02070309020205020404"/>
              </a:rPr>
              <a:t>[OBSERVE_RESULT]</a:t>
            </a:r>
            <a:endParaRPr lang="en-US" sz="1250" b="0" u="none" strike="noStrike">
              <a:solidFill>
                <a:srgbClr val="000000"/>
              </a:solidFill>
              <a:effectLst/>
              <a:uFillTx/>
              <a:latin typeface="Arial" panose="020B0604020202020204"/>
            </a:endParaRPr>
          </a:p>
          <a:p>
            <a:pPr defTabSz="914400">
              <a:lnSpc>
                <a:spcPct val="100000"/>
              </a:lnSpc>
              <a:spcAft>
                <a:spcPts val="500"/>
              </a:spcAft>
              <a:tabLst>
                <a:tab pos="0" algn="l"/>
              </a:tabLst>
            </a:pPr>
            <a:r>
              <a:rPr lang="en-US" sz="1250" b="0" u="none" strike="noStrike">
                <a:solidFill>
                  <a:schemeClr val="lt1"/>
                </a:solidFill>
                <a:effectLst/>
                <a:uFillTx/>
                <a:latin typeface="Courier New" panose="02070309020205020404"/>
                <a:ea typeface="Courier New" panose="02070309020205020404"/>
              </a:rPr>
              <a:t>tool=get_ticket_status status=success code=UNAUTHORIZED</a:t>
            </a:r>
            <a:endParaRPr lang="en-US" sz="1250" b="0" u="none" strike="noStrike">
              <a:solidFill>
                <a:srgbClr val="000000"/>
              </a:solidFill>
              <a:effectLst/>
              <a:uFillTx/>
              <a:latin typeface="Arial" panose="020B0604020202020204"/>
            </a:endParaRPr>
          </a:p>
          <a:p>
            <a:pPr defTabSz="914400">
              <a:lnSpc>
                <a:spcPct val="100000"/>
              </a:lnSpc>
              <a:spcAft>
                <a:spcPts val="500"/>
              </a:spcAft>
              <a:tabLst>
                <a:tab pos="0" algn="l"/>
              </a:tabLst>
            </a:pPr>
            <a:r>
              <a:rPr lang="en-US" sz="1250" b="1" u="none" strike="noStrike">
                <a:solidFill>
                  <a:schemeClr val="accent3"/>
                </a:solidFill>
                <a:effectLst/>
                <a:uFillTx/>
                <a:latin typeface="Courier New" panose="02070309020205020404"/>
                <a:ea typeface="Courier New" panose="02070309020205020404"/>
              </a:rPr>
              <a:t>Final outcome: AUTHORIZATION_DENIED</a:t>
            </a:r>
            <a:endParaRPr lang="en-US" sz="1250" b="0" u="none" strike="noStrike">
              <a:solidFill>
                <a:srgbClr val="000000"/>
              </a:solidFill>
              <a:effectLst/>
              <a:uFillTx/>
              <a:latin typeface="Arial" panose="020B0604020202020204"/>
            </a:endParaRPr>
          </a:p>
        </p:txBody>
      </p:sp>
      <p:sp>
        <p:nvSpPr>
          <p:cNvPr id="298" name="response card"/>
          <p:cNvSpPr/>
          <p:nvPr/>
        </p:nvSpPr>
        <p:spPr>
          <a:xfrm>
            <a:off x="6263640" y="5440680"/>
            <a:ext cx="5376240" cy="776880"/>
          </a:xfrm>
          <a:prstGeom prst="roundRect">
            <a:avLst>
              <a:gd name="adj" fmla="val 14118"/>
            </a:avLst>
          </a:prstGeom>
          <a:solidFill>
            <a:schemeClr val="tx2"/>
          </a:solidFill>
          <a:ln w="12700">
            <a:solidFill>
              <a:srgbClr val="0B1F3A"/>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299" name="Text 34"/>
          <p:cNvSpPr/>
          <p:nvPr/>
        </p:nvSpPr>
        <p:spPr>
          <a:xfrm>
            <a:off x="6492240" y="5440680"/>
            <a:ext cx="4937400" cy="77688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1" u="none" strike="noStrike">
                <a:solidFill>
                  <a:schemeClr val="lt1"/>
                </a:solidFill>
                <a:effectLst/>
                <a:uFillTx/>
                <a:latin typeface="Calibri"/>
              </a:rPr>
              <a:t>“I can only access tickets that belong to your account.”</a:t>
            </a:r>
            <a:endParaRPr lang="en-US" sz="1500" b="0" u="none" strike="noStrike">
              <a:solidFill>
                <a:srgbClr val="000000"/>
              </a:solidFill>
              <a:effectLst/>
              <a:uFillTx/>
              <a:latin typeface="Arial" panose="020B0604020202020204"/>
            </a:endParaRPr>
          </a:p>
        </p:txBody>
      </p:sp>
      <p:sp>
        <p:nvSpPr>
          <p:cNvPr id="300" name="PlaceHolder 2"/>
          <p:cNvSpPr>
            <a:spLocks noGrp="1"/>
          </p:cNvSpPr>
          <p:nvPr>
            <p:ph type="sldNum" idx="12"/>
          </p:nvPr>
        </p:nvSpPr>
        <p:spPr>
          <a:xfrm>
            <a:off x="1124712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000" b="0" u="none" strike="noStrike">
                <a:solidFill>
                  <a:srgbClr val="7A8AA6"/>
                </a:solidFill>
                <a:effectLst/>
                <a:uFillTx/>
                <a:latin typeface="Calibri"/>
              </a:defRPr>
            </a:lvl1pPr>
          </a:lstStyle>
          <a:p>
            <a:pPr indent="0" algn="l" defTabSz="914400">
              <a:lnSpc>
                <a:spcPct val="100000"/>
              </a:lnSpc>
              <a:buNone/>
            </a:pPr>
            <a:fld id="{C22F8D72-9687-4ED7-AC4E-055DC8E07242}" type="slidenum">
              <a:rPr lang="en-US" sz="1000" b="0" u="none" strike="noStrike">
                <a:solidFill>
                  <a:srgbClr val="7A8AA6"/>
                </a:solidFill>
                <a:effectLst/>
                <a:uFillTx/>
                <a:latin typeface="Calibri"/>
              </a:rPr>
            </a:fld>
            <a:endParaRPr lang="en-US" sz="100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p:cNvSpPr>
          <p:nvPr>
            <p:ph type="title" hasCustomPrompt="1"/>
          </p:nvPr>
        </p:nvSpPr>
        <p:spPr>
          <a:xfrm>
            <a:off x="548640" y="365760"/>
            <a:ext cx="11063880" cy="776880"/>
          </a:xfrm>
          <a:prstGeom prst="rect">
            <a:avLst/>
          </a:prstGeom>
          <a:noFill/>
          <a:ln w="0">
            <a:noFill/>
          </a:ln>
        </p:spPr>
        <p:txBody>
          <a:bodyPr lIns="0" tIns="0" rIns="0" bIns="0" anchor="ctr">
            <a:noAutofit/>
          </a:bodyPr>
          <a:p>
            <a:pPr indent="0" algn="ctr" defTabSz="914400">
              <a:lnSpc>
                <a:spcPct val="100000"/>
              </a:lnSpc>
              <a:buNone/>
              <a:tabLst>
                <a:tab pos="0" algn="l"/>
              </a:tabLst>
            </a:pPr>
            <a:r>
              <a:rPr lang="en-US" sz="3400" b="1" u="none" strike="noStrike">
                <a:solidFill>
                  <a:schemeClr val="dk2"/>
                </a:solidFill>
                <a:effectLst/>
                <a:uFillTx/>
                <a:latin typeface="Cambria"/>
              </a:rPr>
              <a:t>Guardrails and human approval boundaries</a:t>
            </a:r>
            <a:endParaRPr lang="en-US" sz="3400" b="0" u="none" strike="noStrike">
              <a:solidFill>
                <a:schemeClr val="dk1"/>
              </a:solidFill>
              <a:effectLst/>
              <a:uFillTx/>
              <a:latin typeface="Calibri"/>
            </a:endParaRPr>
          </a:p>
        </p:txBody>
      </p:sp>
      <p:sp>
        <p:nvSpPr>
          <p:cNvPr id="302" name="guardrail Action allow-list"/>
          <p:cNvSpPr/>
          <p:nvPr/>
        </p:nvSpPr>
        <p:spPr>
          <a:xfrm>
            <a:off x="548640" y="1371600"/>
            <a:ext cx="2331360" cy="1096920"/>
          </a:xfrm>
          <a:prstGeom prst="roundRect">
            <a:avLst>
              <a:gd name="adj" fmla="val 10000"/>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303" name="icon circle"/>
          <p:cNvSpPr/>
          <p:nvPr/>
        </p:nvSpPr>
        <p:spPr>
          <a:xfrm>
            <a:off x="713160" y="1645920"/>
            <a:ext cx="548280" cy="548280"/>
          </a:xfrm>
          <a:prstGeom prst="ellipse">
            <a:avLst/>
          </a:prstGeom>
          <a:solidFill>
            <a:schemeClr val="accent2"/>
          </a:solidFill>
          <a:ln w="12700">
            <a:solidFill>
              <a:srgbClr val="1FA3A3"/>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04" name="Image 0" descr="icon"/>
          <p:cNvPicPr/>
          <p:nvPr/>
        </p:nvPicPr>
        <p:blipFill>
          <a:blip r:embed="rId1"/>
          <a:stretch>
            <a:fillRect/>
          </a:stretch>
        </p:blipFill>
        <p:spPr>
          <a:xfrm>
            <a:off x="855720" y="1788480"/>
            <a:ext cx="263160" cy="263160"/>
          </a:xfrm>
          <a:prstGeom prst="rect">
            <a:avLst/>
          </a:prstGeom>
          <a:noFill/>
          <a:ln w="0">
            <a:noFill/>
          </a:ln>
        </p:spPr>
      </p:pic>
      <p:sp>
        <p:nvSpPr>
          <p:cNvPr id="305" name="Text 3"/>
          <p:cNvSpPr/>
          <p:nvPr/>
        </p:nvSpPr>
        <p:spPr>
          <a:xfrm>
            <a:off x="1389960" y="1463040"/>
            <a:ext cx="1416960" cy="9140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Action allow-list</a:t>
            </a:r>
            <a:endParaRPr lang="en-US" sz="1400" b="0" u="none" strike="noStrike">
              <a:solidFill>
                <a:srgbClr val="000000"/>
              </a:solidFill>
              <a:effectLst/>
              <a:uFillTx/>
              <a:latin typeface="Arial" panose="020B0604020202020204"/>
            </a:endParaRPr>
          </a:p>
        </p:txBody>
      </p:sp>
      <p:sp>
        <p:nvSpPr>
          <p:cNvPr id="306" name="guardrail Tool allow-list"/>
          <p:cNvSpPr/>
          <p:nvPr/>
        </p:nvSpPr>
        <p:spPr>
          <a:xfrm>
            <a:off x="3063240" y="1371600"/>
            <a:ext cx="2331360" cy="1096920"/>
          </a:xfrm>
          <a:prstGeom prst="roundRect">
            <a:avLst>
              <a:gd name="adj" fmla="val 10000"/>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307" name="icon circle"/>
          <p:cNvSpPr/>
          <p:nvPr/>
        </p:nvSpPr>
        <p:spPr>
          <a:xfrm>
            <a:off x="3227760" y="1645920"/>
            <a:ext cx="548280" cy="548280"/>
          </a:xfrm>
          <a:prstGeom prst="ellipse">
            <a:avLst/>
          </a:prstGeom>
          <a:solidFill>
            <a:schemeClr val="accent2"/>
          </a:solidFill>
          <a:ln w="12700">
            <a:solidFill>
              <a:srgbClr val="1FA3A3"/>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08" name="Image 1" descr="icon"/>
          <p:cNvPicPr/>
          <p:nvPr/>
        </p:nvPicPr>
        <p:blipFill>
          <a:blip r:embed="rId2"/>
          <a:stretch>
            <a:fillRect/>
          </a:stretch>
        </p:blipFill>
        <p:spPr>
          <a:xfrm>
            <a:off x="3370320" y="1788480"/>
            <a:ext cx="263160" cy="263160"/>
          </a:xfrm>
          <a:prstGeom prst="rect">
            <a:avLst/>
          </a:prstGeom>
          <a:noFill/>
          <a:ln w="0">
            <a:noFill/>
          </a:ln>
        </p:spPr>
      </p:pic>
      <p:sp>
        <p:nvSpPr>
          <p:cNvPr id="309" name="Text 6"/>
          <p:cNvSpPr/>
          <p:nvPr/>
        </p:nvSpPr>
        <p:spPr>
          <a:xfrm>
            <a:off x="3904560" y="1463040"/>
            <a:ext cx="1416960" cy="9140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Tool allow-list</a:t>
            </a:r>
            <a:endParaRPr lang="en-US" sz="1400" b="0" u="none" strike="noStrike">
              <a:solidFill>
                <a:srgbClr val="000000"/>
              </a:solidFill>
              <a:effectLst/>
              <a:uFillTx/>
              <a:latin typeface="Arial" panose="020B0604020202020204"/>
            </a:endParaRPr>
          </a:p>
        </p:txBody>
      </p:sp>
      <p:sp>
        <p:nvSpPr>
          <p:cNvPr id="310" name="guardrail Scope boundary checks"/>
          <p:cNvSpPr/>
          <p:nvPr/>
        </p:nvSpPr>
        <p:spPr>
          <a:xfrm>
            <a:off x="5577840" y="1371600"/>
            <a:ext cx="2331360" cy="1096920"/>
          </a:xfrm>
          <a:prstGeom prst="roundRect">
            <a:avLst>
              <a:gd name="adj" fmla="val 10000"/>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311" name="icon circle"/>
          <p:cNvSpPr/>
          <p:nvPr/>
        </p:nvSpPr>
        <p:spPr>
          <a:xfrm>
            <a:off x="5742360" y="1645920"/>
            <a:ext cx="548280" cy="548280"/>
          </a:xfrm>
          <a:prstGeom prst="ellipse">
            <a:avLst/>
          </a:prstGeom>
          <a:solidFill>
            <a:schemeClr val="accent2"/>
          </a:solidFill>
          <a:ln w="12700">
            <a:solidFill>
              <a:srgbClr val="1FA3A3"/>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12" name="Image 2" descr="icon"/>
          <p:cNvPicPr/>
          <p:nvPr/>
        </p:nvPicPr>
        <p:blipFill>
          <a:blip r:embed="rId3"/>
          <a:stretch>
            <a:fillRect/>
          </a:stretch>
        </p:blipFill>
        <p:spPr>
          <a:xfrm>
            <a:off x="5884920" y="1788480"/>
            <a:ext cx="263160" cy="263160"/>
          </a:xfrm>
          <a:prstGeom prst="rect">
            <a:avLst/>
          </a:prstGeom>
          <a:noFill/>
          <a:ln w="0">
            <a:noFill/>
          </a:ln>
        </p:spPr>
      </p:pic>
      <p:sp>
        <p:nvSpPr>
          <p:cNvPr id="313" name="Text 9"/>
          <p:cNvSpPr/>
          <p:nvPr/>
        </p:nvSpPr>
        <p:spPr>
          <a:xfrm>
            <a:off x="6419160" y="1463040"/>
            <a:ext cx="1416960" cy="9140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Scope boundary checks</a:t>
            </a:r>
            <a:endParaRPr lang="en-US" sz="1400" b="0" u="none" strike="noStrike">
              <a:solidFill>
                <a:srgbClr val="000000"/>
              </a:solidFill>
              <a:effectLst/>
              <a:uFillTx/>
              <a:latin typeface="Arial" panose="020B0604020202020204"/>
            </a:endParaRPr>
          </a:p>
        </p:txBody>
      </p:sp>
      <p:sp>
        <p:nvSpPr>
          <p:cNvPr id="314" name="guardrail Evidence grounding checks"/>
          <p:cNvSpPr/>
          <p:nvPr/>
        </p:nvSpPr>
        <p:spPr>
          <a:xfrm>
            <a:off x="548640" y="2651760"/>
            <a:ext cx="2331360" cy="1096920"/>
          </a:xfrm>
          <a:prstGeom prst="roundRect">
            <a:avLst>
              <a:gd name="adj" fmla="val 10000"/>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315" name="icon circle"/>
          <p:cNvSpPr/>
          <p:nvPr/>
        </p:nvSpPr>
        <p:spPr>
          <a:xfrm>
            <a:off x="713160" y="2926080"/>
            <a:ext cx="548280" cy="548280"/>
          </a:xfrm>
          <a:prstGeom prst="ellipse">
            <a:avLst/>
          </a:prstGeom>
          <a:solidFill>
            <a:schemeClr val="accent2"/>
          </a:solidFill>
          <a:ln w="12700">
            <a:solidFill>
              <a:srgbClr val="1FA3A3"/>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16" name="Image 3" descr="icon"/>
          <p:cNvPicPr/>
          <p:nvPr/>
        </p:nvPicPr>
        <p:blipFill>
          <a:blip r:embed="rId4"/>
          <a:stretch>
            <a:fillRect/>
          </a:stretch>
        </p:blipFill>
        <p:spPr>
          <a:xfrm>
            <a:off x="855720" y="3068640"/>
            <a:ext cx="263160" cy="263160"/>
          </a:xfrm>
          <a:prstGeom prst="rect">
            <a:avLst/>
          </a:prstGeom>
          <a:noFill/>
          <a:ln w="0">
            <a:noFill/>
          </a:ln>
        </p:spPr>
      </p:pic>
      <p:sp>
        <p:nvSpPr>
          <p:cNvPr id="317" name="Text 12"/>
          <p:cNvSpPr/>
          <p:nvPr/>
        </p:nvSpPr>
        <p:spPr>
          <a:xfrm>
            <a:off x="1389960" y="2743200"/>
            <a:ext cx="1416960" cy="9140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Evidence grounding checks</a:t>
            </a:r>
            <a:endParaRPr lang="en-US" sz="1400" b="0" u="none" strike="noStrike">
              <a:solidFill>
                <a:srgbClr val="000000"/>
              </a:solidFill>
              <a:effectLst/>
              <a:uFillTx/>
              <a:latin typeface="Arial" panose="020B0604020202020204"/>
            </a:endParaRPr>
          </a:p>
        </p:txBody>
      </p:sp>
      <p:sp>
        <p:nvSpPr>
          <p:cNvPr id="318" name="guardrail Prompt-injection detection"/>
          <p:cNvSpPr/>
          <p:nvPr/>
        </p:nvSpPr>
        <p:spPr>
          <a:xfrm>
            <a:off x="3063240" y="2651760"/>
            <a:ext cx="2331360" cy="1096920"/>
          </a:xfrm>
          <a:prstGeom prst="roundRect">
            <a:avLst>
              <a:gd name="adj" fmla="val 10000"/>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319" name="icon circle"/>
          <p:cNvSpPr/>
          <p:nvPr/>
        </p:nvSpPr>
        <p:spPr>
          <a:xfrm>
            <a:off x="3227760" y="2926080"/>
            <a:ext cx="548280" cy="548280"/>
          </a:xfrm>
          <a:prstGeom prst="ellipse">
            <a:avLst/>
          </a:prstGeom>
          <a:solidFill>
            <a:schemeClr val="accent2"/>
          </a:solidFill>
          <a:ln w="12700">
            <a:solidFill>
              <a:srgbClr val="1FA3A3"/>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20" name="Image 4" descr="icon"/>
          <p:cNvPicPr/>
          <p:nvPr/>
        </p:nvPicPr>
        <p:blipFill>
          <a:blip r:embed="rId5"/>
          <a:stretch>
            <a:fillRect/>
          </a:stretch>
        </p:blipFill>
        <p:spPr>
          <a:xfrm>
            <a:off x="3370320" y="3068640"/>
            <a:ext cx="263160" cy="263160"/>
          </a:xfrm>
          <a:prstGeom prst="rect">
            <a:avLst/>
          </a:prstGeom>
          <a:noFill/>
          <a:ln w="0">
            <a:noFill/>
          </a:ln>
        </p:spPr>
      </p:pic>
      <p:sp>
        <p:nvSpPr>
          <p:cNvPr id="321" name="Text 15"/>
          <p:cNvSpPr/>
          <p:nvPr/>
        </p:nvSpPr>
        <p:spPr>
          <a:xfrm>
            <a:off x="3904560" y="2743200"/>
            <a:ext cx="1416960" cy="9140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Prompt-injection detection</a:t>
            </a:r>
            <a:endParaRPr lang="en-US" sz="1400" b="0" u="none" strike="noStrike">
              <a:solidFill>
                <a:srgbClr val="000000"/>
              </a:solidFill>
              <a:effectLst/>
              <a:uFillTx/>
              <a:latin typeface="Arial" panose="020B0604020202020204"/>
            </a:endParaRPr>
          </a:p>
        </p:txBody>
      </p:sp>
      <p:sp>
        <p:nvSpPr>
          <p:cNvPr id="322" name="guardrail Credential non-disclosure"/>
          <p:cNvSpPr/>
          <p:nvPr/>
        </p:nvSpPr>
        <p:spPr>
          <a:xfrm>
            <a:off x="5577840" y="2651760"/>
            <a:ext cx="2331360" cy="1096920"/>
          </a:xfrm>
          <a:prstGeom prst="roundRect">
            <a:avLst>
              <a:gd name="adj" fmla="val 10000"/>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323" name="icon circle"/>
          <p:cNvSpPr/>
          <p:nvPr/>
        </p:nvSpPr>
        <p:spPr>
          <a:xfrm>
            <a:off x="5742360" y="2926080"/>
            <a:ext cx="548280" cy="548280"/>
          </a:xfrm>
          <a:prstGeom prst="ellipse">
            <a:avLst/>
          </a:prstGeom>
          <a:solidFill>
            <a:schemeClr val="accent2"/>
          </a:solidFill>
          <a:ln w="12700">
            <a:solidFill>
              <a:srgbClr val="1FA3A3"/>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24" name="Image 5" descr="icon"/>
          <p:cNvPicPr/>
          <p:nvPr/>
        </p:nvPicPr>
        <p:blipFill>
          <a:blip r:embed="rId6"/>
          <a:stretch>
            <a:fillRect/>
          </a:stretch>
        </p:blipFill>
        <p:spPr>
          <a:xfrm>
            <a:off x="5884920" y="3068640"/>
            <a:ext cx="263160" cy="263160"/>
          </a:xfrm>
          <a:prstGeom prst="rect">
            <a:avLst/>
          </a:prstGeom>
          <a:noFill/>
          <a:ln w="0">
            <a:noFill/>
          </a:ln>
        </p:spPr>
      </p:pic>
      <p:sp>
        <p:nvSpPr>
          <p:cNvPr id="325" name="Text 18"/>
          <p:cNvSpPr/>
          <p:nvPr/>
        </p:nvSpPr>
        <p:spPr>
          <a:xfrm>
            <a:off x="6419160" y="2743200"/>
            <a:ext cx="1416960" cy="9140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Credential non-disclosure</a:t>
            </a:r>
            <a:endParaRPr lang="en-US" sz="1400" b="0" u="none" strike="noStrike">
              <a:solidFill>
                <a:srgbClr val="000000"/>
              </a:solidFill>
              <a:effectLst/>
              <a:uFillTx/>
              <a:latin typeface="Arial" panose="020B0604020202020204"/>
            </a:endParaRPr>
          </a:p>
        </p:txBody>
      </p:sp>
      <p:sp>
        <p:nvSpPr>
          <p:cNvPr id="326" name="guardrail Memory-not-authorization"/>
          <p:cNvSpPr/>
          <p:nvPr/>
        </p:nvSpPr>
        <p:spPr>
          <a:xfrm>
            <a:off x="548640" y="3931920"/>
            <a:ext cx="2331360" cy="1096920"/>
          </a:xfrm>
          <a:prstGeom prst="roundRect">
            <a:avLst>
              <a:gd name="adj" fmla="val 10000"/>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327" name="icon circle"/>
          <p:cNvSpPr/>
          <p:nvPr/>
        </p:nvSpPr>
        <p:spPr>
          <a:xfrm>
            <a:off x="713160" y="4206240"/>
            <a:ext cx="548280" cy="548280"/>
          </a:xfrm>
          <a:prstGeom prst="ellipse">
            <a:avLst/>
          </a:prstGeom>
          <a:solidFill>
            <a:schemeClr val="accent2"/>
          </a:solidFill>
          <a:ln w="12700">
            <a:solidFill>
              <a:srgbClr val="1FA3A3"/>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28" name="Image 6" descr="icon"/>
          <p:cNvPicPr/>
          <p:nvPr/>
        </p:nvPicPr>
        <p:blipFill>
          <a:blip r:embed="rId7"/>
          <a:stretch>
            <a:fillRect/>
          </a:stretch>
        </p:blipFill>
        <p:spPr>
          <a:xfrm>
            <a:off x="855720" y="4348800"/>
            <a:ext cx="263160" cy="263160"/>
          </a:xfrm>
          <a:prstGeom prst="rect">
            <a:avLst/>
          </a:prstGeom>
          <a:noFill/>
          <a:ln w="0">
            <a:noFill/>
          </a:ln>
        </p:spPr>
      </p:pic>
      <p:sp>
        <p:nvSpPr>
          <p:cNvPr id="329" name="Text 21"/>
          <p:cNvSpPr/>
          <p:nvPr/>
        </p:nvSpPr>
        <p:spPr>
          <a:xfrm>
            <a:off x="1389960" y="4023360"/>
            <a:ext cx="1416960" cy="9140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Memory-not-authorization</a:t>
            </a:r>
            <a:endParaRPr lang="en-US" sz="1400" b="0" u="none" strike="noStrike">
              <a:solidFill>
                <a:srgbClr val="000000"/>
              </a:solidFill>
              <a:effectLst/>
              <a:uFillTx/>
              <a:latin typeface="Arial" panose="020B0604020202020204"/>
            </a:endParaRPr>
          </a:p>
        </p:txBody>
      </p:sp>
      <p:sp>
        <p:nvSpPr>
          <p:cNvPr id="330" name="guardrail Escalation approval gate"/>
          <p:cNvSpPr/>
          <p:nvPr/>
        </p:nvSpPr>
        <p:spPr>
          <a:xfrm>
            <a:off x="3063240" y="3931920"/>
            <a:ext cx="2331360" cy="1096920"/>
          </a:xfrm>
          <a:prstGeom prst="roundRect">
            <a:avLst>
              <a:gd name="adj" fmla="val 10000"/>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331" name="icon circle"/>
          <p:cNvSpPr/>
          <p:nvPr/>
        </p:nvSpPr>
        <p:spPr>
          <a:xfrm>
            <a:off x="3227760" y="4206240"/>
            <a:ext cx="548280" cy="548280"/>
          </a:xfrm>
          <a:prstGeom prst="ellipse">
            <a:avLst/>
          </a:prstGeom>
          <a:solidFill>
            <a:schemeClr val="accent2"/>
          </a:solidFill>
          <a:ln w="12700">
            <a:solidFill>
              <a:srgbClr val="1FA3A3"/>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32" name="Image 7" descr="icon"/>
          <p:cNvPicPr/>
          <p:nvPr/>
        </p:nvPicPr>
        <p:blipFill>
          <a:blip r:embed="rId8"/>
          <a:stretch>
            <a:fillRect/>
          </a:stretch>
        </p:blipFill>
        <p:spPr>
          <a:xfrm>
            <a:off x="3370320" y="4348800"/>
            <a:ext cx="263160" cy="263160"/>
          </a:xfrm>
          <a:prstGeom prst="rect">
            <a:avLst/>
          </a:prstGeom>
          <a:noFill/>
          <a:ln w="0">
            <a:noFill/>
          </a:ln>
        </p:spPr>
      </p:pic>
      <p:sp>
        <p:nvSpPr>
          <p:cNvPr id="333" name="Text 24"/>
          <p:cNvSpPr/>
          <p:nvPr/>
        </p:nvSpPr>
        <p:spPr>
          <a:xfrm>
            <a:off x="3904560" y="4023360"/>
            <a:ext cx="1416960" cy="9140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Escalation approval gate</a:t>
            </a:r>
            <a:endParaRPr lang="en-US" sz="1400" b="0" u="none" strike="noStrike">
              <a:solidFill>
                <a:srgbClr val="000000"/>
              </a:solidFill>
              <a:effectLst/>
              <a:uFillTx/>
              <a:latin typeface="Arial" panose="020B0604020202020204"/>
            </a:endParaRPr>
          </a:p>
        </p:txBody>
      </p:sp>
      <p:sp>
        <p:nvSpPr>
          <p:cNvPr id="334" name="guardrail Iteration limit"/>
          <p:cNvSpPr/>
          <p:nvPr/>
        </p:nvSpPr>
        <p:spPr>
          <a:xfrm>
            <a:off x="5577840" y="3931920"/>
            <a:ext cx="2331360" cy="1096920"/>
          </a:xfrm>
          <a:prstGeom prst="roundRect">
            <a:avLst>
              <a:gd name="adj" fmla="val 10000"/>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335" name="icon circle"/>
          <p:cNvSpPr/>
          <p:nvPr/>
        </p:nvSpPr>
        <p:spPr>
          <a:xfrm>
            <a:off x="5742360" y="4206240"/>
            <a:ext cx="548280" cy="548280"/>
          </a:xfrm>
          <a:prstGeom prst="ellipse">
            <a:avLst/>
          </a:prstGeom>
          <a:solidFill>
            <a:schemeClr val="accent2"/>
          </a:solidFill>
          <a:ln w="12700">
            <a:solidFill>
              <a:srgbClr val="1FA3A3"/>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36" name="Image 8" descr="icon"/>
          <p:cNvPicPr/>
          <p:nvPr/>
        </p:nvPicPr>
        <p:blipFill>
          <a:blip r:embed="rId9"/>
          <a:stretch>
            <a:fillRect/>
          </a:stretch>
        </p:blipFill>
        <p:spPr>
          <a:xfrm>
            <a:off x="5884920" y="4348800"/>
            <a:ext cx="263160" cy="263160"/>
          </a:xfrm>
          <a:prstGeom prst="rect">
            <a:avLst/>
          </a:prstGeom>
          <a:noFill/>
          <a:ln w="0">
            <a:noFill/>
          </a:ln>
        </p:spPr>
      </p:pic>
      <p:sp>
        <p:nvSpPr>
          <p:cNvPr id="337" name="Text 27"/>
          <p:cNvSpPr/>
          <p:nvPr/>
        </p:nvSpPr>
        <p:spPr>
          <a:xfrm>
            <a:off x="6419160" y="4023360"/>
            <a:ext cx="1416960" cy="9140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400" b="1" u="none" strike="noStrike">
                <a:solidFill>
                  <a:schemeClr val="dk2"/>
                </a:solidFill>
                <a:effectLst/>
                <a:uFillTx/>
                <a:latin typeface="Calibri"/>
              </a:rPr>
              <a:t>Iteration limit</a:t>
            </a:r>
            <a:endParaRPr lang="en-US" sz="1400" b="0" u="none" strike="noStrike">
              <a:solidFill>
                <a:srgbClr val="000000"/>
              </a:solidFill>
              <a:effectLst/>
              <a:uFillTx/>
              <a:latin typeface="Arial" panose="020B0604020202020204"/>
            </a:endParaRPr>
          </a:p>
        </p:txBody>
      </p:sp>
      <p:sp>
        <p:nvSpPr>
          <p:cNvPr id="338" name="pass fail card"/>
          <p:cNvSpPr/>
          <p:nvPr/>
        </p:nvSpPr>
        <p:spPr>
          <a:xfrm>
            <a:off x="8183880" y="1371600"/>
            <a:ext cx="3456000" cy="1371240"/>
          </a:xfrm>
          <a:prstGeom prst="roundRect">
            <a:avLst>
              <a:gd name="adj" fmla="val 8000"/>
            </a:avLst>
          </a:prstGeom>
          <a:solidFill>
            <a:schemeClr val="tx2"/>
          </a:solidFill>
          <a:ln w="12700">
            <a:solidFill>
              <a:srgbClr val="0B1F3A"/>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339" name="Text 29"/>
          <p:cNvSpPr/>
          <p:nvPr/>
        </p:nvSpPr>
        <p:spPr>
          <a:xfrm>
            <a:off x="8321040" y="1371600"/>
            <a:ext cx="3200040" cy="13712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2600" b="1" u="none" strike="noStrike">
                <a:solidFill>
                  <a:schemeClr val="accent1"/>
                </a:solidFill>
                <a:effectLst/>
                <a:uFillTx/>
                <a:latin typeface="Cambria"/>
                <a:ea typeface="Cambria"/>
              </a:rPr>
              <a:t>27 PASS  /  0 FAIL</a:t>
            </a:r>
            <a:endParaRPr lang="en-US" sz="2600" b="0" u="none" strike="noStrike">
              <a:solidFill>
                <a:srgbClr val="000000"/>
              </a:solidFill>
              <a:effectLst/>
              <a:uFillTx/>
              <a:latin typeface="Arial" panose="020B0604020202020204"/>
            </a:endParaRPr>
          </a:p>
          <a:p>
            <a:pPr algn="ctr" defTabSz="914400">
              <a:lnSpc>
                <a:spcPct val="100000"/>
              </a:lnSpc>
              <a:tabLst>
                <a:tab pos="0" algn="l"/>
              </a:tabLst>
            </a:pPr>
            <a:r>
              <a:rPr lang="en-US" sz="1400" b="0" u="none" strike="noStrike">
                <a:solidFill>
                  <a:schemeClr val="lt1"/>
                </a:solidFill>
                <a:effectLst/>
                <a:uFillTx/>
                <a:latin typeface="Calibri"/>
                <a:ea typeface="Cambria"/>
              </a:rPr>
              <a:t>in the guardrail demo</a:t>
            </a:r>
            <a:endParaRPr lang="en-US" sz="1400" b="0" u="none" strike="noStrike">
              <a:solidFill>
                <a:srgbClr val="000000"/>
              </a:solidFill>
              <a:effectLst/>
              <a:uFillTx/>
              <a:latin typeface="Arial" panose="020B0604020202020204"/>
            </a:endParaRPr>
          </a:p>
        </p:txBody>
      </p:sp>
      <p:sp>
        <p:nvSpPr>
          <p:cNvPr id="340" name="examples card"/>
          <p:cNvSpPr/>
          <p:nvPr/>
        </p:nvSpPr>
        <p:spPr>
          <a:xfrm>
            <a:off x="8183880" y="2926080"/>
            <a:ext cx="3456000" cy="2194200"/>
          </a:xfrm>
          <a:prstGeom prst="roundRect">
            <a:avLst>
              <a:gd name="adj" fmla="val 5000"/>
            </a:avLst>
          </a:prstGeom>
          <a:solidFill>
            <a:schemeClr val="bg2"/>
          </a:solidFill>
          <a:ln w="12700">
            <a:solidFill>
              <a:srgbClr val="EEF2F8"/>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341" name="Text 31"/>
          <p:cNvSpPr/>
          <p:nvPr/>
        </p:nvSpPr>
        <p:spPr>
          <a:xfrm>
            <a:off x="8412480" y="3017520"/>
            <a:ext cx="3017160" cy="36540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1" u="none" strike="noStrike">
                <a:solidFill>
                  <a:schemeClr val="dk2"/>
                </a:solidFill>
                <a:effectLst/>
                <a:uFillTx/>
                <a:latin typeface="Calibri"/>
              </a:rPr>
              <a:t>Blocked or refused</a:t>
            </a:r>
            <a:endParaRPr lang="en-US" sz="1500" b="0" u="none" strike="noStrike">
              <a:solidFill>
                <a:srgbClr val="000000"/>
              </a:solidFill>
              <a:effectLst/>
              <a:uFillTx/>
              <a:latin typeface="Arial" panose="020B0604020202020204"/>
            </a:endParaRPr>
          </a:p>
        </p:txBody>
      </p:sp>
      <p:sp>
        <p:nvSpPr>
          <p:cNvPr id="342" name="Shape 32"/>
          <p:cNvSpPr/>
          <p:nvPr/>
        </p:nvSpPr>
        <p:spPr>
          <a:xfrm>
            <a:off x="8412480" y="3566160"/>
            <a:ext cx="273960" cy="273960"/>
          </a:xfrm>
          <a:prstGeom prst="ellipse">
            <a:avLst/>
          </a:prstGeom>
          <a:solidFill>
            <a:schemeClr val="accent4"/>
          </a:solidFill>
          <a:ln w="12700">
            <a:solidFill>
              <a:srgbClr val="2FB380"/>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43" name="Image 9" descr="check"/>
          <p:cNvPicPr/>
          <p:nvPr/>
        </p:nvPicPr>
        <p:blipFill>
          <a:blip r:embed="rId10"/>
          <a:stretch>
            <a:fillRect/>
          </a:stretch>
        </p:blipFill>
        <p:spPr>
          <a:xfrm>
            <a:off x="8467200" y="3620880"/>
            <a:ext cx="164160" cy="164160"/>
          </a:xfrm>
          <a:prstGeom prst="rect">
            <a:avLst/>
          </a:prstGeom>
          <a:noFill/>
          <a:ln w="0">
            <a:noFill/>
          </a:ln>
        </p:spPr>
      </p:pic>
      <p:sp>
        <p:nvSpPr>
          <p:cNvPr id="344" name="Text 33"/>
          <p:cNvSpPr/>
          <p:nvPr/>
        </p:nvSpPr>
        <p:spPr>
          <a:xfrm>
            <a:off x="8823960" y="3474720"/>
            <a:ext cx="269712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300" b="0" u="none" strike="noStrike">
                <a:solidFill>
                  <a:schemeClr val="dk1"/>
                </a:solidFill>
                <a:effectLst/>
                <a:uFillTx/>
                <a:latin typeface="Calibri"/>
              </a:rPr>
              <a:t>Transfer funds or approve a loan: blocked by scope</a:t>
            </a:r>
            <a:endParaRPr lang="en-US" sz="1300" b="0" u="none" strike="noStrike">
              <a:solidFill>
                <a:srgbClr val="000000"/>
              </a:solidFill>
              <a:effectLst/>
              <a:uFillTx/>
              <a:latin typeface="Arial" panose="020B0604020202020204"/>
            </a:endParaRPr>
          </a:p>
        </p:txBody>
      </p:sp>
      <p:sp>
        <p:nvSpPr>
          <p:cNvPr id="345" name="Shape 34"/>
          <p:cNvSpPr/>
          <p:nvPr/>
        </p:nvSpPr>
        <p:spPr>
          <a:xfrm>
            <a:off x="8412480" y="4096440"/>
            <a:ext cx="273960" cy="273960"/>
          </a:xfrm>
          <a:prstGeom prst="ellipse">
            <a:avLst/>
          </a:prstGeom>
          <a:solidFill>
            <a:schemeClr val="accent4"/>
          </a:solidFill>
          <a:ln w="12700">
            <a:solidFill>
              <a:srgbClr val="2FB380"/>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46" name="Image 10" descr="check"/>
          <p:cNvPicPr/>
          <p:nvPr/>
        </p:nvPicPr>
        <p:blipFill>
          <a:blip r:embed="rId10"/>
          <a:stretch>
            <a:fillRect/>
          </a:stretch>
        </p:blipFill>
        <p:spPr>
          <a:xfrm>
            <a:off x="8467200" y="4151520"/>
            <a:ext cx="164160" cy="164160"/>
          </a:xfrm>
          <a:prstGeom prst="rect">
            <a:avLst/>
          </a:prstGeom>
          <a:noFill/>
          <a:ln w="0">
            <a:noFill/>
          </a:ln>
        </p:spPr>
      </p:pic>
      <p:sp>
        <p:nvSpPr>
          <p:cNvPr id="347" name="Text 35"/>
          <p:cNvSpPr/>
          <p:nvPr/>
        </p:nvSpPr>
        <p:spPr>
          <a:xfrm>
            <a:off x="8823960" y="4005000"/>
            <a:ext cx="269712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300" b="0" u="none" strike="noStrike">
                <a:solidFill>
                  <a:schemeClr val="dk1"/>
                </a:solidFill>
                <a:effectLst/>
                <a:uFillTx/>
                <a:latin typeface="Calibri"/>
              </a:rPr>
              <a:t>Passwords, OTPs or secrets: refused</a:t>
            </a:r>
            <a:endParaRPr lang="en-US" sz="1300" b="0" u="none" strike="noStrike">
              <a:solidFill>
                <a:srgbClr val="000000"/>
              </a:solidFill>
              <a:effectLst/>
              <a:uFillTx/>
              <a:latin typeface="Arial" panose="020B0604020202020204"/>
            </a:endParaRPr>
          </a:p>
        </p:txBody>
      </p:sp>
      <p:sp>
        <p:nvSpPr>
          <p:cNvPr id="348" name="Shape 36"/>
          <p:cNvSpPr/>
          <p:nvPr/>
        </p:nvSpPr>
        <p:spPr>
          <a:xfrm>
            <a:off x="8412480" y="4626720"/>
            <a:ext cx="273960" cy="273960"/>
          </a:xfrm>
          <a:prstGeom prst="ellipse">
            <a:avLst/>
          </a:prstGeom>
          <a:solidFill>
            <a:schemeClr val="accent4"/>
          </a:solidFill>
          <a:ln w="12700">
            <a:solidFill>
              <a:srgbClr val="2FB380"/>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49" name="Image 11" descr="check"/>
          <p:cNvPicPr/>
          <p:nvPr/>
        </p:nvPicPr>
        <p:blipFill>
          <a:blip r:embed="rId10"/>
          <a:stretch>
            <a:fillRect/>
          </a:stretch>
        </p:blipFill>
        <p:spPr>
          <a:xfrm>
            <a:off x="8467200" y="4681800"/>
            <a:ext cx="164160" cy="164160"/>
          </a:xfrm>
          <a:prstGeom prst="rect">
            <a:avLst/>
          </a:prstGeom>
          <a:noFill/>
          <a:ln w="0">
            <a:noFill/>
          </a:ln>
        </p:spPr>
      </p:pic>
      <p:sp>
        <p:nvSpPr>
          <p:cNvPr id="350" name="Text 37"/>
          <p:cNvSpPr/>
          <p:nvPr/>
        </p:nvSpPr>
        <p:spPr>
          <a:xfrm>
            <a:off x="8823960" y="4535280"/>
            <a:ext cx="269712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300" b="0" u="none" strike="noStrike">
                <a:solidFill>
                  <a:schemeClr val="dk1"/>
                </a:solidFill>
                <a:effectLst/>
                <a:uFillTx/>
                <a:latin typeface="Calibri"/>
              </a:rPr>
              <a:t>Prompt-injection attempt: blocked</a:t>
            </a:r>
            <a:endParaRPr lang="en-US" sz="1300" b="0" u="none" strike="noStrike">
              <a:solidFill>
                <a:srgbClr val="000000"/>
              </a:solidFill>
              <a:effectLst/>
              <a:uFillTx/>
              <a:latin typeface="Arial" panose="020B0604020202020204"/>
            </a:endParaRPr>
          </a:p>
        </p:txBody>
      </p:sp>
      <p:sp>
        <p:nvSpPr>
          <p:cNvPr id="351" name="approval band"/>
          <p:cNvSpPr/>
          <p:nvPr/>
        </p:nvSpPr>
        <p:spPr>
          <a:xfrm>
            <a:off x="548640" y="5303520"/>
            <a:ext cx="11091240" cy="914040"/>
          </a:xfrm>
          <a:prstGeom prst="roundRect">
            <a:avLst>
              <a:gd name="adj" fmla="val 12000"/>
            </a:avLst>
          </a:prstGeom>
          <a:solidFill>
            <a:schemeClr val="tx2"/>
          </a:solidFill>
          <a:ln w="12700">
            <a:solidFill>
              <a:srgbClr val="0B1F3A"/>
            </a:solidFill>
            <a:round/>
          </a:ln>
          <a:effectLst>
            <a:outerShdw blurRad="101520" dist="25560" dir="5400000" algn="bl" rotWithShape="0">
              <a:srgbClr val="0B1F3A">
                <a:alpha val="14000"/>
              </a:srgbClr>
            </a:outerShdw>
          </a:effectLst>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352" name="icon circle"/>
          <p:cNvSpPr/>
          <p:nvPr/>
        </p:nvSpPr>
        <p:spPr>
          <a:xfrm>
            <a:off x="777240" y="5440680"/>
            <a:ext cx="639720" cy="639720"/>
          </a:xfrm>
          <a:prstGeom prst="ellipse">
            <a:avLst/>
          </a:prstGeom>
          <a:solidFill>
            <a:schemeClr val="accent1"/>
          </a:solidFill>
          <a:ln w="12700">
            <a:solidFill>
              <a:srgbClr val="F2B705"/>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pic>
        <p:nvPicPr>
          <p:cNvPr id="353" name="Image 12" descr="icon"/>
          <p:cNvPicPr/>
          <p:nvPr/>
        </p:nvPicPr>
        <p:blipFill>
          <a:blip r:embed="rId11"/>
          <a:stretch>
            <a:fillRect/>
          </a:stretch>
        </p:blipFill>
        <p:spPr>
          <a:xfrm>
            <a:off x="943560" y="5607000"/>
            <a:ext cx="306720" cy="306720"/>
          </a:xfrm>
          <a:prstGeom prst="rect">
            <a:avLst/>
          </a:prstGeom>
          <a:noFill/>
          <a:ln w="0">
            <a:noFill/>
          </a:ln>
        </p:spPr>
      </p:pic>
      <p:sp>
        <p:nvSpPr>
          <p:cNvPr id="354" name="Text 40"/>
          <p:cNvSpPr/>
          <p:nvPr/>
        </p:nvSpPr>
        <p:spPr>
          <a:xfrm>
            <a:off x="1645920" y="5303520"/>
            <a:ext cx="9783720" cy="9140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1" u="none" strike="noStrike">
                <a:solidFill>
                  <a:schemeClr val="accent1"/>
                </a:solidFill>
                <a:effectLst/>
                <a:uFillTx/>
                <a:latin typeface="Calibri"/>
              </a:rPr>
              <a:t>Human approval boundary:  </a:t>
            </a:r>
            <a:r>
              <a:rPr lang="en-US" sz="1500" b="0" u="none" strike="noStrike">
                <a:solidFill>
                  <a:schemeClr val="lt1"/>
                </a:solidFill>
                <a:effectLst/>
                <a:uFillTx/>
                <a:latin typeface="Calibri"/>
              </a:rPr>
              <a:t>even when a case exists in memory, the escalation approval gate still runs before escalation is granted.</a:t>
            </a:r>
            <a:endParaRPr lang="en-US" sz="1500" b="0" u="none" strike="noStrike">
              <a:solidFill>
                <a:srgbClr val="000000"/>
              </a:solidFill>
              <a:effectLst/>
              <a:uFillTx/>
              <a:latin typeface="Arial" panose="020B0604020202020204"/>
            </a:endParaRPr>
          </a:p>
        </p:txBody>
      </p:sp>
      <p:sp>
        <p:nvSpPr>
          <p:cNvPr id="355" name="PlaceHolder 2"/>
          <p:cNvSpPr>
            <a:spLocks noGrp="1"/>
          </p:cNvSpPr>
          <p:nvPr>
            <p:ph type="sldNum" idx="13"/>
          </p:nvPr>
        </p:nvSpPr>
        <p:spPr>
          <a:xfrm>
            <a:off x="1124712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000" b="0" u="none" strike="noStrike">
                <a:solidFill>
                  <a:srgbClr val="7A8AA6"/>
                </a:solidFill>
                <a:effectLst/>
                <a:uFillTx/>
                <a:latin typeface="Calibri"/>
              </a:defRPr>
            </a:lvl1pPr>
          </a:lstStyle>
          <a:p>
            <a:pPr indent="0" algn="l" defTabSz="914400">
              <a:lnSpc>
                <a:spcPct val="100000"/>
              </a:lnSpc>
              <a:buNone/>
            </a:pPr>
            <a:fld id="{BCB15C9D-459D-4C25-B8A3-75EB1CD68540}" type="slidenum">
              <a:rPr lang="en-US" sz="1000" b="0" u="none" strike="noStrike">
                <a:solidFill>
                  <a:srgbClr val="7A8AA6"/>
                </a:solidFill>
                <a:effectLst/>
                <a:uFillTx/>
                <a:latin typeface="Calibri"/>
              </a:rPr>
            </a:fld>
            <a:endParaRPr lang="en-US" sz="1000" b="0" u="none" strike="noStrike">
              <a:solidFill>
                <a:srgbClr val="000000"/>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PlaceHolder 1"/>
          <p:cNvSpPr>
            <a:spLocks noGrp="1"/>
          </p:cNvSpPr>
          <p:nvPr>
            <p:ph type="title" hasCustomPrompt="1"/>
          </p:nvPr>
        </p:nvSpPr>
        <p:spPr>
          <a:xfrm>
            <a:off x="548640" y="365760"/>
            <a:ext cx="11063880" cy="776880"/>
          </a:xfrm>
          <a:prstGeom prst="rect">
            <a:avLst/>
          </a:prstGeom>
          <a:noFill/>
          <a:ln w="0">
            <a:noFill/>
          </a:ln>
        </p:spPr>
        <p:txBody>
          <a:bodyPr lIns="0" tIns="0" rIns="0" bIns="0" anchor="ctr">
            <a:noAutofit/>
          </a:bodyPr>
          <a:p>
            <a:pPr indent="0" algn="ctr" defTabSz="914400">
              <a:lnSpc>
                <a:spcPct val="100000"/>
              </a:lnSpc>
              <a:buNone/>
              <a:tabLst>
                <a:tab pos="0" algn="l"/>
              </a:tabLst>
            </a:pPr>
            <a:r>
              <a:rPr lang="en-US" sz="3400" b="1" u="none" strike="noStrike">
                <a:solidFill>
                  <a:schemeClr val="lt1"/>
                </a:solidFill>
                <a:effectLst/>
                <a:uFillTx/>
                <a:latin typeface="Cambria"/>
              </a:rPr>
              <a:t>A bounded, evidence-driven prototype</a:t>
            </a:r>
            <a:endParaRPr lang="en-US" sz="3400" b="0" u="none" strike="noStrike">
              <a:solidFill>
                <a:schemeClr val="dk1"/>
              </a:solidFill>
              <a:effectLst/>
              <a:uFillTx/>
              <a:latin typeface="Calibri"/>
            </a:endParaRPr>
          </a:p>
        </p:txBody>
      </p:sp>
      <p:sp>
        <p:nvSpPr>
          <p:cNvPr id="357" name="does well card"/>
          <p:cNvSpPr/>
          <p:nvPr/>
        </p:nvSpPr>
        <p:spPr>
          <a:xfrm>
            <a:off x="548640" y="1371600"/>
            <a:ext cx="5440320" cy="3428640"/>
          </a:xfrm>
          <a:prstGeom prst="roundRect">
            <a:avLst>
              <a:gd name="adj" fmla="val 3200"/>
            </a:avLst>
          </a:prstGeom>
          <a:solidFill>
            <a:srgbClr val="12305A"/>
          </a:solidFill>
          <a:ln w="12700">
            <a:solidFill>
              <a:srgbClr val="12305A"/>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358" name="Text 2"/>
          <p:cNvSpPr/>
          <p:nvPr/>
        </p:nvSpPr>
        <p:spPr>
          <a:xfrm>
            <a:off x="822960" y="1463040"/>
            <a:ext cx="484596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900" b="1" u="none" strike="noStrike">
                <a:solidFill>
                  <a:schemeClr val="accent4"/>
                </a:solidFill>
                <a:effectLst/>
                <a:uFillTx/>
                <a:latin typeface="Calibri"/>
              </a:rPr>
              <a:t>What it does well</a:t>
            </a:r>
            <a:endParaRPr lang="en-US" sz="1900" b="0" u="none" strike="noStrike">
              <a:solidFill>
                <a:srgbClr val="FFFFFF"/>
              </a:solidFill>
              <a:effectLst/>
              <a:uFillTx/>
              <a:latin typeface="Arial" panose="020B0604020202020204"/>
            </a:endParaRPr>
          </a:p>
        </p:txBody>
      </p:sp>
      <p:sp>
        <p:nvSpPr>
          <p:cNvPr id="359" name="Shape 3"/>
          <p:cNvSpPr/>
          <p:nvPr/>
        </p:nvSpPr>
        <p:spPr>
          <a:xfrm>
            <a:off x="822960" y="2066400"/>
            <a:ext cx="292320" cy="292320"/>
          </a:xfrm>
          <a:prstGeom prst="ellipse">
            <a:avLst/>
          </a:prstGeom>
          <a:solidFill>
            <a:schemeClr val="accent4"/>
          </a:solidFill>
          <a:ln w="12700">
            <a:solidFill>
              <a:srgbClr val="2FB380"/>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60" name="Image 0" descr="check"/>
          <p:cNvPicPr/>
          <p:nvPr/>
        </p:nvPicPr>
        <p:blipFill>
          <a:blip r:embed="rId1"/>
          <a:stretch>
            <a:fillRect/>
          </a:stretch>
        </p:blipFill>
        <p:spPr>
          <a:xfrm>
            <a:off x="887040" y="2130480"/>
            <a:ext cx="164160" cy="164160"/>
          </a:xfrm>
          <a:prstGeom prst="rect">
            <a:avLst/>
          </a:prstGeom>
          <a:noFill/>
          <a:ln w="0">
            <a:noFill/>
          </a:ln>
        </p:spPr>
      </p:pic>
      <p:sp>
        <p:nvSpPr>
          <p:cNvPr id="361" name="Text 4"/>
          <p:cNvSpPr/>
          <p:nvPr/>
        </p:nvSpPr>
        <p:spPr>
          <a:xfrm>
            <a:off x="1280160" y="2011680"/>
            <a:ext cx="4480200" cy="402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0" u="none" strike="noStrike">
                <a:solidFill>
                  <a:schemeClr val="lt1"/>
                </a:solidFill>
                <a:effectLst/>
                <a:uFillTx/>
                <a:latin typeface="Calibri"/>
              </a:rPr>
              <a:t>Classifies user intent</a:t>
            </a:r>
            <a:endParaRPr lang="en-US" sz="1500" b="0" u="none" strike="noStrike">
              <a:solidFill>
                <a:srgbClr val="FFFFFF"/>
              </a:solidFill>
              <a:effectLst/>
              <a:uFillTx/>
              <a:latin typeface="Arial" panose="020B0604020202020204"/>
            </a:endParaRPr>
          </a:p>
        </p:txBody>
      </p:sp>
      <p:sp>
        <p:nvSpPr>
          <p:cNvPr id="362" name="Shape 5"/>
          <p:cNvSpPr/>
          <p:nvPr/>
        </p:nvSpPr>
        <p:spPr>
          <a:xfrm>
            <a:off x="822960" y="2523600"/>
            <a:ext cx="292320" cy="292320"/>
          </a:xfrm>
          <a:prstGeom prst="ellipse">
            <a:avLst/>
          </a:prstGeom>
          <a:solidFill>
            <a:schemeClr val="accent4"/>
          </a:solidFill>
          <a:ln w="12700">
            <a:solidFill>
              <a:srgbClr val="2FB380"/>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63" name="Image 1" descr="check"/>
          <p:cNvPicPr/>
          <p:nvPr/>
        </p:nvPicPr>
        <p:blipFill>
          <a:blip r:embed="rId1"/>
          <a:stretch>
            <a:fillRect/>
          </a:stretch>
        </p:blipFill>
        <p:spPr>
          <a:xfrm>
            <a:off x="887040" y="2587680"/>
            <a:ext cx="164160" cy="164160"/>
          </a:xfrm>
          <a:prstGeom prst="rect">
            <a:avLst/>
          </a:prstGeom>
          <a:noFill/>
          <a:ln w="0">
            <a:noFill/>
          </a:ln>
        </p:spPr>
      </p:pic>
      <p:sp>
        <p:nvSpPr>
          <p:cNvPr id="364" name="Text 6"/>
          <p:cNvSpPr/>
          <p:nvPr/>
        </p:nvSpPr>
        <p:spPr>
          <a:xfrm>
            <a:off x="1280160" y="2468880"/>
            <a:ext cx="4480200" cy="402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0" u="none" strike="noStrike">
                <a:solidFill>
                  <a:schemeClr val="lt1"/>
                </a:solidFill>
                <a:effectLst/>
                <a:uFillTx/>
                <a:latin typeface="Calibri"/>
              </a:rPr>
              <a:t>Retrieves grounded information</a:t>
            </a:r>
            <a:endParaRPr lang="en-US" sz="1500" b="0" u="none" strike="noStrike">
              <a:solidFill>
                <a:srgbClr val="FFFFFF"/>
              </a:solidFill>
              <a:effectLst/>
              <a:uFillTx/>
              <a:latin typeface="Arial" panose="020B0604020202020204"/>
            </a:endParaRPr>
          </a:p>
        </p:txBody>
      </p:sp>
      <p:sp>
        <p:nvSpPr>
          <p:cNvPr id="365" name="Shape 7"/>
          <p:cNvSpPr/>
          <p:nvPr/>
        </p:nvSpPr>
        <p:spPr>
          <a:xfrm>
            <a:off x="822960" y="2980800"/>
            <a:ext cx="292320" cy="292320"/>
          </a:xfrm>
          <a:prstGeom prst="ellipse">
            <a:avLst/>
          </a:prstGeom>
          <a:solidFill>
            <a:schemeClr val="accent4"/>
          </a:solidFill>
          <a:ln w="12700">
            <a:solidFill>
              <a:srgbClr val="2FB380"/>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66" name="Image 2" descr="check"/>
          <p:cNvPicPr/>
          <p:nvPr/>
        </p:nvPicPr>
        <p:blipFill>
          <a:blip r:embed="rId1"/>
          <a:stretch>
            <a:fillRect/>
          </a:stretch>
        </p:blipFill>
        <p:spPr>
          <a:xfrm>
            <a:off x="887040" y="3044880"/>
            <a:ext cx="164160" cy="164160"/>
          </a:xfrm>
          <a:prstGeom prst="rect">
            <a:avLst/>
          </a:prstGeom>
          <a:noFill/>
          <a:ln w="0">
            <a:noFill/>
          </a:ln>
        </p:spPr>
      </p:pic>
      <p:sp>
        <p:nvSpPr>
          <p:cNvPr id="367" name="Text 8"/>
          <p:cNvSpPr/>
          <p:nvPr/>
        </p:nvSpPr>
        <p:spPr>
          <a:xfrm>
            <a:off x="1280160" y="2926080"/>
            <a:ext cx="4480200" cy="402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0" u="none" strike="noStrike">
                <a:solidFill>
                  <a:schemeClr val="lt1"/>
                </a:solidFill>
                <a:effectLst/>
                <a:uFillTx/>
                <a:latin typeface="Calibri"/>
              </a:rPr>
              <a:t>Creates or checks support tickets</a:t>
            </a:r>
            <a:endParaRPr lang="en-US" sz="1500" b="0" u="none" strike="noStrike">
              <a:solidFill>
                <a:srgbClr val="FFFFFF"/>
              </a:solidFill>
              <a:effectLst/>
              <a:uFillTx/>
              <a:latin typeface="Arial" panose="020B0604020202020204"/>
            </a:endParaRPr>
          </a:p>
        </p:txBody>
      </p:sp>
      <p:sp>
        <p:nvSpPr>
          <p:cNvPr id="368" name="Shape 9"/>
          <p:cNvSpPr/>
          <p:nvPr/>
        </p:nvSpPr>
        <p:spPr>
          <a:xfrm>
            <a:off x="822960" y="3438000"/>
            <a:ext cx="292320" cy="292320"/>
          </a:xfrm>
          <a:prstGeom prst="ellipse">
            <a:avLst/>
          </a:prstGeom>
          <a:solidFill>
            <a:schemeClr val="accent4"/>
          </a:solidFill>
          <a:ln w="12700">
            <a:solidFill>
              <a:srgbClr val="2FB380"/>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69" name="Image 3" descr="check"/>
          <p:cNvPicPr/>
          <p:nvPr/>
        </p:nvPicPr>
        <p:blipFill>
          <a:blip r:embed="rId1"/>
          <a:stretch>
            <a:fillRect/>
          </a:stretch>
        </p:blipFill>
        <p:spPr>
          <a:xfrm>
            <a:off x="887040" y="3502080"/>
            <a:ext cx="164160" cy="164160"/>
          </a:xfrm>
          <a:prstGeom prst="rect">
            <a:avLst/>
          </a:prstGeom>
          <a:noFill/>
          <a:ln w="0">
            <a:noFill/>
          </a:ln>
        </p:spPr>
      </p:pic>
      <p:sp>
        <p:nvSpPr>
          <p:cNvPr id="370" name="Text 10"/>
          <p:cNvSpPr/>
          <p:nvPr/>
        </p:nvSpPr>
        <p:spPr>
          <a:xfrm>
            <a:off x="1280160" y="3383280"/>
            <a:ext cx="4480200" cy="402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0" u="none" strike="noStrike">
                <a:solidFill>
                  <a:schemeClr val="lt1"/>
                </a:solidFill>
                <a:effectLst/>
                <a:uFillTx/>
                <a:latin typeface="Calibri"/>
              </a:rPr>
              <a:t>Uses state and memory sensibly</a:t>
            </a:r>
            <a:endParaRPr lang="en-US" sz="1500" b="0" u="none" strike="noStrike">
              <a:solidFill>
                <a:srgbClr val="FFFFFF"/>
              </a:solidFill>
              <a:effectLst/>
              <a:uFillTx/>
              <a:latin typeface="Arial" panose="020B0604020202020204"/>
            </a:endParaRPr>
          </a:p>
        </p:txBody>
      </p:sp>
      <p:sp>
        <p:nvSpPr>
          <p:cNvPr id="371" name="Shape 11"/>
          <p:cNvSpPr/>
          <p:nvPr/>
        </p:nvSpPr>
        <p:spPr>
          <a:xfrm>
            <a:off x="822960" y="3895200"/>
            <a:ext cx="292320" cy="292320"/>
          </a:xfrm>
          <a:prstGeom prst="ellipse">
            <a:avLst/>
          </a:prstGeom>
          <a:solidFill>
            <a:schemeClr val="accent4"/>
          </a:solidFill>
          <a:ln w="12700">
            <a:solidFill>
              <a:srgbClr val="2FB380"/>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72" name="Image 4" descr="check"/>
          <p:cNvPicPr/>
          <p:nvPr/>
        </p:nvPicPr>
        <p:blipFill>
          <a:blip r:embed="rId1"/>
          <a:stretch>
            <a:fillRect/>
          </a:stretch>
        </p:blipFill>
        <p:spPr>
          <a:xfrm>
            <a:off x="887040" y="3959280"/>
            <a:ext cx="164160" cy="164160"/>
          </a:xfrm>
          <a:prstGeom prst="rect">
            <a:avLst/>
          </a:prstGeom>
          <a:noFill/>
          <a:ln w="0">
            <a:noFill/>
          </a:ln>
        </p:spPr>
      </p:pic>
      <p:sp>
        <p:nvSpPr>
          <p:cNvPr id="373" name="Text 12"/>
          <p:cNvSpPr/>
          <p:nvPr/>
        </p:nvSpPr>
        <p:spPr>
          <a:xfrm>
            <a:off x="1280160" y="3840480"/>
            <a:ext cx="4480200" cy="402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0" u="none" strike="noStrike">
                <a:solidFill>
                  <a:schemeClr val="lt1"/>
                </a:solidFill>
                <a:effectLst/>
                <a:uFillTx/>
                <a:latin typeface="Calibri"/>
              </a:rPr>
              <a:t>Logs decisions and evidence</a:t>
            </a:r>
            <a:endParaRPr lang="en-US" sz="1500" b="0" u="none" strike="noStrike">
              <a:solidFill>
                <a:srgbClr val="FFFFFF"/>
              </a:solidFill>
              <a:effectLst/>
              <a:uFillTx/>
              <a:latin typeface="Arial" panose="020B0604020202020204"/>
            </a:endParaRPr>
          </a:p>
        </p:txBody>
      </p:sp>
      <p:sp>
        <p:nvSpPr>
          <p:cNvPr id="374" name="Shape 13"/>
          <p:cNvSpPr/>
          <p:nvPr/>
        </p:nvSpPr>
        <p:spPr>
          <a:xfrm>
            <a:off x="822960" y="4352400"/>
            <a:ext cx="292320" cy="292320"/>
          </a:xfrm>
          <a:prstGeom prst="ellipse">
            <a:avLst/>
          </a:prstGeom>
          <a:solidFill>
            <a:schemeClr val="accent4"/>
          </a:solidFill>
          <a:ln w="12700">
            <a:solidFill>
              <a:srgbClr val="2FB380"/>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75" name="Image 5" descr="check"/>
          <p:cNvPicPr/>
          <p:nvPr/>
        </p:nvPicPr>
        <p:blipFill>
          <a:blip r:embed="rId1"/>
          <a:stretch>
            <a:fillRect/>
          </a:stretch>
        </p:blipFill>
        <p:spPr>
          <a:xfrm>
            <a:off x="887040" y="4416480"/>
            <a:ext cx="164160" cy="164160"/>
          </a:xfrm>
          <a:prstGeom prst="rect">
            <a:avLst/>
          </a:prstGeom>
          <a:noFill/>
          <a:ln w="0">
            <a:noFill/>
          </a:ln>
        </p:spPr>
      </p:pic>
      <p:sp>
        <p:nvSpPr>
          <p:cNvPr id="376" name="Text 14"/>
          <p:cNvSpPr/>
          <p:nvPr/>
        </p:nvSpPr>
        <p:spPr>
          <a:xfrm>
            <a:off x="1280160" y="4297680"/>
            <a:ext cx="4480200" cy="40212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0" u="none" strike="noStrike">
                <a:solidFill>
                  <a:schemeClr val="lt1"/>
                </a:solidFill>
                <a:effectLst/>
                <a:uFillTx/>
                <a:latin typeface="Calibri"/>
              </a:rPr>
              <a:t>Blocks unsafe actions</a:t>
            </a:r>
            <a:endParaRPr lang="en-US" sz="1500" b="0" u="none" strike="noStrike">
              <a:solidFill>
                <a:srgbClr val="FFFFFF"/>
              </a:solidFill>
              <a:effectLst/>
              <a:uFillTx/>
              <a:latin typeface="Arial" panose="020B0604020202020204"/>
            </a:endParaRPr>
          </a:p>
        </p:txBody>
      </p:sp>
      <p:sp>
        <p:nvSpPr>
          <p:cNvPr id="377" name="does not card"/>
          <p:cNvSpPr/>
          <p:nvPr/>
        </p:nvSpPr>
        <p:spPr>
          <a:xfrm>
            <a:off x="6199560" y="1371600"/>
            <a:ext cx="5440320" cy="3428640"/>
          </a:xfrm>
          <a:prstGeom prst="roundRect">
            <a:avLst>
              <a:gd name="adj" fmla="val 3200"/>
            </a:avLst>
          </a:prstGeom>
          <a:solidFill>
            <a:srgbClr val="12305A"/>
          </a:solidFill>
          <a:ln w="12700">
            <a:solidFill>
              <a:srgbClr val="12305A"/>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378" name="Text 16"/>
          <p:cNvSpPr/>
          <p:nvPr/>
        </p:nvSpPr>
        <p:spPr>
          <a:xfrm>
            <a:off x="6473880" y="1463040"/>
            <a:ext cx="484596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900" b="1" u="none" strike="noStrike">
                <a:solidFill>
                  <a:schemeClr val="accent3"/>
                </a:solidFill>
                <a:effectLst/>
                <a:uFillTx/>
                <a:latin typeface="Calibri"/>
              </a:rPr>
              <a:t>What it does not do</a:t>
            </a:r>
            <a:endParaRPr lang="en-US" sz="1900" b="0" u="none" strike="noStrike">
              <a:solidFill>
                <a:srgbClr val="FFFFFF"/>
              </a:solidFill>
              <a:effectLst/>
              <a:uFillTx/>
              <a:latin typeface="Arial" panose="020B0604020202020204"/>
            </a:endParaRPr>
          </a:p>
        </p:txBody>
      </p:sp>
      <p:sp>
        <p:nvSpPr>
          <p:cNvPr id="379" name="Shape 17"/>
          <p:cNvSpPr/>
          <p:nvPr/>
        </p:nvSpPr>
        <p:spPr>
          <a:xfrm>
            <a:off x="6473880" y="2066400"/>
            <a:ext cx="292320" cy="292320"/>
          </a:xfrm>
          <a:prstGeom prst="ellipse">
            <a:avLst/>
          </a:prstGeom>
          <a:solidFill>
            <a:schemeClr val="accent3"/>
          </a:solidFill>
          <a:ln w="12700">
            <a:solidFill>
              <a:srgbClr val="E5484D"/>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80" name="Image 6" descr="cross"/>
          <p:cNvPicPr/>
          <p:nvPr/>
        </p:nvPicPr>
        <p:blipFill>
          <a:blip r:embed="rId2"/>
          <a:stretch>
            <a:fillRect/>
          </a:stretch>
        </p:blipFill>
        <p:spPr>
          <a:xfrm>
            <a:off x="6537960" y="2130480"/>
            <a:ext cx="164160" cy="164160"/>
          </a:xfrm>
          <a:prstGeom prst="rect">
            <a:avLst/>
          </a:prstGeom>
          <a:noFill/>
          <a:ln w="0">
            <a:noFill/>
          </a:ln>
        </p:spPr>
      </p:pic>
      <p:sp>
        <p:nvSpPr>
          <p:cNvPr id="381" name="Text 18"/>
          <p:cNvSpPr/>
          <p:nvPr/>
        </p:nvSpPr>
        <p:spPr>
          <a:xfrm>
            <a:off x="6931080" y="1993320"/>
            <a:ext cx="452592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0" u="none" strike="noStrike">
                <a:solidFill>
                  <a:schemeClr val="lt1"/>
                </a:solidFill>
                <a:effectLst/>
                <a:uFillTx/>
                <a:latin typeface="Calibri"/>
              </a:rPr>
              <a:t>Automate financial transfers</a:t>
            </a:r>
            <a:endParaRPr lang="en-US" sz="1500" b="0" u="none" strike="noStrike">
              <a:solidFill>
                <a:srgbClr val="FFFFFF"/>
              </a:solidFill>
              <a:effectLst/>
              <a:uFillTx/>
              <a:latin typeface="Arial" panose="020B0604020202020204"/>
            </a:endParaRPr>
          </a:p>
        </p:txBody>
      </p:sp>
      <p:sp>
        <p:nvSpPr>
          <p:cNvPr id="382" name="Shape 19"/>
          <p:cNvSpPr/>
          <p:nvPr/>
        </p:nvSpPr>
        <p:spPr>
          <a:xfrm>
            <a:off x="6473880" y="2752200"/>
            <a:ext cx="292320" cy="292320"/>
          </a:xfrm>
          <a:prstGeom prst="ellipse">
            <a:avLst/>
          </a:prstGeom>
          <a:solidFill>
            <a:schemeClr val="accent3"/>
          </a:solidFill>
          <a:ln w="12700">
            <a:solidFill>
              <a:srgbClr val="E5484D"/>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83" name="Image 7" descr="cross"/>
          <p:cNvPicPr/>
          <p:nvPr/>
        </p:nvPicPr>
        <p:blipFill>
          <a:blip r:embed="rId2"/>
          <a:stretch>
            <a:fillRect/>
          </a:stretch>
        </p:blipFill>
        <p:spPr>
          <a:xfrm>
            <a:off x="6537960" y="2816280"/>
            <a:ext cx="164160" cy="164160"/>
          </a:xfrm>
          <a:prstGeom prst="rect">
            <a:avLst/>
          </a:prstGeom>
          <a:noFill/>
          <a:ln w="0">
            <a:noFill/>
          </a:ln>
        </p:spPr>
      </p:pic>
      <p:sp>
        <p:nvSpPr>
          <p:cNvPr id="384" name="Text 20"/>
          <p:cNvSpPr/>
          <p:nvPr/>
        </p:nvSpPr>
        <p:spPr>
          <a:xfrm>
            <a:off x="6931080" y="2679120"/>
            <a:ext cx="452592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0" u="none" strike="noStrike">
                <a:solidFill>
                  <a:schemeClr val="lt1"/>
                </a:solidFill>
                <a:effectLst/>
                <a:uFillTx/>
                <a:latin typeface="Calibri"/>
              </a:rPr>
              <a:t>Approve loans or account changes</a:t>
            </a:r>
            <a:endParaRPr lang="en-US" sz="1500" b="0" u="none" strike="noStrike">
              <a:solidFill>
                <a:srgbClr val="FFFFFF"/>
              </a:solidFill>
              <a:effectLst/>
              <a:uFillTx/>
              <a:latin typeface="Arial" panose="020B0604020202020204"/>
            </a:endParaRPr>
          </a:p>
        </p:txBody>
      </p:sp>
      <p:sp>
        <p:nvSpPr>
          <p:cNvPr id="385" name="Shape 21"/>
          <p:cNvSpPr/>
          <p:nvPr/>
        </p:nvSpPr>
        <p:spPr>
          <a:xfrm>
            <a:off x="6473880" y="3438000"/>
            <a:ext cx="292320" cy="292320"/>
          </a:xfrm>
          <a:prstGeom prst="ellipse">
            <a:avLst/>
          </a:prstGeom>
          <a:solidFill>
            <a:schemeClr val="accent3"/>
          </a:solidFill>
          <a:ln w="12700">
            <a:solidFill>
              <a:srgbClr val="E5484D"/>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86" name="Image 8" descr="cross"/>
          <p:cNvPicPr/>
          <p:nvPr/>
        </p:nvPicPr>
        <p:blipFill>
          <a:blip r:embed="rId2"/>
          <a:stretch>
            <a:fillRect/>
          </a:stretch>
        </p:blipFill>
        <p:spPr>
          <a:xfrm>
            <a:off x="6537960" y="3502080"/>
            <a:ext cx="164160" cy="164160"/>
          </a:xfrm>
          <a:prstGeom prst="rect">
            <a:avLst/>
          </a:prstGeom>
          <a:noFill/>
          <a:ln w="0">
            <a:noFill/>
          </a:ln>
        </p:spPr>
      </p:pic>
      <p:sp>
        <p:nvSpPr>
          <p:cNvPr id="387" name="Text 22"/>
          <p:cNvSpPr/>
          <p:nvPr/>
        </p:nvSpPr>
        <p:spPr>
          <a:xfrm>
            <a:off x="6931080" y="3364920"/>
            <a:ext cx="452592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0" u="none" strike="noStrike">
                <a:solidFill>
                  <a:schemeClr val="lt1"/>
                </a:solidFill>
                <a:effectLst/>
                <a:uFillTx/>
                <a:latin typeface="Calibri"/>
              </a:rPr>
              <a:t>Claim private account data without an authorized path</a:t>
            </a:r>
            <a:endParaRPr lang="en-US" sz="1500" b="0" u="none" strike="noStrike">
              <a:solidFill>
                <a:srgbClr val="FFFFFF"/>
              </a:solidFill>
              <a:effectLst/>
              <a:uFillTx/>
              <a:latin typeface="Arial" panose="020B0604020202020204"/>
            </a:endParaRPr>
          </a:p>
        </p:txBody>
      </p:sp>
      <p:sp>
        <p:nvSpPr>
          <p:cNvPr id="388" name="Shape 23"/>
          <p:cNvSpPr/>
          <p:nvPr/>
        </p:nvSpPr>
        <p:spPr>
          <a:xfrm>
            <a:off x="6473880" y="4123800"/>
            <a:ext cx="292320" cy="292320"/>
          </a:xfrm>
          <a:prstGeom prst="ellipse">
            <a:avLst/>
          </a:prstGeom>
          <a:solidFill>
            <a:schemeClr val="accent3"/>
          </a:solidFill>
          <a:ln w="12700">
            <a:solidFill>
              <a:srgbClr val="E5484D"/>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pic>
        <p:nvPicPr>
          <p:cNvPr id="389" name="Image 9" descr="cross"/>
          <p:cNvPicPr/>
          <p:nvPr/>
        </p:nvPicPr>
        <p:blipFill>
          <a:blip r:embed="rId2"/>
          <a:stretch>
            <a:fillRect/>
          </a:stretch>
        </p:blipFill>
        <p:spPr>
          <a:xfrm>
            <a:off x="6537960" y="4187880"/>
            <a:ext cx="164160" cy="164160"/>
          </a:xfrm>
          <a:prstGeom prst="rect">
            <a:avLst/>
          </a:prstGeom>
          <a:noFill/>
          <a:ln w="0">
            <a:noFill/>
          </a:ln>
        </p:spPr>
      </p:pic>
      <p:sp>
        <p:nvSpPr>
          <p:cNvPr id="390" name="Text 24"/>
          <p:cNvSpPr/>
          <p:nvPr/>
        </p:nvSpPr>
        <p:spPr>
          <a:xfrm>
            <a:off x="6931080" y="4050720"/>
            <a:ext cx="4525920" cy="45684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500" b="0" u="none" strike="noStrike">
                <a:solidFill>
                  <a:schemeClr val="lt1"/>
                </a:solidFill>
                <a:effectLst/>
                <a:uFillTx/>
                <a:latin typeface="Calibri"/>
              </a:rPr>
              <a:t>Operate as an unsupervised autonomous bank system</a:t>
            </a:r>
            <a:endParaRPr lang="en-US" sz="1500" b="0" u="none" strike="noStrike">
              <a:solidFill>
                <a:srgbClr val="FFFFFF"/>
              </a:solidFill>
              <a:effectLst/>
              <a:uFillTx/>
              <a:latin typeface="Arial" panose="020B0604020202020204"/>
            </a:endParaRPr>
          </a:p>
        </p:txBody>
      </p:sp>
      <p:sp>
        <p:nvSpPr>
          <p:cNvPr id="391" name="lesson card"/>
          <p:cNvSpPr/>
          <p:nvPr/>
        </p:nvSpPr>
        <p:spPr>
          <a:xfrm>
            <a:off x="548640" y="5029200"/>
            <a:ext cx="7680600" cy="1188360"/>
          </a:xfrm>
          <a:prstGeom prst="roundRect">
            <a:avLst>
              <a:gd name="adj" fmla="val 9231"/>
            </a:avLst>
          </a:prstGeom>
          <a:solidFill>
            <a:schemeClr val="accent1"/>
          </a:solidFill>
          <a:ln w="12700">
            <a:solidFill>
              <a:srgbClr val="F2B705"/>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000000"/>
              </a:solidFill>
              <a:effectLst/>
              <a:uFillTx/>
              <a:latin typeface="Arial" panose="020B0604020202020204"/>
            </a:endParaRPr>
          </a:p>
        </p:txBody>
      </p:sp>
      <p:sp>
        <p:nvSpPr>
          <p:cNvPr id="392" name="Text 26"/>
          <p:cNvSpPr/>
          <p:nvPr/>
        </p:nvSpPr>
        <p:spPr>
          <a:xfrm>
            <a:off x="822960" y="5029200"/>
            <a:ext cx="7131960" cy="11883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defTabSz="914400">
              <a:lnSpc>
                <a:spcPct val="100000"/>
              </a:lnSpc>
              <a:tabLst>
                <a:tab pos="0" algn="l"/>
              </a:tabLst>
            </a:pPr>
            <a:r>
              <a:rPr lang="en-US" sz="1600" b="1" u="none" strike="noStrike">
                <a:solidFill>
                  <a:schemeClr val="dk2"/>
                </a:solidFill>
                <a:effectLst/>
                <a:uFillTx/>
                <a:latin typeface="Calibri"/>
              </a:rPr>
              <a:t>Key lesson  </a:t>
            </a:r>
            <a:r>
              <a:rPr lang="en-US" sz="1600" b="0" u="none" strike="noStrike">
                <a:solidFill>
                  <a:schemeClr val="dk2"/>
                </a:solidFill>
                <a:effectLst/>
                <a:uFillTx/>
                <a:latin typeface="Calibri"/>
              </a:rPr>
              <a:t>Useful AI support works best when it is bounded, inspectable, and controlled by deterministic software and human approval.</a:t>
            </a:r>
            <a:endParaRPr lang="en-US" sz="1600" b="0" u="none" strike="noStrike">
              <a:solidFill>
                <a:srgbClr val="FFFFFF"/>
              </a:solidFill>
              <a:effectLst/>
              <a:uFillTx/>
              <a:latin typeface="Arial" panose="020B0604020202020204"/>
            </a:endParaRPr>
          </a:p>
        </p:txBody>
      </p:sp>
      <p:sp>
        <p:nvSpPr>
          <p:cNvPr id="393" name="questions card"/>
          <p:cNvSpPr/>
          <p:nvPr/>
        </p:nvSpPr>
        <p:spPr>
          <a:xfrm>
            <a:off x="8458200" y="5029200"/>
            <a:ext cx="3181680" cy="1188360"/>
          </a:xfrm>
          <a:prstGeom prst="roundRect">
            <a:avLst>
              <a:gd name="adj" fmla="val 9231"/>
            </a:avLst>
          </a:prstGeom>
          <a:solidFill>
            <a:srgbClr val="12305A"/>
          </a:solidFill>
          <a:ln w="12700">
            <a:solidFill>
              <a:srgbClr val="12305A"/>
            </a:solidFill>
            <a:round/>
          </a:ln>
        </p:spPr>
        <p:style>
          <a:lnRef idx="0">
            <a:srgbClr val="FFFFFF"/>
          </a:lnRef>
          <a:fillRef idx="0">
            <a:srgbClr val="FFFFFF"/>
          </a:fillRef>
          <a:effectRef idx="0">
            <a:srgbClr val="FFFFFF"/>
          </a:effectRef>
          <a:fontRef idx="minor"/>
        </p:style>
        <p:txBody>
          <a:bodyPr lIns="90000" tIns="45000" rIns="90000" bIns="45000" anchor="t">
            <a:noAutofit/>
          </a:bodyPr>
          <a:p>
            <a:endParaRPr lang="en-US" sz="1800" b="0" u="none" strike="noStrike">
              <a:solidFill>
                <a:srgbClr val="FFFFFF"/>
              </a:solidFill>
              <a:effectLst/>
              <a:uFillTx/>
              <a:latin typeface="Arial" panose="020B0604020202020204"/>
            </a:endParaRPr>
          </a:p>
        </p:txBody>
      </p:sp>
      <p:sp>
        <p:nvSpPr>
          <p:cNvPr id="394" name="Text 28"/>
          <p:cNvSpPr/>
          <p:nvPr/>
        </p:nvSpPr>
        <p:spPr>
          <a:xfrm>
            <a:off x="8458200" y="5029200"/>
            <a:ext cx="3181680" cy="1188360"/>
          </a:xfrm>
          <a:prstGeom prst="rect">
            <a:avLst/>
          </a:prstGeom>
          <a:noFill/>
          <a:ln w="0">
            <a:noFill/>
          </a:ln>
        </p:spPr>
        <p:style>
          <a:lnRef idx="0">
            <a:srgbClr val="FFFFFF"/>
          </a:lnRef>
          <a:fillRef idx="0">
            <a:srgbClr val="FFFFFF"/>
          </a:fillRef>
          <a:effectRef idx="0">
            <a:srgbClr val="FFFFFF"/>
          </a:effectRef>
          <a:fontRef idx="minor"/>
        </p:style>
        <p:txBody>
          <a:bodyPr lIns="0" tIns="0" rIns="0" bIns="0" anchor="ctr">
            <a:noAutofit/>
          </a:bodyPr>
          <a:p>
            <a:pPr algn="ctr" defTabSz="914400">
              <a:lnSpc>
                <a:spcPct val="100000"/>
              </a:lnSpc>
              <a:tabLst>
                <a:tab pos="0" algn="l"/>
              </a:tabLst>
            </a:pPr>
            <a:r>
              <a:rPr lang="en-US" sz="3000" b="1" u="none" strike="noStrike">
                <a:solidFill>
                  <a:schemeClr val="accent1"/>
                </a:solidFill>
                <a:effectLst/>
                <a:uFillTx/>
                <a:latin typeface="Cambria"/>
                <a:ea typeface="Cambria"/>
              </a:rPr>
              <a:t>Questions?</a:t>
            </a:r>
            <a:endParaRPr lang="en-US" sz="3000" b="0" u="none" strike="noStrike">
              <a:solidFill>
                <a:srgbClr val="FFFFFF"/>
              </a:solidFill>
              <a:effectLst/>
              <a:uFillTx/>
              <a:latin typeface="Arial" panose="020B0604020202020204"/>
            </a:endParaRPr>
          </a:p>
        </p:txBody>
      </p:sp>
      <p:sp>
        <p:nvSpPr>
          <p:cNvPr id="395" name="PlaceHolder 2"/>
          <p:cNvSpPr>
            <a:spLocks noGrp="1"/>
          </p:cNvSpPr>
          <p:nvPr>
            <p:ph type="sldNum" idx="14"/>
          </p:nvPr>
        </p:nvSpPr>
        <p:spPr>
          <a:xfrm>
            <a:off x="11247120" y="6400800"/>
            <a:ext cx="456840" cy="273960"/>
          </a:xfrm>
          <a:prstGeom prst="rect">
            <a:avLst/>
          </a:prstGeom>
          <a:noFill/>
          <a:ln w="0">
            <a:noFill/>
          </a:ln>
        </p:spPr>
        <p:txBody>
          <a:bodyPr lIns="90000" tIns="45000" rIns="90000" bIns="45000" anchor="t">
            <a:noAutofit/>
          </a:bodyPr>
          <a:lstStyle>
            <a:lvl1pPr indent="0" algn="l" defTabSz="914400">
              <a:lnSpc>
                <a:spcPct val="100000"/>
              </a:lnSpc>
              <a:buNone/>
              <a:defRPr lang="en-US" sz="1000" b="0" u="none" strike="noStrike">
                <a:solidFill>
                  <a:srgbClr val="B8C4DA"/>
                </a:solidFill>
                <a:effectLst/>
                <a:uFillTx/>
                <a:latin typeface="Calibri"/>
              </a:defRPr>
            </a:lvl1pPr>
          </a:lstStyle>
          <a:p>
            <a:pPr indent="0" algn="l" defTabSz="914400">
              <a:lnSpc>
                <a:spcPct val="100000"/>
              </a:lnSpc>
              <a:buNone/>
            </a:pPr>
            <a:fld id="{0A692D2A-B625-4792-BA93-520D36C83BF2}" type="slidenum">
              <a:rPr lang="en-US" sz="1000" b="0" u="none" strike="noStrike">
                <a:solidFill>
                  <a:srgbClr val="B8C4DA"/>
                </a:solidFill>
                <a:effectLst/>
                <a:uFillTx/>
                <a:latin typeface="Calibri"/>
              </a:rPr>
            </a:fld>
            <a:endParaRPr lang="en-US" sz="1000" b="0" u="none" strike="noStrike">
              <a:solidFill>
                <a:srgbClr val="FFFFFF"/>
              </a:solidFill>
              <a:effectLst/>
              <a:uFillTx/>
              <a:latin typeface="Times New Roman" panose="020206030504050203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Centenary Helpdesk">
  <a:themeElements>
    <a:clrScheme name="Centenary Helpdesk">
      <a:dk1>
        <a:srgbClr val="1A2233"/>
      </a:dk1>
      <a:lt1>
        <a:srgbClr val="FFFFFF"/>
      </a:lt1>
      <a:dk2>
        <a:srgbClr val="0B1F3A"/>
      </a:dk2>
      <a:lt2>
        <a:srgbClr val="EEF2F8"/>
      </a:lt2>
      <a:accent1>
        <a:srgbClr val="F2B705"/>
      </a:accent1>
      <a:accent2>
        <a:srgbClr val="1FA3A3"/>
      </a:accent2>
      <a:accent3>
        <a:srgbClr val="E5484D"/>
      </a:accent3>
      <a:accent4>
        <a:srgbClr val="2FB380"/>
      </a:accent4>
      <a:accent5>
        <a:srgbClr val="3B6FD4"/>
      </a:accent5>
      <a:accent6>
        <a:srgbClr val="7A8AA6"/>
      </a:accent6>
      <a:hlink>
        <a:srgbClr val="3B6FD4"/>
      </a:hlink>
      <a:folHlink>
        <a:srgbClr val="7A8AA6"/>
      </a:folHlink>
    </a:clrScheme>
    <a:fontScheme name="Centenary Helpdesk">
      <a:majorFont>
        <a:latin typeface="Cambria"/>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6116</Words>
  <Application>WPS Presentation</Application>
  <PresentationFormat/>
  <Paragraphs>375</Paragraphs>
  <Slides>10</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10</vt:i4>
      </vt:variant>
    </vt:vector>
  </HeadingPairs>
  <TitlesOfParts>
    <vt:vector size="29" baseType="lpstr">
      <vt:lpstr>Arial</vt:lpstr>
      <vt:lpstr>SimSun</vt:lpstr>
      <vt:lpstr>Wingdings</vt:lpstr>
      <vt:lpstr>Calibri</vt:lpstr>
      <vt:lpstr>Trebuchet MS</vt:lpstr>
      <vt:lpstr>Symbol</vt:lpstr>
      <vt:lpstr>Arial</vt:lpstr>
      <vt:lpstr>Times New Roman</vt:lpstr>
      <vt:lpstr>Cambria</vt:lpstr>
      <vt:lpstr>ＭＳ 明朝;Quicksand Light</vt:lpstr>
      <vt:lpstr>Arial;Arial</vt:lpstr>
      <vt:lpstr>Quicksand Light</vt:lpstr>
      <vt:lpstr>Courier New</vt:lpstr>
      <vt:lpstr>Microsoft YaHei</vt:lpstr>
      <vt:lpstr>Droid Sans Fallback</vt:lpstr>
      <vt:lpstr>Arial Unicode MS</vt:lpstr>
      <vt:lpstr>OpenSymbol</vt:lpstr>
      <vt:lpstr>Calibri</vt:lpstr>
      <vt:lpstr>Centenary Helpdesk</vt:lpstr>
      <vt:lpstr>Centenary Bank AI Agentic Help Desk</vt:lpstr>
      <vt:lpstr>Problem, target user and why AI is justified</vt:lpstr>
      <vt:lpstr>System architecture</vt:lpstr>
      <vt:lpstr>Live workflow: creating a support ticket</vt:lpstr>
      <vt:lpstr>Live workflow: memory and continuity</vt:lpstr>
      <vt:lpstr>Engineering evidence: inspectable traces</vt:lpstr>
      <vt:lpstr>Evaluation evidence: the 30-scenario final set</vt:lpstr>
      <vt:lpstr>Controlled failure: cross-customer access</vt:lpstr>
      <vt:lpstr>Guardrails and human approval boundaries</vt:lpstr>
      <vt:lpstr>A bounded, evidence-driven prototype</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Centenary Bank AI Agentic Helpdesk</dc:title>
  <dc:creator>Group B</dc:creator>
  <dc:subject>PptxGenJS Presentation</dc:subject>
  <cp:lastModifiedBy>krystals</cp:lastModifiedBy>
  <cp:revision>5</cp:revision>
  <dcterms:created xsi:type="dcterms:W3CDTF">2026-10-23T20:32:44Z</dcterms:created>
  <dcterms:modified xsi:type="dcterms:W3CDTF">2026-10-23T20:32:44Z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On-screen Show (16:9)</vt:lpwstr>
  </property>
  <property fmtid="{D5CDD505-2E9C-101B-9397-08002B2CF9AE}" pid="4" name="Slides">
    <vt:i4>10</vt:i4>
  </property>
  <property fmtid="{D5CDD505-2E9C-101B-9397-08002B2CF9AE}" pid="5" name="ICV">
    <vt:lpwstr/>
  </property>
  <property fmtid="{D5CDD505-2E9C-101B-9397-08002B2CF9AE}" pid="6" name="KSOProductBuildVer">
    <vt:lpwstr>1033-11.1.0.11733</vt:lpwstr>
  </property>
</Properties>
</file>